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0"/>
  </p:notesMasterIdLst>
  <p:sldIdLst>
    <p:sldId id="256" r:id="rId2"/>
    <p:sldId id="257" r:id="rId3"/>
    <p:sldId id="258" r:id="rId4"/>
    <p:sldId id="259" r:id="rId5"/>
    <p:sldId id="263" r:id="rId6"/>
    <p:sldId id="264" r:id="rId16"/>
    <p:sldId id="265" r:id="rId17"/>
    <p:sldId id="260" r:id="rId7"/>
    <p:sldId id="261" r:id="rId8"/>
    <p:sldId id="262" r:id="rId9"/>
  </p:sldIdLst>
  <p:sldSz cx="18288000" cy="10287000"/>
  <p:notesSz cx="6858000" cy="9144000"/>
  <p:embeddedFontLst>
    <p:embeddedFont>
      <p:font typeface="Lobster" panose="00000500000000000000" pitchFamily="2" charset="0"/>
      <p:regular r:id="rId1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8.xml"/><Relationship Id="rId8" Type="http://schemas.openxmlformats.org/officeDocument/2006/relationships/slide" Target="slides/slide9.xml"/><Relationship Id="rId9" Type="http://schemas.openxmlformats.org/officeDocument/2006/relationships/slide" Target="slides/slide10.xml"/><Relationship Id="rId10" Type="http://schemas.openxmlformats.org/officeDocument/2006/relationships/notesMaster" Target="notesMasters/notesMaster1.xml"/><Relationship Id="rId11" Type="http://schemas.openxmlformats.org/officeDocument/2006/relationships/font" Target="fonts/font1.fntdata"/><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6.xml"/><Relationship Id="rId17"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BB1DC3C-00A6-4160-B06E-2D3C4C08709E}" type="datetimeFigureOut">
              <a:rPr lang="en-US" smtClean="0"/>
              <a:t>10/8/2026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9837B90-2D2E-41ED-95EA-D988D6C57CAE}" type="slidenum">
              <a:rPr lang="en-US" smtClean="0"/>
              <a:t>‹#›</a:t>
            </a:fld>
            <a:endParaRPr lang="en-US"/>
          </a:p>
        </p:txBody>
      </p:sp>
    </p:spTree>
    <p:extLst>
      <p:ext uri="{BB962C8B-B14F-4D97-AF65-F5344CB8AC3E}">
        <p14:creationId xmlns:p14="http://schemas.microsoft.com/office/powerpoint/2010/main" val="33994341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NIMISHA: Good morning. We are Team Vaachak, problem statement 10, the AI-powered accessibility assistant. Vaachak means 'the reader'. In one line: Vaachak reads any bill, medicine strip or message and tells an elderly person, in their own language, exactly what to do, and protects them from scams while doing it.</a:t>
            </a:r>
          </a:p>
        </p:txBody>
      </p:sp>
      <p:sp>
        <p:nvSpPr>
          <p:cNvPr id="4" name="Slide Number Placeholder 3"/>
          <p:cNvSpPr>
            <a:spLocks noGrp="1"/>
          </p:cNvSpPr>
          <p:nvPr>
            <p:ph type="sldNum" sz="quarter" idx="5"/>
          </p:nvPr>
        </p:nvSpPr>
        <p:spPr/>
        <p:txBody>
          <a:bodyPr/>
          <a:lstStyle/>
          <a:p>
            <a:fld id="{B9837B90-2D2E-41ED-95EA-D988D6C57CAE}" type="slidenum">
              <a:rPr lang="en-US" smtClean="0"/>
              <a:t>1</a:t>
            </a:fld>
            <a:endParaRPr lang="en-US"/>
          </a:p>
        </p:txBody>
      </p:sp>
    </p:spTree>
    <p:extLst>
      <p:ext uri="{BB962C8B-B14F-4D97-AF65-F5344CB8AC3E}">
        <p14:creationId xmlns:p14="http://schemas.microsoft.com/office/powerpoint/2010/main" val="287467104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NIMISHA: Anvesh built the backend, the Gemini pipeline and the rule engine that checks every answer. Maulik designed the large, high-contrast interface for people with weak eyesight. Jiya and I did the research and testing with elderly users, and we will show you the live demo. (Tip: right-click a circle &gt; Change Picture to add photos.)</a:t>
            </a:r>
          </a:p>
        </p:txBody>
      </p:sp>
      <p:sp>
        <p:nvSpPr>
          <p:cNvPr id="4" name="Slide Number Placeholder 3"/>
          <p:cNvSpPr>
            <a:spLocks noGrp="1"/>
          </p:cNvSpPr>
          <p:nvPr>
            <p:ph type="sldNum" sz="quarter" idx="5"/>
          </p:nvPr>
        </p:nvSpPr>
        <p:spPr/>
        <p:txBody>
          <a:bodyPr/>
          <a:lstStyle/>
          <a:p>
            <a:fld id="{B9837B90-2D2E-41ED-95EA-D988D6C57CAE}" type="slidenum">
              <a:rPr lang="en-US" smtClean="0"/>
              <a:t>2</a:t>
            </a:fld>
            <a:endParaRPr lang="en-US"/>
          </a:p>
        </p:txBody>
      </p:sp>
    </p:spTree>
    <p:extLst>
      <p:ext uri="{BB962C8B-B14F-4D97-AF65-F5344CB8AC3E}">
        <p14:creationId xmlns:p14="http://schemas.microsoft.com/office/powerpoint/2010/main" val="6134869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NIMISHA: Meet Prakash-kaka, 68, from Thane. Cataract, reads only Marathi. Every month an electricity bill, a new medicine strip and bank SMSes arrive while his children are at work. He waits, guesses, or trusts a stranger. He is not alone: 149 million Indians are over 60, two out of three elderly women cannot read, one in seven over 50 has a vision problem, and fraudsters target exactly them. Google Lens reads text aloud, but it does not tell him what to do or warn him about a scam.</a:t>
            </a:r>
          </a:p>
        </p:txBody>
      </p:sp>
      <p:sp>
        <p:nvSpPr>
          <p:cNvPr id="4" name="Slide Number Placeholder 3"/>
          <p:cNvSpPr>
            <a:spLocks noGrp="1"/>
          </p:cNvSpPr>
          <p:nvPr>
            <p:ph type="sldNum" sz="quarter" idx="5"/>
          </p:nvPr>
        </p:nvSpPr>
        <p:spPr/>
        <p:txBody>
          <a:bodyPr/>
          <a:lstStyle/>
          <a:p>
            <a:fld id="{B9837B90-2D2E-41ED-95EA-D988D6C57CAE}" type="slidenum">
              <a:rPr lang="en-US" smtClean="0"/>
              <a:t>3</a:t>
            </a:fld>
            <a:endParaRPr lang="en-US"/>
          </a:p>
        </p:txBody>
      </p:sp>
    </p:spTree>
    <p:extLst>
      <p:ext uri="{BB962C8B-B14F-4D97-AF65-F5344CB8AC3E}">
        <p14:creationId xmlns:p14="http://schemas.microsoft.com/office/powerpoint/2010/main" val="17790391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NIMISHA: Vaachak works in three steps. Any input: a photo, a screenshot or PDF, a pasted WhatsApp message or a link. Then Gemini reads it into five fields: what is this, what to do, by when, how much, and the warning, and our rule engine checks those answers against the printed text. Then it acts: it speaks slowly in Marathi or Hindi, shows colours and pill pictures, and gives one-tap buttons: pay, remind, call 1930 on a scam, or send it to your son. Over to Jiya for the demo.</a:t>
            </a:r>
          </a:p>
        </p:txBody>
      </p:sp>
      <p:sp>
        <p:nvSpPr>
          <p:cNvPr id="4" name="Slide Number Placeholder 3"/>
          <p:cNvSpPr>
            <a:spLocks noGrp="1"/>
          </p:cNvSpPr>
          <p:nvPr>
            <p:ph type="sldNum" sz="quarter" idx="5"/>
          </p:nvPr>
        </p:nvSpPr>
        <p:spPr/>
        <p:txBody>
          <a:bodyPr/>
          <a:lstStyle/>
          <a:p>
            <a:fld id="{B9837B90-2D2E-41ED-95EA-D988D6C57CAE}" type="slidenum">
              <a:rPr lang="en-US" smtClean="0"/>
              <a:t>4</a:t>
            </a:fld>
            <a:endParaRPr lang="en-US"/>
          </a:p>
        </p:txBody>
      </p:sp>
    </p:spTree>
    <p:extLst>
      <p:ext uri="{BB962C8B-B14F-4D97-AF65-F5344CB8AC3E}">
        <p14:creationId xmlns:p14="http://schemas.microsoft.com/office/powerpoint/2010/main" val="41524525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JIYA: This is the live app, not a mock-up. Scan the QR code and try it yourselves. Left: a fake 'your power will be cut tonight' SMS. Vaachak flags it as a scam using plain rules, not AI, and explains why in Marathi. Middle: an MSEDCL bill becomes 'pay 840 rupees by 10 October'; the amount and date are checked against the printed text. Right: a prescription with three medicines gets one picture schedule per medicine, so nothing is merged or missed. LIVE DEMO: paste the scam SMS from the demo sheet, let the judges hear the voice.</a:t>
            </a:r>
          </a:p>
        </p:txBody>
      </p:sp>
      <p:sp>
        <p:nvSpPr>
          <p:cNvPr id="4" name="Slide Number Placeholder 3"/>
          <p:cNvSpPr>
            <a:spLocks noGrp="1"/>
          </p:cNvSpPr>
          <p:nvPr>
            <p:ph type="sldNum" sz="quarter" idx="5"/>
          </p:nvPr>
        </p:nvSpPr>
        <p:spPr/>
        <p:txBody>
          <a:bodyPr/>
          <a:lstStyle/>
          <a:p>
            <a:fld id="{B9837B90-2D2E-41ED-95EA-D988D6C57CAE}" type="slidenum">
              <a:rPr lang="en-US" smtClean="0"/>
              <a:t>5</a:t>
            </a:fld>
            <a:endParaRPr lang="en-US"/>
          </a:p>
        </p:txBody>
      </p:sp>
    </p:spTree>
    <p:extLst>
      <p:ext uri="{BB962C8B-B14F-4D97-AF65-F5344CB8AC3E}">
        <p14:creationId xmlns:p14="http://schemas.microsoft.com/office/powerpoint/2010/main" val="39833054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JIYA (Anvesh takes technical questions): The key design choice is that AI reads, but rules decide what is safe. Gemini turns the photo into a structured card. A deterministic rule engine with no AI then checks the amount and date against the printed text, compares them with a second on-device OCR engine, and checks expiry, scams and bill spikes. The same rule engine runs inside the phone, so it still works with no internet. Voice is Sarvam's Indian voice.</a:t>
            </a:r>
          </a:p>
        </p:txBody>
      </p:sp>
      <p:sp>
        <p:nvSpPr>
          <p:cNvPr id="4" name="Slide Number Placeholder 3"/>
          <p:cNvSpPr>
            <a:spLocks noGrp="1"/>
          </p:cNvSpPr>
          <p:nvPr>
            <p:ph type="sldNum" sz="quarter" idx="5"/>
          </p:nvPr>
        </p:nvSpPr>
        <p:spPr/>
        <p:txBody>
          <a:bodyPr/>
          <a:lstStyle/>
          <a:p>
            <a:fld id="{B9837B90-2D2E-41ED-95EA-D988D6C57CAE}" type="slidenum">
              <a:rPr lang="en-US" smtClean="0"/>
              <a:t>6</a:t>
            </a:fld>
            <a:endParaRPr lang="en-US"/>
          </a:p>
        </p:txBody>
      </p:sp>
    </p:spTree>
    <p:extLst>
      <p:ext uri="{BB962C8B-B14F-4D97-AF65-F5344CB8AC3E}">
        <p14:creationId xmlns:p14="http://schemas.microsoft.com/office/powerpoint/2010/main" val="14384549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JIYA: Why Vaachak is different. Other tools read text aloud. Vaachak acts: one tap to pay, remind, call 1930 or ask family. It never guesses. It knows Indian scams. It keeps looking after the person with reminders and due dates. And it works even without internet. Next we want all 22 Indian languages, a WhatsApp bot, and a family app.</a:t>
            </a:r>
          </a:p>
        </p:txBody>
      </p:sp>
      <p:sp>
        <p:nvSpPr>
          <p:cNvPr id="4" name="Slide Number Placeholder 3"/>
          <p:cNvSpPr>
            <a:spLocks noGrp="1"/>
          </p:cNvSpPr>
          <p:nvPr>
            <p:ph type="sldNum" sz="quarter" idx="5"/>
          </p:nvPr>
        </p:nvSpPr>
        <p:spPr/>
        <p:txBody>
          <a:bodyPr/>
          <a:lstStyle/>
          <a:p>
            <a:fld id="{B9837B90-2D2E-41ED-95EA-D988D6C57CAE}" type="slidenum">
              <a:rPr lang="en-US" smtClean="0"/>
              <a:t>7</a:t>
            </a:fld>
            <a:endParaRPr lang="en-US"/>
          </a:p>
        </p:txBody>
      </p:sp>
    </p:spTree>
    <p:extLst>
      <p:ext uri="{BB962C8B-B14F-4D97-AF65-F5344CB8AC3E}">
        <p14:creationId xmlns:p14="http://schemas.microsoft.com/office/powerpoint/2010/main" val="1156543088"/>
      </p:ext>
    </p:extLst>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JIYA: Reading is only the start. PROTECT: when Vaachak sees a scam it does not just say 'don't call'. It gives one big button to 1930, India's cyber-fraud helpline, and the real helpline of the company being faked. REMIND: from one photo of a prescription it sets every dose of every medicine for the whole course in the phone calendar. REMEMBER: the home screen shows what is due: 'MSEDCL bill, 2 days left' and how many scams it caught. GUIDE: the first time, Vaachak walks the person through the app, speaking in their own language. Tap the question mark any time to hear it again.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JIYA: We measured everything on the live app, not on a slide. A pasted SMS becomes a spoken card in about two seconds, a bill photo in about four, and the voice starts in about one and a half. We tested four common scams and caught all four, while real bank and government messages were not flagged. 58 automated tests guard the safety rules, which run without AI and also on the phone with no internet. And when Vaachak is not sure, it says so. It never guesses with money or medicine.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NIMISHA: Gemini answers questions. Vaachak never needs one, because Prakash-kaka should not have to know what to ask. Scan the code and try it on your own phone. Thank you,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jpeg"/><Relationship Id="rId5" Type="http://schemas.openxmlformats.org/officeDocument/2006/relationships/image" Target="../media/image3.jpeg"/><Relationship Id="rId6" Type="http://schemas.openxmlformats.org/officeDocument/2006/relationships/image" Target="../media/image4.jpeg"/><Relationship Id="rId7" Type="http://schemas.openxmlformats.org/officeDocument/2006/relationships/image" Target="../media/image5.jpeg"/><Relationship Id="rId8" Type="http://schemas.openxmlformats.org/officeDocument/2006/relationships/image" Target="../media/image6.png"/><Relationship Id="rId9" Type="http://schemas.openxmlformats.org/officeDocument/2006/relationships/image" Target="../media/image7.png"/><Relationship Id="rId10" Type="http://schemas.openxmlformats.org/officeDocument/2006/relationships/image" Target="../media/image8.png"/><Relationship Id="rId11" Type="http://schemas.openxmlformats.org/officeDocument/2006/relationships/image" Target="../media/image9.jpeg"/><Relationship Id="rId12"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11.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20.png"/><Relationship Id="rId8" Type="http://schemas.openxmlformats.org/officeDocument/2006/relationships/image" Target="../media/image21.png"/><Relationship Id="rId9" Type="http://schemas.openxmlformats.org/officeDocument/2006/relationships/image" Target="../media/image22.png"/><Relationship Id="rId10" Type="http://schemas.openxmlformats.org/officeDocument/2006/relationships/notesSlide" Target="../notesSlides/notesSlide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1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jpeg"/><Relationship Id="rId11" Type="http://schemas.openxmlformats.org/officeDocument/2006/relationships/image" Target="../media/image10.png"/><Relationship Id="rId12" Type="http://schemas.openxmlformats.org/officeDocument/2006/relationships/image" Target="../media/image18.png"/><Relationship Id="rId1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317497"/>
            <a:ext cx="18288000" cy="9978390"/>
            <a:chOff x="0" y="0"/>
            <a:chExt cx="24384000" cy="13304520"/>
          </a:xfrm>
        </p:grpSpPr>
        <p:sp>
          <p:nvSpPr>
            <p:cNvPr id="3" name="Freeform 3"/>
            <p:cNvSpPr/>
            <p:nvPr/>
          </p:nvSpPr>
          <p:spPr>
            <a:xfrm>
              <a:off x="0" y="0"/>
              <a:ext cx="24384000" cy="13304520"/>
            </a:xfrm>
            <a:custGeom>
              <a:avLst/>
              <a:gdLst/>
              <a:ahLst/>
              <a:cxnLst/>
              <a:rect l="l" t="t" r="r" b="b"/>
              <a:pathLst>
                <a:path w="24384000" h="13304520">
                  <a:moveTo>
                    <a:pt x="0" y="0"/>
                  </a:moveTo>
                  <a:lnTo>
                    <a:pt x="24384000" y="0"/>
                  </a:lnTo>
                  <a:lnTo>
                    <a:pt x="24384000" y="13304520"/>
                  </a:lnTo>
                  <a:lnTo>
                    <a:pt x="0" y="13304520"/>
                  </a:lnTo>
                  <a:lnTo>
                    <a:pt x="0" y="0"/>
                  </a:lnTo>
                  <a:close/>
                </a:path>
              </a:pathLst>
            </a:custGeom>
            <a:blipFill>
              <a:blip r:embed="rId3"/>
              <a:stretch>
                <a:fillRect t="-84536" r="-3713" b="-84536"/>
              </a:stretch>
            </a:blipFill>
          </p:spPr>
        </p:sp>
      </p:grpSp>
      <p:sp>
        <p:nvSpPr>
          <p:cNvPr id="4" name="TextBox 4"/>
          <p:cNvSpPr txBox="1"/>
          <p:nvPr/>
        </p:nvSpPr>
        <p:spPr>
          <a:xfrm>
            <a:off x="1828800" y="6995160"/>
            <a:ext cx="14630400" cy="1046440"/>
          </a:xfrm>
          <a:prstGeom prst="rect">
            <a:avLst/>
          </a:prstGeom>
        </p:spPr>
        <p:txBody>
          <a:bodyPr wrap="square" lIns="0" tIns="0" rIns="0" bIns="0" rtlCol="0" anchor="t">
            <a:spAutoFit/>
          </a:bodyPr>
          <a:lstStyle/>
          <a:p>
            <a:pPr algn="ctr">
              <a:lnSpc>
                <a:spcPts val="9605"/>
              </a:lnSpc>
            </a:pPr>
            <a:r>
              <a:rPr lang="en-US" sz="4000">
                <a:solidFill>
                  <a:srgbClr val="D9D5D5"/>
                </a:solidFill>
                <a:latin typeface="Lobster"/>
                <a:ea typeface="Lobster"/>
                <a:cs typeface="Lobster"/>
                <a:sym typeface="Lobster"/>
              </a:rPr>
              <a:t>Team: Team Vaachak</a:t>
            </a:r>
          </a:p>
        </p:txBody>
      </p:sp>
      <p:sp>
        <p:nvSpPr>
          <p:cNvPr id="5" name="TextBox 5"/>
          <p:cNvSpPr txBox="1"/>
          <p:nvPr/>
        </p:nvSpPr>
        <p:spPr>
          <a:xfrm>
            <a:off x="1828799" y="6126480"/>
            <a:ext cx="14630400" cy="950260"/>
          </a:xfrm>
          <a:prstGeom prst="rect">
            <a:avLst/>
          </a:prstGeom>
        </p:spPr>
        <p:txBody>
          <a:bodyPr wrap="square" lIns="0" tIns="0" rIns="0" bIns="0" rtlCol="0" anchor="t">
            <a:spAutoFit/>
          </a:bodyPr>
          <a:lstStyle/>
          <a:p>
            <a:pPr algn="ctr">
              <a:lnSpc>
                <a:spcPts val="8638"/>
              </a:lnSpc>
            </a:pPr>
            <a:r>
              <a:rPr lang="en-US" sz="4000">
                <a:solidFill>
                  <a:srgbClr val="D9D5D5"/>
                </a:solidFill>
                <a:latin typeface="Lobster"/>
                <a:ea typeface="Lobster"/>
                <a:cs typeface="Lobster"/>
                <a:sym typeface="Lobster"/>
              </a:rPr>
              <a:t>PS 10: AI-Powered Accessibility Assistant</a:t>
            </a:r>
          </a:p>
        </p:txBody>
      </p:sp>
      <p:sp>
        <p:nvSpPr>
          <p:cNvPr id="6" name="TextBox 6"/>
          <p:cNvSpPr txBox="1"/>
          <p:nvPr/>
        </p:nvSpPr>
        <p:spPr>
          <a:xfrm>
            <a:off x="3648951" y="3385784"/>
            <a:ext cx="10989945" cy="2609926"/>
          </a:xfrm>
          <a:prstGeom prst="rect">
            <a:avLst/>
          </a:prstGeom>
        </p:spPr>
        <p:txBody>
          <a:bodyPr lIns="0" tIns="0" rIns="0" bIns="0" rtlCol="0" anchor="t">
            <a:spAutoFit/>
          </a:bodyPr>
          <a:lstStyle/>
          <a:p>
            <a:pPr algn="ctr">
              <a:lnSpc>
                <a:spcPts val="21599"/>
              </a:lnSpc>
            </a:pPr>
            <a:r>
              <a:rPr lang="en-US" sz="15000">
                <a:solidFill>
                  <a:srgbClr val="8CB3E3"/>
                </a:solidFill>
                <a:latin typeface="Lobster"/>
                <a:ea typeface="Lobster"/>
                <a:cs typeface="Lobster"/>
                <a:sym typeface="Lobster"/>
              </a:rPr>
              <a:t>THINK AI  4.0</a:t>
            </a:r>
          </a:p>
        </p:txBody>
      </p:sp>
      <p:sp>
        <p:nvSpPr>
          <p:cNvPr id="7" name="Freeform 7"/>
          <p:cNvSpPr/>
          <p:nvPr/>
        </p:nvSpPr>
        <p:spPr>
          <a:xfrm>
            <a:off x="151330" y="1331330"/>
            <a:ext cx="1369119" cy="1472232"/>
          </a:xfrm>
          <a:custGeom>
            <a:avLst/>
            <a:gdLst/>
            <a:ahLst/>
            <a:cxnLst/>
            <a:rect l="l" t="t" r="r" b="b"/>
            <a:pathLst>
              <a:path w="1369119" h="1472232">
                <a:moveTo>
                  <a:pt x="0" y="0"/>
                </a:moveTo>
                <a:lnTo>
                  <a:pt x="1369118" y="0"/>
                </a:lnTo>
                <a:lnTo>
                  <a:pt x="1369118" y="1472232"/>
                </a:lnTo>
                <a:lnTo>
                  <a:pt x="0" y="1472232"/>
                </a:lnTo>
                <a:lnTo>
                  <a:pt x="0" y="0"/>
                </a:lnTo>
                <a:close/>
              </a:path>
            </a:pathLst>
          </a:custGeom>
          <a:blipFill>
            <a:blip r:embed="rId4"/>
            <a:stretch>
              <a:fillRect/>
            </a:stretch>
          </a:blipFill>
        </p:spPr>
      </p:sp>
      <p:sp>
        <p:nvSpPr>
          <p:cNvPr id="8" name="Freeform 8"/>
          <p:cNvSpPr/>
          <p:nvPr/>
        </p:nvSpPr>
        <p:spPr>
          <a:xfrm>
            <a:off x="3445594" y="1343972"/>
            <a:ext cx="1729895" cy="1397301"/>
          </a:xfrm>
          <a:custGeom>
            <a:avLst/>
            <a:gdLst/>
            <a:ahLst/>
            <a:cxnLst/>
            <a:rect l="l" t="t" r="r" b="b"/>
            <a:pathLst>
              <a:path w="1729895" h="1397301">
                <a:moveTo>
                  <a:pt x="0" y="0"/>
                </a:moveTo>
                <a:lnTo>
                  <a:pt x="1729896" y="0"/>
                </a:lnTo>
                <a:lnTo>
                  <a:pt x="1729896" y="1397301"/>
                </a:lnTo>
                <a:lnTo>
                  <a:pt x="0" y="1397301"/>
                </a:lnTo>
                <a:lnTo>
                  <a:pt x="0" y="0"/>
                </a:lnTo>
                <a:close/>
              </a:path>
            </a:pathLst>
          </a:custGeom>
          <a:blipFill>
            <a:blip r:embed="rId5"/>
            <a:stretch>
              <a:fillRect t="-5420" b="-18382"/>
            </a:stretch>
          </a:blipFill>
        </p:spPr>
      </p:sp>
      <p:sp>
        <p:nvSpPr>
          <p:cNvPr id="9" name="Freeform 9"/>
          <p:cNvSpPr/>
          <p:nvPr/>
        </p:nvSpPr>
        <p:spPr>
          <a:xfrm>
            <a:off x="5267568" y="1377129"/>
            <a:ext cx="1916697" cy="1264093"/>
          </a:xfrm>
          <a:custGeom>
            <a:avLst/>
            <a:gdLst/>
            <a:ahLst/>
            <a:cxnLst/>
            <a:rect l="l" t="t" r="r" b="b"/>
            <a:pathLst>
              <a:path w="1916697" h="1264093">
                <a:moveTo>
                  <a:pt x="0" y="0"/>
                </a:moveTo>
                <a:lnTo>
                  <a:pt x="1916697" y="0"/>
                </a:lnTo>
                <a:lnTo>
                  <a:pt x="1916697" y="1264094"/>
                </a:lnTo>
                <a:lnTo>
                  <a:pt x="0" y="1264094"/>
                </a:lnTo>
                <a:lnTo>
                  <a:pt x="0" y="0"/>
                </a:lnTo>
                <a:close/>
              </a:path>
            </a:pathLst>
          </a:custGeom>
          <a:blipFill>
            <a:blip r:embed="rId6"/>
            <a:stretch>
              <a:fillRect b="-4874"/>
            </a:stretch>
          </a:blipFill>
        </p:spPr>
      </p:sp>
      <p:sp>
        <p:nvSpPr>
          <p:cNvPr id="10" name="Freeform 10"/>
          <p:cNvSpPr/>
          <p:nvPr/>
        </p:nvSpPr>
        <p:spPr>
          <a:xfrm>
            <a:off x="1612874" y="1331330"/>
            <a:ext cx="1740642" cy="1355692"/>
          </a:xfrm>
          <a:custGeom>
            <a:avLst/>
            <a:gdLst/>
            <a:ahLst/>
            <a:cxnLst/>
            <a:rect l="l" t="t" r="r" b="b"/>
            <a:pathLst>
              <a:path w="1740642" h="1355692">
                <a:moveTo>
                  <a:pt x="0" y="0"/>
                </a:moveTo>
                <a:lnTo>
                  <a:pt x="1740642" y="0"/>
                </a:lnTo>
                <a:lnTo>
                  <a:pt x="1740642" y="1355692"/>
                </a:lnTo>
                <a:lnTo>
                  <a:pt x="0" y="1355692"/>
                </a:lnTo>
                <a:lnTo>
                  <a:pt x="0" y="0"/>
                </a:lnTo>
                <a:close/>
              </a:path>
            </a:pathLst>
          </a:custGeom>
          <a:blipFill>
            <a:blip r:embed="rId7"/>
            <a:stretch>
              <a:fillRect/>
            </a:stretch>
          </a:blipFill>
        </p:spPr>
      </p:sp>
      <p:grpSp>
        <p:nvGrpSpPr>
          <p:cNvPr id="11" name="Group 11"/>
          <p:cNvGrpSpPr/>
          <p:nvPr/>
        </p:nvGrpSpPr>
        <p:grpSpPr>
          <a:xfrm>
            <a:off x="7276344" y="1469966"/>
            <a:ext cx="2626242" cy="1136971"/>
            <a:chOff x="0" y="0"/>
            <a:chExt cx="532452" cy="230513"/>
          </a:xfrm>
        </p:grpSpPr>
        <p:sp>
          <p:nvSpPr>
            <p:cNvPr id="12" name="Freeform 12"/>
            <p:cNvSpPr/>
            <p:nvPr/>
          </p:nvSpPr>
          <p:spPr>
            <a:xfrm>
              <a:off x="0" y="0"/>
              <a:ext cx="532452" cy="230513"/>
            </a:xfrm>
            <a:custGeom>
              <a:avLst/>
              <a:gdLst/>
              <a:ahLst/>
              <a:cxnLst/>
              <a:rect l="l" t="t" r="r" b="b"/>
              <a:pathLst>
                <a:path w="532452" h="230513">
                  <a:moveTo>
                    <a:pt x="0" y="0"/>
                  </a:moveTo>
                  <a:lnTo>
                    <a:pt x="532452" y="0"/>
                  </a:lnTo>
                  <a:lnTo>
                    <a:pt x="532452" y="230513"/>
                  </a:lnTo>
                  <a:lnTo>
                    <a:pt x="0" y="230513"/>
                  </a:lnTo>
                  <a:close/>
                </a:path>
              </a:pathLst>
            </a:custGeom>
            <a:solidFill>
              <a:srgbClr val="FFFFFF"/>
            </a:solidFill>
          </p:spPr>
        </p:sp>
        <p:sp>
          <p:nvSpPr>
            <p:cNvPr id="13" name="TextBox 13"/>
            <p:cNvSpPr txBox="1"/>
            <p:nvPr/>
          </p:nvSpPr>
          <p:spPr>
            <a:xfrm>
              <a:off x="0" y="38100"/>
              <a:ext cx="532452" cy="192413"/>
            </a:xfrm>
            <a:prstGeom prst="rect">
              <a:avLst/>
            </a:prstGeom>
          </p:spPr>
          <p:txBody>
            <a:bodyPr lIns="71271" tIns="71271" rIns="71271" bIns="71271" rtlCol="0" anchor="ctr"/>
            <a:lstStyle/>
            <a:p>
              <a:pPr algn="ctr">
                <a:lnSpc>
                  <a:spcPts val="2000"/>
                </a:lnSpc>
              </a:pPr>
              <a:endParaRPr/>
            </a:p>
          </p:txBody>
        </p:sp>
      </p:grpSp>
      <p:sp>
        <p:nvSpPr>
          <p:cNvPr id="14" name="Freeform 14"/>
          <p:cNvSpPr/>
          <p:nvPr/>
        </p:nvSpPr>
        <p:spPr>
          <a:xfrm>
            <a:off x="7304312" y="952500"/>
            <a:ext cx="2452815" cy="2026354"/>
          </a:xfrm>
          <a:custGeom>
            <a:avLst/>
            <a:gdLst/>
            <a:ahLst/>
            <a:cxnLst/>
            <a:rect l="l" t="t" r="r" b="b"/>
            <a:pathLst>
              <a:path w="2452815" h="2026354">
                <a:moveTo>
                  <a:pt x="0" y="0"/>
                </a:moveTo>
                <a:lnTo>
                  <a:pt x="2452815" y="0"/>
                </a:lnTo>
                <a:lnTo>
                  <a:pt x="2452815" y="2026354"/>
                </a:lnTo>
                <a:lnTo>
                  <a:pt x="0" y="2026354"/>
                </a:lnTo>
                <a:lnTo>
                  <a:pt x="0" y="0"/>
                </a:lnTo>
                <a:close/>
              </a:path>
            </a:pathLst>
          </a:custGeom>
          <a:blipFill>
            <a:blip r:embed="rId8"/>
            <a:stretch>
              <a:fillRect t="-10522" b="-10522"/>
            </a:stretch>
          </a:blipFill>
        </p:spPr>
      </p:sp>
      <p:sp>
        <p:nvSpPr>
          <p:cNvPr id="15" name="Freeform 15"/>
          <p:cNvSpPr/>
          <p:nvPr/>
        </p:nvSpPr>
        <p:spPr>
          <a:xfrm>
            <a:off x="11509328" y="1377129"/>
            <a:ext cx="2287542" cy="1143771"/>
          </a:xfrm>
          <a:custGeom>
            <a:avLst/>
            <a:gdLst/>
            <a:ahLst/>
            <a:cxnLst/>
            <a:rect l="l" t="t" r="r" b="b"/>
            <a:pathLst>
              <a:path w="2287542" h="1143771">
                <a:moveTo>
                  <a:pt x="0" y="0"/>
                </a:moveTo>
                <a:lnTo>
                  <a:pt x="2287542" y="0"/>
                </a:lnTo>
                <a:lnTo>
                  <a:pt x="2287542" y="1143771"/>
                </a:lnTo>
                <a:lnTo>
                  <a:pt x="0" y="1143771"/>
                </a:lnTo>
                <a:lnTo>
                  <a:pt x="0" y="0"/>
                </a:lnTo>
                <a:close/>
              </a:path>
            </a:pathLst>
          </a:custGeom>
          <a:blipFill>
            <a:blip r:embed="rId9"/>
            <a:stretch>
              <a:fillRect/>
            </a:stretch>
          </a:blipFill>
        </p:spPr>
      </p:sp>
      <p:sp>
        <p:nvSpPr>
          <p:cNvPr id="16" name="Freeform 16"/>
          <p:cNvSpPr/>
          <p:nvPr/>
        </p:nvSpPr>
        <p:spPr>
          <a:xfrm>
            <a:off x="9994664" y="1377129"/>
            <a:ext cx="1422585" cy="1422585"/>
          </a:xfrm>
          <a:custGeom>
            <a:avLst/>
            <a:gdLst/>
            <a:ahLst/>
            <a:cxnLst/>
            <a:rect l="l" t="t" r="r" b="b"/>
            <a:pathLst>
              <a:path w="1422585" h="1422585">
                <a:moveTo>
                  <a:pt x="0" y="0"/>
                </a:moveTo>
                <a:lnTo>
                  <a:pt x="1422586" y="0"/>
                </a:lnTo>
                <a:lnTo>
                  <a:pt x="1422586" y="1422585"/>
                </a:lnTo>
                <a:lnTo>
                  <a:pt x="0" y="1422585"/>
                </a:lnTo>
                <a:lnTo>
                  <a:pt x="0" y="0"/>
                </a:lnTo>
                <a:close/>
              </a:path>
            </a:pathLst>
          </a:custGeom>
          <a:blipFill>
            <a:blip r:embed="rId10"/>
            <a:stretch>
              <a:fillRect/>
            </a:stretch>
          </a:blipFill>
        </p:spPr>
      </p:sp>
      <p:sp>
        <p:nvSpPr>
          <p:cNvPr id="17" name="Freeform 17"/>
          <p:cNvSpPr/>
          <p:nvPr/>
        </p:nvSpPr>
        <p:spPr>
          <a:xfrm>
            <a:off x="13888949" y="1277602"/>
            <a:ext cx="1995824" cy="1315129"/>
          </a:xfrm>
          <a:custGeom>
            <a:avLst/>
            <a:gdLst/>
            <a:ahLst/>
            <a:cxnLst/>
            <a:rect l="l" t="t" r="r" b="b"/>
            <a:pathLst>
              <a:path w="1995824" h="1315129">
                <a:moveTo>
                  <a:pt x="0" y="0"/>
                </a:moveTo>
                <a:lnTo>
                  <a:pt x="1995824" y="0"/>
                </a:lnTo>
                <a:lnTo>
                  <a:pt x="1995824" y="1315129"/>
                </a:lnTo>
                <a:lnTo>
                  <a:pt x="0" y="1315129"/>
                </a:lnTo>
                <a:lnTo>
                  <a:pt x="0" y="0"/>
                </a:lnTo>
                <a:close/>
              </a:path>
            </a:pathLst>
          </a:custGeom>
          <a:blipFill>
            <a:blip r:embed="rId11"/>
            <a:stretch>
              <a:fillRect/>
            </a:stretch>
          </a:blipFill>
        </p:spPr>
      </p:sp>
      <p:sp>
        <p:nvSpPr>
          <p:cNvPr id="18" name="Freeform 18"/>
          <p:cNvSpPr/>
          <p:nvPr/>
        </p:nvSpPr>
        <p:spPr>
          <a:xfrm>
            <a:off x="15976851" y="1258923"/>
            <a:ext cx="2005020" cy="1333808"/>
          </a:xfrm>
          <a:custGeom>
            <a:avLst/>
            <a:gdLst/>
            <a:ahLst/>
            <a:cxnLst/>
            <a:rect l="l" t="t" r="r" b="b"/>
            <a:pathLst>
              <a:path w="2005020" h="1333808">
                <a:moveTo>
                  <a:pt x="0" y="0"/>
                </a:moveTo>
                <a:lnTo>
                  <a:pt x="2005021" y="0"/>
                </a:lnTo>
                <a:lnTo>
                  <a:pt x="2005021" y="1333808"/>
                </a:lnTo>
                <a:lnTo>
                  <a:pt x="0" y="1333808"/>
                </a:lnTo>
                <a:lnTo>
                  <a:pt x="0" y="0"/>
                </a:lnTo>
                <a:close/>
              </a:path>
            </a:pathLst>
          </a:custGeom>
          <a:blipFill>
            <a:blip r:embed="rId12"/>
            <a:stretch>
              <a:fillRect t="-53008" b="-72475"/>
            </a:stretch>
          </a:blipFill>
        </p:spPr>
      </p:sp>
      <p:sp>
        <p:nvSpPr>
          <p:cNvPr id="19" name="TextBox 18">
            <a:extLst>
              <a:ext uri="{FF2B5EF4-FFF2-40B4-BE49-F238E27FC236}">
                <a16:creationId xmlns:a16="http://schemas.microsoft.com/office/drawing/2014/main" id="{869F056C-1DD1-B0EF-226B-7C0F507BE4DF}"/>
              </a:ext>
            </a:extLst>
          </p:cNvPr>
          <p:cNvSpPr txBox="1"/>
          <p:nvPr/>
        </p:nvSpPr>
        <p:spPr>
          <a:xfrm>
            <a:off x="2926080" y="8046720"/>
            <a:ext cx="12435840" cy="369332"/>
          </a:xfrm>
          <a:prstGeom prst="rect">
            <a:avLst/>
          </a:prstGeom>
          <a:noFill/>
        </p:spPr>
        <p:txBody>
          <a:bodyPr vert="horz" wrap="square" lIns="0" tIns="0" rIns="0" bIns="0" rtlCol="0">
            <a:noAutofit/>
          </a:bodyPr>
          <a:lstStyle/>
          <a:p>
            <a:pPr algn="ctr">
              <a:spcAft>
                <a:spcPts val="400"/>
              </a:spcAft>
            </a:pPr>
            <a:r>
              <a:rPr lang="en-US" sz="1900">
                <a:solidFill>
                  <a:srgbClr val="D9D5D5"/>
                </a:solidFill>
                <a:latin typeface="Arial" panose="020B0604020202020204" pitchFamily="34" charset="0"/>
                <a:cs typeface="Nirmala UI" panose="020B0502040204020203" pitchFamily="34" charset="0"/>
              </a:rPr>
              <a:t>Vaachak (वाचक) reads any bill, medicine strip or message, on paper or on screen, and tells elderly people in Marathi or Hindi exactly what to do</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3"/>
              <a:stretch>
                <a:fillRect t="-80500" r="-3713" b="-80500"/>
              </a:stretch>
            </a:blipFill>
          </p:spPr>
        </p:sp>
      </p:grpSp>
      <p:sp>
        <p:nvSpPr>
          <p:cNvPr id="4" name="TextBox 4"/>
          <p:cNvSpPr txBox="1"/>
          <p:nvPr/>
        </p:nvSpPr>
        <p:spPr>
          <a:xfrm>
            <a:off x="714823" y="1652702"/>
            <a:ext cx="16858355" cy="1114949"/>
          </a:xfrm>
          <a:prstGeom prst="rect">
            <a:avLst/>
          </a:prstGeom>
        </p:spPr>
        <p:txBody>
          <a:bodyPr lIns="0" tIns="0" rIns="0" bIns="0" rtlCol="0" anchor="t">
            <a:spAutoFit/>
          </a:bodyPr>
          <a:lstStyle/>
          <a:p>
            <a:pPr algn="ctr">
              <a:lnSpc>
                <a:spcPts val="10425"/>
              </a:lnSpc>
            </a:pPr>
            <a:r>
              <a:rPr lang="en-US" sz="7239">
                <a:solidFill>
                  <a:srgbClr val="FFFFFF"/>
                </a:solidFill>
                <a:latin typeface="Lobster"/>
                <a:ea typeface="Lobster"/>
                <a:cs typeface="Lobster"/>
                <a:sym typeface="Lobster"/>
              </a:rPr>
              <a:t>Meet The Team</a:t>
            </a:r>
          </a:p>
        </p:txBody>
      </p:sp>
      <p:sp>
        <p:nvSpPr>
          <p:cNvPr id="100" name="Member 1 circle">
            <a:extLst>
              <a:ext uri="{FF2B5EF4-FFF2-40B4-BE49-F238E27FC236}">
                <a16:creationId xmlns:a16="http://schemas.microsoft.com/office/drawing/2014/main" id="{9BE58745-D4F7-FFBE-8EB5-FF352F8B59B6}"/>
              </a:ext>
            </a:extLst>
          </p:cNvPr>
          <p:cNvSpPr/>
          <p:nvPr/>
        </p:nvSpPr>
        <p:spPr>
          <a:xfrm>
            <a:off x="2057400" y="3429000"/>
            <a:ext cx="2240280" cy="2240280"/>
          </a:xfrm>
          <a:prstGeom prst="ellipse">
            <a:avLst/>
          </a:prstGeom>
          <a:solidFill>
            <a:srgbClr val="12324A"/>
          </a:solidFill>
          <a:ln w="31750">
            <a:solidFill>
              <a:srgbClr val="2EC4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rgbClr val="FFFFFF"/>
                </a:solidFill>
                <a:latin typeface="Lobster" panose="00000500000000000000" pitchFamily="2" charset="0"/>
              </a:rPr>
              <a:t>A</a:t>
            </a:r>
          </a:p>
        </p:txBody>
      </p:sp>
      <p:sp>
        <p:nvSpPr>
          <p:cNvPr id="101" name="Member 1 name"/>
          <p:cNvSpPr txBox="1"/>
          <p:nvPr/>
        </p:nvSpPr>
        <p:spPr>
          <a:xfrm>
            <a:off x="1303020" y="5989320"/>
            <a:ext cx="3749039" cy="502920"/>
          </a:xfrm>
          <a:prstGeom prst="rect">
            <a:avLst/>
          </a:prstGeom>
          <a:noFill/>
        </p:spPr>
        <p:txBody>
          <a:bodyPr wrap="square" lIns="0" tIns="0" rIns="0" bIns="0" anchor="t">
            <a:spAutoFit/>
          </a:bodyPr>
          <a:lstStyle/>
          <a:p>
            <a:pPr algn="ctr"/>
            <a:r>
              <a:rPr sz="2400" b="1">
                <a:solidFill>
                  <a:srgbClr val="FFFFFF"/>
                </a:solidFill>
                <a:latin typeface="Arial"/>
                <a:cs typeface="Nirmala UI"/>
              </a:rPr>
              <a:t>Anvesh Chafle</a:t>
            </a:r>
          </a:p>
        </p:txBody>
      </p:sp>
      <p:sp>
        <p:nvSpPr>
          <p:cNvPr id="102" name="Member 1 role"/>
          <p:cNvSpPr txBox="1"/>
          <p:nvPr/>
        </p:nvSpPr>
        <p:spPr>
          <a:xfrm>
            <a:off x="1303020" y="6583680"/>
            <a:ext cx="3749039" cy="822960"/>
          </a:xfrm>
          <a:prstGeom prst="rect">
            <a:avLst/>
          </a:prstGeom>
          <a:noFill/>
        </p:spPr>
        <p:txBody>
          <a:bodyPr wrap="square" lIns="0" tIns="0" rIns="0" bIns="0" anchor="t">
            <a:spAutoFit/>
          </a:bodyPr>
          <a:lstStyle/>
          <a:p>
            <a:pPr algn="ctr"/>
            <a:r>
              <a:rPr sz="1600" b="0">
                <a:solidFill>
                  <a:srgbClr val="8CB3E3"/>
                </a:solidFill>
                <a:latin typeface="Arial"/>
                <a:cs typeface="Nirmala UI"/>
              </a:rPr>
              <a:t>Backend, AI pipeline &amp;</a:t>
            </a:r>
          </a:p>
          <a:p>
            <a:pPr algn="ctr"/>
            <a:r>
              <a:rPr sz="1600" b="0">
                <a:solidFill>
                  <a:srgbClr val="8CB3E3"/>
                </a:solidFill>
                <a:latin typeface="Arial"/>
                <a:cs typeface="Nirmala UI"/>
              </a:rPr>
              <a:t>safety rule engine</a:t>
            </a:r>
          </a:p>
        </p:txBody>
      </p:sp>
      <p:sp>
        <p:nvSpPr>
          <p:cNvPr id="101" name="Member 2 circle">
            <a:extLst>
              <a:ext uri="{FF2B5EF4-FFF2-40B4-BE49-F238E27FC236}">
                <a16:creationId xmlns:a16="http://schemas.microsoft.com/office/drawing/2014/main" id="{9BE58745-D4F7-FFBE-8EB5-FF352F8B59B6}"/>
              </a:ext>
            </a:extLst>
          </p:cNvPr>
          <p:cNvSpPr/>
          <p:nvPr/>
        </p:nvSpPr>
        <p:spPr>
          <a:xfrm>
            <a:off x="6035040" y="3429000"/>
            <a:ext cx="2240280" cy="2240280"/>
          </a:xfrm>
          <a:prstGeom prst="ellipse">
            <a:avLst/>
          </a:prstGeom>
          <a:solidFill>
            <a:srgbClr val="12324A"/>
          </a:solidFill>
          <a:ln w="31750">
            <a:solidFill>
              <a:srgbClr val="2EC4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rgbClr val="FFFFFF"/>
                </a:solidFill>
                <a:latin typeface="Lobster" panose="00000500000000000000" pitchFamily="2" charset="0"/>
              </a:rPr>
              <a:t>M</a:t>
            </a:r>
          </a:p>
        </p:txBody>
      </p:sp>
      <p:sp>
        <p:nvSpPr>
          <p:cNvPr id="103" name="Member 2 name"/>
          <p:cNvSpPr txBox="1"/>
          <p:nvPr/>
        </p:nvSpPr>
        <p:spPr>
          <a:xfrm>
            <a:off x="5280660" y="5989320"/>
            <a:ext cx="3749039" cy="502920"/>
          </a:xfrm>
          <a:prstGeom prst="rect">
            <a:avLst/>
          </a:prstGeom>
          <a:noFill/>
        </p:spPr>
        <p:txBody>
          <a:bodyPr wrap="square" lIns="0" tIns="0" rIns="0" bIns="0" anchor="t">
            <a:spAutoFit/>
          </a:bodyPr>
          <a:lstStyle/>
          <a:p>
            <a:pPr algn="ctr"/>
            <a:r>
              <a:rPr sz="2400" b="1">
                <a:solidFill>
                  <a:srgbClr val="FFFFFF"/>
                </a:solidFill>
                <a:latin typeface="Arial"/>
                <a:cs typeface="Nirmala UI"/>
              </a:rPr>
              <a:t>Maulik Parshionikar</a:t>
            </a:r>
          </a:p>
        </p:txBody>
      </p:sp>
      <p:sp>
        <p:nvSpPr>
          <p:cNvPr id="104" name="Member 2 role"/>
          <p:cNvSpPr txBox="1"/>
          <p:nvPr/>
        </p:nvSpPr>
        <p:spPr>
          <a:xfrm>
            <a:off x="5280660" y="6583680"/>
            <a:ext cx="3749039" cy="822960"/>
          </a:xfrm>
          <a:prstGeom prst="rect">
            <a:avLst/>
          </a:prstGeom>
          <a:noFill/>
        </p:spPr>
        <p:txBody>
          <a:bodyPr wrap="square" lIns="0" tIns="0" rIns="0" bIns="0" anchor="t">
            <a:spAutoFit/>
          </a:bodyPr>
          <a:lstStyle/>
          <a:p>
            <a:pPr algn="ctr"/>
            <a:r>
              <a:rPr sz="1600" b="0">
                <a:solidFill>
                  <a:srgbClr val="8CB3E3"/>
                </a:solidFill>
                <a:latin typeface="Arial"/>
                <a:cs typeface="Nirmala UI"/>
              </a:rPr>
              <a:t>Frontend, UI/UX &amp;</a:t>
            </a:r>
          </a:p>
          <a:p>
            <a:pPr algn="ctr"/>
            <a:r>
              <a:rPr sz="1600" b="0">
                <a:solidFill>
                  <a:srgbClr val="8CB3E3"/>
                </a:solidFill>
                <a:latin typeface="Arial"/>
                <a:cs typeface="Nirmala UI"/>
              </a:rPr>
              <a:t>accessibility design</a:t>
            </a:r>
          </a:p>
        </p:txBody>
      </p:sp>
      <p:sp>
        <p:nvSpPr>
          <p:cNvPr id="102" name="Member 3 circle">
            <a:extLst>
              <a:ext uri="{FF2B5EF4-FFF2-40B4-BE49-F238E27FC236}">
                <a16:creationId xmlns:a16="http://schemas.microsoft.com/office/drawing/2014/main" id="{9BE58745-D4F7-FFBE-8EB5-FF352F8B59B6}"/>
              </a:ext>
            </a:extLst>
          </p:cNvPr>
          <p:cNvSpPr/>
          <p:nvPr/>
        </p:nvSpPr>
        <p:spPr>
          <a:xfrm>
            <a:off x="10012680" y="3429000"/>
            <a:ext cx="2240280" cy="2240280"/>
          </a:xfrm>
          <a:prstGeom prst="ellipse">
            <a:avLst/>
          </a:prstGeom>
          <a:solidFill>
            <a:srgbClr val="12324A"/>
          </a:solidFill>
          <a:ln w="31750">
            <a:solidFill>
              <a:srgbClr val="2EC4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rgbClr val="FFFFFF"/>
                </a:solidFill>
                <a:latin typeface="Lobster" panose="00000500000000000000" pitchFamily="2" charset="0"/>
              </a:rPr>
              <a:t>N</a:t>
            </a:r>
          </a:p>
        </p:txBody>
      </p:sp>
      <p:sp>
        <p:nvSpPr>
          <p:cNvPr id="105" name="Member 3 name"/>
          <p:cNvSpPr txBox="1"/>
          <p:nvPr/>
        </p:nvSpPr>
        <p:spPr>
          <a:xfrm>
            <a:off x="9258300" y="5989320"/>
            <a:ext cx="3749039" cy="502920"/>
          </a:xfrm>
          <a:prstGeom prst="rect">
            <a:avLst/>
          </a:prstGeom>
          <a:noFill/>
        </p:spPr>
        <p:txBody>
          <a:bodyPr wrap="square" lIns="0" tIns="0" rIns="0" bIns="0" anchor="t">
            <a:spAutoFit/>
          </a:bodyPr>
          <a:lstStyle/>
          <a:p>
            <a:pPr algn="ctr"/>
            <a:r>
              <a:rPr sz="2400" b="1">
                <a:solidFill>
                  <a:srgbClr val="FFFFFF"/>
                </a:solidFill>
                <a:latin typeface="Arial"/>
                <a:cs typeface="Nirmala UI"/>
              </a:rPr>
              <a:t>Nimisha Jain</a:t>
            </a:r>
          </a:p>
        </p:txBody>
      </p:sp>
      <p:sp>
        <p:nvSpPr>
          <p:cNvPr id="106" name="Member 3 role"/>
          <p:cNvSpPr txBox="1"/>
          <p:nvPr/>
        </p:nvSpPr>
        <p:spPr>
          <a:xfrm>
            <a:off x="9258300" y="6583680"/>
            <a:ext cx="3749039" cy="822960"/>
          </a:xfrm>
          <a:prstGeom prst="rect">
            <a:avLst/>
          </a:prstGeom>
          <a:noFill/>
        </p:spPr>
        <p:txBody>
          <a:bodyPr wrap="square" lIns="0" tIns="0" rIns="0" bIns="0" anchor="t">
            <a:spAutoFit/>
          </a:bodyPr>
          <a:lstStyle/>
          <a:p>
            <a:pPr algn="ctr"/>
            <a:r>
              <a:rPr sz="1600" b="0">
                <a:solidFill>
                  <a:srgbClr val="8CB3E3"/>
                </a:solidFill>
                <a:latin typeface="Arial"/>
                <a:cs typeface="Nirmala UI"/>
              </a:rPr>
              <a:t>Presenter · research</a:t>
            </a:r>
          </a:p>
          <a:p>
            <a:pPr algn="ctr"/>
            <a:r>
              <a:rPr sz="1600" b="0">
                <a:solidFill>
                  <a:srgbClr val="8CB3E3"/>
                </a:solidFill>
                <a:latin typeface="Arial"/>
                <a:cs typeface="Nirmala UI"/>
              </a:rPr>
              <a:t>&amp; live demo</a:t>
            </a:r>
          </a:p>
        </p:txBody>
      </p:sp>
      <p:sp>
        <p:nvSpPr>
          <p:cNvPr id="103" name="Member 4 circle">
            <a:extLst>
              <a:ext uri="{FF2B5EF4-FFF2-40B4-BE49-F238E27FC236}">
                <a16:creationId xmlns:a16="http://schemas.microsoft.com/office/drawing/2014/main" id="{9BE58745-D4F7-FFBE-8EB5-FF352F8B59B6}"/>
              </a:ext>
            </a:extLst>
          </p:cNvPr>
          <p:cNvSpPr/>
          <p:nvPr/>
        </p:nvSpPr>
        <p:spPr>
          <a:xfrm>
            <a:off x="13990319" y="3429000"/>
            <a:ext cx="2240280" cy="2240280"/>
          </a:xfrm>
          <a:prstGeom prst="ellipse">
            <a:avLst/>
          </a:prstGeom>
          <a:solidFill>
            <a:srgbClr val="12324A"/>
          </a:solidFill>
          <a:ln w="31750">
            <a:solidFill>
              <a:srgbClr val="2EC4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rgbClr val="FFFFFF"/>
                </a:solidFill>
                <a:latin typeface="Lobster" panose="00000500000000000000" pitchFamily="2" charset="0"/>
              </a:rPr>
              <a:t>J</a:t>
            </a:r>
          </a:p>
        </p:txBody>
      </p:sp>
      <p:sp>
        <p:nvSpPr>
          <p:cNvPr id="107" name="Member 4 name"/>
          <p:cNvSpPr txBox="1"/>
          <p:nvPr/>
        </p:nvSpPr>
        <p:spPr>
          <a:xfrm>
            <a:off x="13235939" y="5989320"/>
            <a:ext cx="3749039" cy="502920"/>
          </a:xfrm>
          <a:prstGeom prst="rect">
            <a:avLst/>
          </a:prstGeom>
          <a:noFill/>
        </p:spPr>
        <p:txBody>
          <a:bodyPr wrap="square" lIns="0" tIns="0" rIns="0" bIns="0" anchor="t">
            <a:spAutoFit/>
          </a:bodyPr>
          <a:lstStyle/>
          <a:p>
            <a:pPr algn="ctr"/>
            <a:r>
              <a:rPr sz="2400" b="1">
                <a:solidFill>
                  <a:srgbClr val="FFFFFF"/>
                </a:solidFill>
                <a:latin typeface="Arial"/>
                <a:cs typeface="Nirmala UI"/>
              </a:rPr>
              <a:t>Jiya Khut</a:t>
            </a:r>
          </a:p>
        </p:txBody>
      </p:sp>
      <p:sp>
        <p:nvSpPr>
          <p:cNvPr id="108" name="Member 4 role"/>
          <p:cNvSpPr txBox="1"/>
          <p:nvPr/>
        </p:nvSpPr>
        <p:spPr>
          <a:xfrm>
            <a:off x="13235939" y="6583680"/>
            <a:ext cx="3749039" cy="822960"/>
          </a:xfrm>
          <a:prstGeom prst="rect">
            <a:avLst/>
          </a:prstGeom>
          <a:noFill/>
        </p:spPr>
        <p:txBody>
          <a:bodyPr wrap="square" lIns="0" tIns="0" rIns="0" bIns="0" anchor="t">
            <a:spAutoFit/>
          </a:bodyPr>
          <a:lstStyle/>
          <a:p>
            <a:pPr algn="ctr"/>
            <a:r>
              <a:rPr sz="1600" b="0">
                <a:solidFill>
                  <a:srgbClr val="8CB3E3"/>
                </a:solidFill>
                <a:latin typeface="Arial"/>
                <a:cs typeface="Nirmala UI"/>
              </a:rPr>
              <a:t>Presenter · pitch</a:t>
            </a:r>
          </a:p>
          <a:p>
            <a:pPr algn="ctr"/>
            <a:r>
              <a:rPr sz="1600" b="0">
                <a:solidFill>
                  <a:srgbClr val="8CB3E3"/>
                </a:solidFill>
                <a:latin typeface="Arial"/>
                <a:cs typeface="Nirmala UI"/>
              </a:rPr>
              <a:t>&amp; user testing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76"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3"/>
              <a:stretch>
                <a:fillRect t="-80500" r="-3713" b="-80500"/>
              </a:stretch>
            </a:blipFill>
          </p:spPr>
        </p:sp>
      </p:grpSp>
      <p:sp>
        <p:nvSpPr>
          <p:cNvPr id="4" name="TextBox 4"/>
          <p:cNvSpPr txBox="1"/>
          <p:nvPr/>
        </p:nvSpPr>
        <p:spPr>
          <a:xfrm>
            <a:off x="714823" y="1068124"/>
            <a:ext cx="16858202" cy="918372"/>
          </a:xfrm>
          <a:prstGeom prst="rect">
            <a:avLst/>
          </a:prstGeom>
        </p:spPr>
        <p:txBody>
          <a:bodyPr lIns="0" tIns="0" rIns="0" bIns="0" rtlCol="0" anchor="t">
            <a:spAutoFit/>
          </a:bodyPr>
          <a:lstStyle/>
          <a:p>
            <a:pPr algn="l">
              <a:lnSpc>
                <a:spcPts val="7256"/>
              </a:lnSpc>
            </a:pPr>
            <a:r>
              <a:rPr lang="en-US" sz="5039">
                <a:solidFill>
                  <a:srgbClr val="FFFFFF"/>
                </a:solidFill>
                <a:latin typeface="Arial"/>
                <a:ea typeface="Arial"/>
                <a:cs typeface="Arial"/>
                <a:sym typeface="Arial"/>
              </a:rPr>
              <a:t>Problem Statement</a:t>
            </a:r>
          </a:p>
        </p:txBody>
      </p:sp>
      <p:sp>
        <p:nvSpPr>
          <p:cNvPr id="5" name="Rectangle: Rounded Corners 4">
            <a:extLst>
              <a:ext uri="{FF2B5EF4-FFF2-40B4-BE49-F238E27FC236}">
                <a16:creationId xmlns:a16="http://schemas.microsoft.com/office/drawing/2014/main" id="{38E24090-235E-3DD2-E8D1-6EE2F3998228}"/>
              </a:ext>
            </a:extLst>
          </p:cNvPr>
          <p:cNvSpPr/>
          <p:nvPr/>
        </p:nvSpPr>
        <p:spPr>
          <a:xfrm>
            <a:off x="1280160" y="2148840"/>
            <a:ext cx="7772400" cy="1463040"/>
          </a:xfrm>
          <a:prstGeom prst="roundRect">
            <a:avLst>
              <a:gd name="adj" fmla="val 8000"/>
            </a:avLst>
          </a:prstGeom>
          <a:solidFill>
            <a:srgbClr val="0E1A24"/>
          </a:solidFill>
          <a:ln w="15875">
            <a:solidFill>
              <a:srgbClr val="2EC4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8727F756-1E9C-0E8D-4C6E-6F217F90A497}"/>
              </a:ext>
            </a:extLst>
          </p:cNvPr>
          <p:cNvSpPr txBox="1"/>
          <p:nvPr/>
        </p:nvSpPr>
        <p:spPr>
          <a:xfrm>
            <a:off x="1508760" y="2258568"/>
            <a:ext cx="7315200" cy="369332"/>
          </a:xfrm>
          <a:prstGeom prst="rect">
            <a:avLst/>
          </a:prstGeom>
          <a:noFill/>
        </p:spPr>
        <p:txBody>
          <a:bodyPr vert="horz" wrap="square" lIns="0" tIns="0" rIns="0" bIns="0" rtlCol="0">
            <a:noAutofit/>
          </a:bodyPr>
          <a:lstStyle/>
          <a:p>
            <a:pPr>
              <a:spcAft>
                <a:spcPts val="400"/>
              </a:spcAft>
            </a:pPr>
            <a:r>
              <a:rPr lang="en-US" sz="1300" b="1">
                <a:solidFill>
                  <a:srgbClr val="2EC4F1"/>
                </a:solidFill>
                <a:latin typeface="Arial" panose="020B0604020202020204" pitchFamily="34" charset="0"/>
                <a:cs typeface="Nirmala UI" panose="020B0502040204020203" pitchFamily="34" charset="0"/>
              </a:rPr>
              <a:t>PS 10 · AI-POWERED ACCESSIBILITY ASSISTANT</a:t>
            </a:r>
          </a:p>
          <a:p>
            <a:pPr>
              <a:spcAft>
                <a:spcPts val="400"/>
              </a:spcAft>
            </a:pPr>
            <a:r>
              <a:rPr lang="en-US" sz="1600" i="1">
                <a:solidFill>
                  <a:srgbClr val="FFFFFF"/>
                </a:solidFill>
                <a:latin typeface="Arial" panose="020B0604020202020204" pitchFamily="34" charset="0"/>
                <a:cs typeface="Nirmala UI" panose="020B0502040204020203" pitchFamily="34" charset="0"/>
              </a:rPr>
              <a:t>“Create an AI-based digital accessibility assistant that helps people interact with digital content through alternative input and output methods.”</a:t>
            </a:r>
          </a:p>
        </p:txBody>
      </p:sp>
      <p:sp>
        <p:nvSpPr>
          <p:cNvPr id="7" name="Rectangle: Rounded Corners 6">
            <a:extLst>
              <a:ext uri="{FF2B5EF4-FFF2-40B4-BE49-F238E27FC236}">
                <a16:creationId xmlns:a16="http://schemas.microsoft.com/office/drawing/2014/main" id="{AFB948B2-6943-27C4-3DDF-4E0C63E9D1A5}"/>
              </a:ext>
            </a:extLst>
          </p:cNvPr>
          <p:cNvSpPr/>
          <p:nvPr/>
        </p:nvSpPr>
        <p:spPr>
          <a:xfrm>
            <a:off x="1280160" y="3794760"/>
            <a:ext cx="7772400" cy="1691640"/>
          </a:xfrm>
          <a:prstGeom prst="roundRect">
            <a:avLst>
              <a:gd name="adj" fmla="val 8000"/>
            </a:avLst>
          </a:prstGeom>
          <a:solidFill>
            <a:srgbClr val="0E1A24"/>
          </a:solidFill>
          <a:ln w="15875">
            <a:solidFill>
              <a:srgbClr val="12324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669202A-2D46-5942-201C-E3234FE81787}"/>
              </a:ext>
            </a:extLst>
          </p:cNvPr>
          <p:cNvSpPr txBox="1"/>
          <p:nvPr/>
        </p:nvSpPr>
        <p:spPr>
          <a:xfrm>
            <a:off x="1508760" y="3931920"/>
            <a:ext cx="7315200" cy="369332"/>
          </a:xfrm>
          <a:prstGeom prst="rect">
            <a:avLst/>
          </a:prstGeom>
          <a:noFill/>
        </p:spPr>
        <p:txBody>
          <a:bodyPr vert="horz" wrap="square" lIns="0" tIns="0" rIns="0" bIns="0" rtlCol="0">
            <a:noAutofit/>
          </a:bodyPr>
          <a:lstStyle/>
          <a:p>
            <a:pPr>
              <a:spcAft>
                <a:spcPts val="400"/>
              </a:spcAft>
            </a:pPr>
            <a:r>
              <a:rPr lang="en-US" sz="2100" b="1">
                <a:solidFill>
                  <a:srgbClr val="FFFFFF"/>
                </a:solidFill>
                <a:latin typeface="Arial" panose="020B0604020202020204" pitchFamily="34" charset="0"/>
                <a:cs typeface="Nirmala UI" panose="020B0502040204020203" pitchFamily="34" charset="0"/>
              </a:rPr>
              <a:t>👴 Meet Prakash-kaka, 68, Thane</a:t>
            </a:r>
          </a:p>
          <a:p>
            <a:pPr>
              <a:spcAft>
                <a:spcPts val="400"/>
              </a:spcAft>
            </a:pPr>
            <a:r>
              <a:rPr lang="en-US" sz="1600">
                <a:solidFill>
                  <a:srgbClr val="B8C4CC"/>
                </a:solidFill>
                <a:latin typeface="Arial" panose="020B0604020202020204" pitchFamily="34" charset="0"/>
                <a:cs typeface="Nirmala UI" panose="020B0502040204020203" pitchFamily="34" charset="0"/>
              </a:rPr>
              <a:t>Cataract, reads only Marathi. The MSEB bill, a new medicine strip and bank SMSes arrive while his children are at work. He waits, guesses, or trusts a stranger.</a:t>
            </a:r>
          </a:p>
        </p:txBody>
      </p:sp>
      <p:sp>
        <p:nvSpPr>
          <p:cNvPr id="9" name="TextBox 8">
            <a:extLst>
              <a:ext uri="{FF2B5EF4-FFF2-40B4-BE49-F238E27FC236}">
                <a16:creationId xmlns:a16="http://schemas.microsoft.com/office/drawing/2014/main" id="{98433618-9C5A-BC7F-3352-3C224CE0A9B3}"/>
              </a:ext>
            </a:extLst>
          </p:cNvPr>
          <p:cNvSpPr txBox="1"/>
          <p:nvPr/>
        </p:nvSpPr>
        <p:spPr>
          <a:xfrm>
            <a:off x="1508760" y="5760720"/>
            <a:ext cx="7498080" cy="369332"/>
          </a:xfrm>
          <a:prstGeom prst="rect">
            <a:avLst/>
          </a:prstGeom>
          <a:noFill/>
        </p:spPr>
        <p:txBody>
          <a:bodyPr vert="horz" wrap="square" lIns="0" tIns="0" rIns="0" bIns="0" rtlCol="0">
            <a:noAutofit/>
          </a:bodyPr>
          <a:lstStyle/>
          <a:p>
            <a:pPr>
              <a:spcAft>
                <a:spcPts val="400"/>
              </a:spcAft>
            </a:pPr>
            <a:r>
              <a:rPr lang="en-US" sz="1600">
                <a:solidFill>
                  <a:srgbClr val="FFFFFF"/>
                </a:solidFill>
                <a:latin typeface="Arial" panose="020B0604020202020204" pitchFamily="34" charset="0"/>
                <a:cs typeface="Nirmala UI" panose="020B0502040204020203" pitchFamily="34" charset="0"/>
              </a:rPr>
              <a:t>❌  Can't read small print or English jargon</a:t>
            </a:r>
          </a:p>
          <a:p>
            <a:pPr>
              <a:spcAft>
                <a:spcPts val="400"/>
              </a:spcAft>
            </a:pPr>
            <a:r>
              <a:rPr lang="en-US" sz="1600">
                <a:solidFill>
                  <a:srgbClr val="FFFFFF"/>
                </a:solidFill>
                <a:latin typeface="Arial" panose="020B0604020202020204" pitchFamily="34" charset="0"/>
                <a:cs typeface="Nirmala UI" panose="020B0502040204020203" pitchFamily="34" charset="0"/>
              </a:rPr>
              <a:t>⏰  Misses due dates: late fees and disconnection</a:t>
            </a:r>
          </a:p>
          <a:p>
            <a:pPr>
              <a:spcAft>
                <a:spcPts val="400"/>
              </a:spcAft>
            </a:pPr>
            <a:r>
              <a:rPr lang="en-US" sz="1600">
                <a:solidFill>
                  <a:srgbClr val="FFFFFF"/>
                </a:solidFill>
                <a:latin typeface="Arial" panose="020B0604020202020204" pitchFamily="34" charset="0"/>
                <a:cs typeface="Nirmala UI" panose="020B0502040204020203" pitchFamily="34" charset="0"/>
              </a:rPr>
              <a:t>💊  Takes expired medicine without knowing</a:t>
            </a:r>
          </a:p>
          <a:p>
            <a:pPr>
              <a:spcAft>
                <a:spcPts val="400"/>
              </a:spcAft>
            </a:pPr>
            <a:r>
              <a:rPr lang="en-US" sz="1600">
                <a:solidFill>
                  <a:srgbClr val="FFFFFF"/>
                </a:solidFill>
                <a:latin typeface="Arial" panose="020B0604020202020204" pitchFamily="34" charset="0"/>
                <a:cs typeface="Nirmala UI" panose="020B0502040204020203" pitchFamily="34" charset="0"/>
              </a:rPr>
              <a:t>🚨  Falls for fake “power will be cut tonight” SMS</a:t>
            </a:r>
          </a:p>
        </p:txBody>
      </p:sp>
      <p:sp>
        <p:nvSpPr>
          <p:cNvPr id="10" name="Rectangle: Rounded Corners 9">
            <a:extLst>
              <a:ext uri="{FF2B5EF4-FFF2-40B4-BE49-F238E27FC236}">
                <a16:creationId xmlns:a16="http://schemas.microsoft.com/office/drawing/2014/main" id="{12F1184C-7C62-5438-B288-0383BB021840}"/>
              </a:ext>
            </a:extLst>
          </p:cNvPr>
          <p:cNvSpPr/>
          <p:nvPr/>
        </p:nvSpPr>
        <p:spPr>
          <a:xfrm>
            <a:off x="9601200" y="2148840"/>
            <a:ext cx="3429000" cy="2240280"/>
          </a:xfrm>
          <a:prstGeom prst="roundRect">
            <a:avLst>
              <a:gd name="adj" fmla="val 8000"/>
            </a:avLst>
          </a:prstGeom>
          <a:solidFill>
            <a:srgbClr val="0E1A24"/>
          </a:solidFill>
          <a:ln w="15875">
            <a:solidFill>
              <a:srgbClr val="12324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9FEC50F-18F6-EC3F-2DE1-F394E33F66EC}"/>
              </a:ext>
            </a:extLst>
          </p:cNvPr>
          <p:cNvSpPr txBox="1"/>
          <p:nvPr/>
        </p:nvSpPr>
        <p:spPr>
          <a:xfrm>
            <a:off x="9802368" y="2313432"/>
            <a:ext cx="3063240" cy="369332"/>
          </a:xfrm>
          <a:prstGeom prst="rect">
            <a:avLst/>
          </a:prstGeom>
          <a:noFill/>
        </p:spPr>
        <p:txBody>
          <a:bodyPr vert="horz" wrap="square" lIns="0" tIns="0" rIns="0" bIns="0" rtlCol="0">
            <a:noAutofit/>
          </a:bodyPr>
          <a:lstStyle/>
          <a:p>
            <a:pPr>
              <a:spcAft>
                <a:spcPts val="200"/>
              </a:spcAft>
            </a:pPr>
            <a:r>
              <a:rPr lang="en-US" sz="3600" b="1">
                <a:solidFill>
                  <a:srgbClr val="2EC4F1"/>
                </a:solidFill>
                <a:latin typeface="Arial" panose="020B0604020202020204" pitchFamily="34" charset="0"/>
                <a:cs typeface="Nirmala UI" panose="020B0502040204020203" pitchFamily="34" charset="0"/>
              </a:rPr>
              <a:t>149 M</a:t>
            </a:r>
          </a:p>
          <a:p>
            <a:pPr>
              <a:spcAft>
                <a:spcPts val="600"/>
              </a:spcAft>
            </a:pPr>
            <a:r>
              <a:rPr lang="en-US" sz="1400">
                <a:solidFill>
                  <a:srgbClr val="FFFFFF"/>
                </a:solidFill>
                <a:latin typeface="Arial" panose="020B0604020202020204" pitchFamily="34" charset="0"/>
                <a:cs typeface="Nirmala UI" panose="020B0502040204020203" pitchFamily="34" charset="0"/>
              </a:rPr>
              <a:t>Indians aged 60+ today, 347 M by 2050</a:t>
            </a:r>
          </a:p>
          <a:p>
            <a:pPr>
              <a:spcAft>
                <a:spcPts val="400"/>
              </a:spcAft>
            </a:pPr>
            <a:r>
              <a:rPr lang="en-US" sz="1000">
                <a:solidFill>
                  <a:srgbClr val="8A98A3"/>
                </a:solidFill>
                <a:latin typeface="Arial" panose="020B0604020202020204" pitchFamily="34" charset="0"/>
                <a:cs typeface="Nirmala UI" panose="020B0502040204020203" pitchFamily="34" charset="0"/>
              </a:rPr>
              <a:t>UNFPA India Ageing Report 2023</a:t>
            </a:r>
          </a:p>
        </p:txBody>
      </p:sp>
      <p:sp>
        <p:nvSpPr>
          <p:cNvPr id="12" name="Rectangle: Rounded Corners 11">
            <a:extLst>
              <a:ext uri="{FF2B5EF4-FFF2-40B4-BE49-F238E27FC236}">
                <a16:creationId xmlns:a16="http://schemas.microsoft.com/office/drawing/2014/main" id="{55ABAACE-ECF9-EEFA-050E-AA3A2ED7CA0E}"/>
              </a:ext>
            </a:extLst>
          </p:cNvPr>
          <p:cNvSpPr/>
          <p:nvPr/>
        </p:nvSpPr>
        <p:spPr>
          <a:xfrm>
            <a:off x="13258800" y="2148840"/>
            <a:ext cx="3429000" cy="2240280"/>
          </a:xfrm>
          <a:prstGeom prst="roundRect">
            <a:avLst>
              <a:gd name="adj" fmla="val 8000"/>
            </a:avLst>
          </a:prstGeom>
          <a:solidFill>
            <a:srgbClr val="0E1A24"/>
          </a:solidFill>
          <a:ln w="15875">
            <a:solidFill>
              <a:srgbClr val="12324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6B66EC6-D70E-3158-6E22-106739269541}"/>
              </a:ext>
            </a:extLst>
          </p:cNvPr>
          <p:cNvSpPr txBox="1"/>
          <p:nvPr/>
        </p:nvSpPr>
        <p:spPr>
          <a:xfrm>
            <a:off x="13459968" y="2313432"/>
            <a:ext cx="3063240" cy="369332"/>
          </a:xfrm>
          <a:prstGeom prst="rect">
            <a:avLst/>
          </a:prstGeom>
          <a:noFill/>
        </p:spPr>
        <p:txBody>
          <a:bodyPr vert="horz" wrap="square" lIns="0" tIns="0" rIns="0" bIns="0" rtlCol="0">
            <a:noAutofit/>
          </a:bodyPr>
          <a:lstStyle/>
          <a:p>
            <a:pPr>
              <a:spcAft>
                <a:spcPts val="200"/>
              </a:spcAft>
            </a:pPr>
            <a:r>
              <a:rPr lang="en-US" sz="3600" b="1">
                <a:solidFill>
                  <a:srgbClr val="2EC4F1"/>
                </a:solidFill>
                <a:latin typeface="Arial" panose="020B0604020202020204" pitchFamily="34" charset="0"/>
                <a:cs typeface="Nirmala UI" panose="020B0502040204020203" pitchFamily="34" charset="0"/>
              </a:rPr>
              <a:t>68%</a:t>
            </a:r>
          </a:p>
          <a:p>
            <a:pPr>
              <a:spcAft>
                <a:spcPts val="600"/>
              </a:spcAft>
            </a:pPr>
            <a:r>
              <a:rPr lang="en-US" sz="1400">
                <a:solidFill>
                  <a:srgbClr val="FFFFFF"/>
                </a:solidFill>
                <a:latin typeface="Arial" panose="020B0604020202020204" pitchFamily="34" charset="0"/>
                <a:cs typeface="Nirmala UI" panose="020B0502040204020203" pitchFamily="34" charset="0"/>
              </a:rPr>
              <a:t>of women aged 60-75 cannot read</a:t>
            </a:r>
          </a:p>
          <a:p>
            <a:pPr>
              <a:spcAft>
                <a:spcPts val="400"/>
              </a:spcAft>
            </a:pPr>
            <a:r>
              <a:rPr lang="en-US" sz="1000">
                <a:solidFill>
                  <a:srgbClr val="8A98A3"/>
                </a:solidFill>
                <a:latin typeface="Arial" panose="020B0604020202020204" pitchFamily="34" charset="0"/>
                <a:cs typeface="Nirmala UI" panose="020B0502040204020203" pitchFamily="34" charset="0"/>
              </a:rPr>
              <a:t>UNFPA India Ageing Report 2023</a:t>
            </a:r>
          </a:p>
        </p:txBody>
      </p:sp>
      <p:sp>
        <p:nvSpPr>
          <p:cNvPr id="14" name="Rectangle: Rounded Corners 13">
            <a:extLst>
              <a:ext uri="{FF2B5EF4-FFF2-40B4-BE49-F238E27FC236}">
                <a16:creationId xmlns:a16="http://schemas.microsoft.com/office/drawing/2014/main" id="{7F58491E-AD58-E238-60C2-B73F4ABFDD4D}"/>
              </a:ext>
            </a:extLst>
          </p:cNvPr>
          <p:cNvSpPr/>
          <p:nvPr/>
        </p:nvSpPr>
        <p:spPr>
          <a:xfrm>
            <a:off x="9601200" y="4617720"/>
            <a:ext cx="3429000" cy="2240280"/>
          </a:xfrm>
          <a:prstGeom prst="roundRect">
            <a:avLst>
              <a:gd name="adj" fmla="val 8000"/>
            </a:avLst>
          </a:prstGeom>
          <a:solidFill>
            <a:srgbClr val="0E1A24"/>
          </a:solidFill>
          <a:ln w="15875">
            <a:solidFill>
              <a:srgbClr val="12324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F457F310-D28B-CE07-373C-70A7F59960E6}"/>
              </a:ext>
            </a:extLst>
          </p:cNvPr>
          <p:cNvSpPr txBox="1"/>
          <p:nvPr/>
        </p:nvSpPr>
        <p:spPr>
          <a:xfrm>
            <a:off x="9802368" y="4782312"/>
            <a:ext cx="3063240" cy="369332"/>
          </a:xfrm>
          <a:prstGeom prst="rect">
            <a:avLst/>
          </a:prstGeom>
          <a:noFill/>
        </p:spPr>
        <p:txBody>
          <a:bodyPr vert="horz" wrap="square" lIns="0" tIns="0" rIns="0" bIns="0" rtlCol="0">
            <a:noAutofit/>
          </a:bodyPr>
          <a:lstStyle/>
          <a:p>
            <a:pPr>
              <a:spcAft>
                <a:spcPts val="200"/>
              </a:spcAft>
            </a:pPr>
            <a:r>
              <a:rPr lang="en-US" sz="3600" b="1">
                <a:solidFill>
                  <a:srgbClr val="2EC4F1"/>
                </a:solidFill>
                <a:latin typeface="Arial" panose="020B0604020202020204" pitchFamily="34" charset="0"/>
                <a:cs typeface="Nirmala UI" panose="020B0502040204020203" pitchFamily="34" charset="0"/>
              </a:rPr>
              <a:t>13.8%</a:t>
            </a:r>
          </a:p>
          <a:p>
            <a:pPr>
              <a:spcAft>
                <a:spcPts val="600"/>
              </a:spcAft>
            </a:pPr>
            <a:r>
              <a:rPr lang="en-US" sz="1400">
                <a:solidFill>
                  <a:srgbClr val="FFFFFF"/>
                </a:solidFill>
                <a:latin typeface="Arial" panose="020B0604020202020204" pitchFamily="34" charset="0"/>
                <a:cs typeface="Nirmala UI" panose="020B0502040204020203" pitchFamily="34" charset="0"/>
              </a:rPr>
              <a:t>of Indians aged 50+ have visual impairment</a:t>
            </a:r>
          </a:p>
          <a:p>
            <a:pPr>
              <a:spcAft>
                <a:spcPts val="400"/>
              </a:spcAft>
            </a:pPr>
            <a:r>
              <a:rPr lang="en-US" sz="1000">
                <a:solidFill>
                  <a:srgbClr val="8A98A3"/>
                </a:solidFill>
                <a:latin typeface="Arial" panose="020B0604020202020204" pitchFamily="34" charset="0"/>
                <a:cs typeface="Nirmala UI" panose="020B0502040204020203" pitchFamily="34" charset="0"/>
              </a:rPr>
              <a:t>National Blindness &amp; VI Survey 2015-19</a:t>
            </a:r>
          </a:p>
        </p:txBody>
      </p:sp>
      <p:sp>
        <p:nvSpPr>
          <p:cNvPr id="16" name="Rectangle: Rounded Corners 15">
            <a:extLst>
              <a:ext uri="{FF2B5EF4-FFF2-40B4-BE49-F238E27FC236}">
                <a16:creationId xmlns:a16="http://schemas.microsoft.com/office/drawing/2014/main" id="{396A4E33-3835-A907-AC63-31C4DBA405AD}"/>
              </a:ext>
            </a:extLst>
          </p:cNvPr>
          <p:cNvSpPr/>
          <p:nvPr/>
        </p:nvSpPr>
        <p:spPr>
          <a:xfrm>
            <a:off x="13258800" y="4617720"/>
            <a:ext cx="3429000" cy="2240280"/>
          </a:xfrm>
          <a:prstGeom prst="roundRect">
            <a:avLst>
              <a:gd name="adj" fmla="val 8000"/>
            </a:avLst>
          </a:prstGeom>
          <a:solidFill>
            <a:srgbClr val="0E1A24"/>
          </a:solidFill>
          <a:ln w="15875">
            <a:solidFill>
              <a:srgbClr val="12324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703AA905-CA69-5B33-2E9D-33D5FD904A74}"/>
              </a:ext>
            </a:extLst>
          </p:cNvPr>
          <p:cNvSpPr txBox="1"/>
          <p:nvPr/>
        </p:nvSpPr>
        <p:spPr>
          <a:xfrm>
            <a:off x="13459968" y="4782312"/>
            <a:ext cx="3063240" cy="369332"/>
          </a:xfrm>
          <a:prstGeom prst="rect">
            <a:avLst/>
          </a:prstGeom>
          <a:noFill/>
        </p:spPr>
        <p:txBody>
          <a:bodyPr vert="horz" wrap="square" lIns="0" tIns="0" rIns="0" bIns="0" rtlCol="0">
            <a:noAutofit/>
          </a:bodyPr>
          <a:lstStyle/>
          <a:p>
            <a:pPr>
              <a:spcAft>
                <a:spcPts val="200"/>
              </a:spcAft>
            </a:pPr>
            <a:r>
              <a:rPr lang="en-US" sz="3600" b="1">
                <a:solidFill>
                  <a:srgbClr val="2EC4F1"/>
                </a:solidFill>
                <a:latin typeface="Arial" panose="020B0604020202020204" pitchFamily="34" charset="0"/>
                <a:cs typeface="Nirmala UI" panose="020B0502040204020203" pitchFamily="34" charset="0"/>
              </a:rPr>
              <a:t>₹22,495 Cr</a:t>
            </a:r>
          </a:p>
          <a:p>
            <a:pPr>
              <a:spcAft>
                <a:spcPts val="600"/>
              </a:spcAft>
            </a:pPr>
            <a:r>
              <a:rPr lang="en-US" sz="1400">
                <a:solidFill>
                  <a:srgbClr val="FFFFFF"/>
                </a:solidFill>
                <a:latin typeface="Arial" panose="020B0604020202020204" pitchFamily="34" charset="0"/>
                <a:cs typeface="Nirmala UI" panose="020B0502040204020203" pitchFamily="34" charset="0"/>
              </a:rPr>
              <a:t>lost to cyber fraud in 2025; fake bill SMS target the elderly</a:t>
            </a:r>
          </a:p>
          <a:p>
            <a:pPr>
              <a:spcAft>
                <a:spcPts val="400"/>
              </a:spcAft>
            </a:pPr>
            <a:r>
              <a:rPr lang="en-US" sz="1000">
                <a:solidFill>
                  <a:srgbClr val="8A98A3"/>
                </a:solidFill>
                <a:latin typeface="Arial" panose="020B0604020202020204" pitchFamily="34" charset="0"/>
                <a:cs typeface="Nirmala UI" panose="020B0502040204020203" pitchFamily="34" charset="0"/>
              </a:rPr>
              <a:t>I4C data, via Moneylife</a:t>
            </a:r>
          </a:p>
        </p:txBody>
      </p:sp>
      <p:sp>
        <p:nvSpPr>
          <p:cNvPr id="18" name="TextBox 17">
            <a:extLst>
              <a:ext uri="{FF2B5EF4-FFF2-40B4-BE49-F238E27FC236}">
                <a16:creationId xmlns:a16="http://schemas.microsoft.com/office/drawing/2014/main" id="{5A6DE838-7378-1599-F603-9D3808C66BE0}"/>
              </a:ext>
            </a:extLst>
          </p:cNvPr>
          <p:cNvSpPr txBox="1"/>
          <p:nvPr/>
        </p:nvSpPr>
        <p:spPr>
          <a:xfrm>
            <a:off x="9601200" y="7223760"/>
            <a:ext cx="7086600" cy="369332"/>
          </a:xfrm>
          <a:prstGeom prst="rect">
            <a:avLst/>
          </a:prstGeom>
          <a:noFill/>
        </p:spPr>
        <p:txBody>
          <a:bodyPr vert="horz" wrap="square" lIns="0" tIns="0" rIns="0" bIns="0" rtlCol="0">
            <a:noAutofit/>
          </a:bodyPr>
          <a:lstStyle/>
          <a:p>
            <a:pPr>
              <a:spcAft>
                <a:spcPts val="400"/>
              </a:spcAft>
            </a:pPr>
            <a:r>
              <a:rPr lang="en-US" sz="1400" i="1">
                <a:solidFill>
                  <a:srgbClr val="8CB3E3"/>
                </a:solidFill>
                <a:latin typeface="Arial" panose="020B0604020202020204" pitchFamily="34" charset="0"/>
                <a:cs typeface="Nirmala UI" panose="020B0502040204020203" pitchFamily="34" charset="0"/>
              </a:rPr>
              <a:t>Google Lens and Gemini Live only read text aloud. They don't say what to do, can't spot a scam, and need the user to ask the right question.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109671"/>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3"/>
              <a:stretch>
                <a:fillRect t="-80500" r="-3713" b="-80500"/>
              </a:stretch>
            </a:blipFill>
          </p:spPr>
        </p:sp>
      </p:grpSp>
      <p:sp>
        <p:nvSpPr>
          <p:cNvPr id="4" name="TextBox 4"/>
          <p:cNvSpPr txBox="1"/>
          <p:nvPr/>
        </p:nvSpPr>
        <p:spPr>
          <a:xfrm>
            <a:off x="714823" y="1068124"/>
            <a:ext cx="16858202" cy="918372"/>
          </a:xfrm>
          <a:prstGeom prst="rect">
            <a:avLst/>
          </a:prstGeom>
        </p:spPr>
        <p:txBody>
          <a:bodyPr lIns="0" tIns="0" rIns="0" bIns="0" rtlCol="0" anchor="t">
            <a:spAutoFit/>
          </a:bodyPr>
          <a:lstStyle/>
          <a:p>
            <a:pPr algn="l">
              <a:lnSpc>
                <a:spcPts val="7256"/>
              </a:lnSpc>
            </a:pPr>
            <a:r>
              <a:rPr lang="en-US" sz="5039">
                <a:solidFill>
                  <a:srgbClr val="FFFFFF"/>
                </a:solidFill>
                <a:latin typeface="Arial"/>
                <a:ea typeface="Arial"/>
                <a:cs typeface="Arial"/>
                <a:sym typeface="Arial"/>
              </a:rPr>
              <a:t>Proposed Solution </a:t>
            </a:r>
          </a:p>
        </p:txBody>
      </p:sp>
      <p:sp>
        <p:nvSpPr>
          <p:cNvPr id="5" name="TextBox 4">
            <a:extLst>
              <a:ext uri="{FF2B5EF4-FFF2-40B4-BE49-F238E27FC236}">
                <a16:creationId xmlns:a16="http://schemas.microsoft.com/office/drawing/2014/main" id="{9EBC6FA3-7E1F-CC96-4E20-515362933FA5}"/>
              </a:ext>
            </a:extLst>
          </p:cNvPr>
          <p:cNvSpPr txBox="1"/>
          <p:nvPr/>
        </p:nvSpPr>
        <p:spPr>
          <a:xfrm>
            <a:off x="1280160" y="2011680"/>
            <a:ext cx="15727680" cy="369332"/>
          </a:xfrm>
          <a:prstGeom prst="rect">
            <a:avLst/>
          </a:prstGeom>
          <a:noFill/>
        </p:spPr>
        <p:txBody>
          <a:bodyPr vert="horz" wrap="square" lIns="0" tIns="0" rIns="0" bIns="0" rtlCol="0">
            <a:noAutofit/>
          </a:bodyPr>
          <a:lstStyle/>
          <a:p>
            <a:pPr>
              <a:spcAft>
                <a:spcPts val="400"/>
              </a:spcAft>
            </a:pPr>
            <a:r>
              <a:rPr lang="en-US" sz="2200">
                <a:solidFill>
                  <a:srgbClr val="8CB3E3"/>
                </a:solidFill>
                <a:latin typeface="Arial" panose="020B0604020202020204" pitchFamily="34" charset="0"/>
                <a:cs typeface="Nirmala UI" panose="020B0502040204020203" pitchFamily="34" charset="0"/>
              </a:rPr>
              <a:t>Vaachak turns any document, paper or screen, into one spoken action card.</a:t>
            </a:r>
          </a:p>
        </p:txBody>
      </p:sp>
      <p:sp>
        <p:nvSpPr>
          <p:cNvPr id="6" name="Rectangle: Rounded Corners 5">
            <a:extLst>
              <a:ext uri="{FF2B5EF4-FFF2-40B4-BE49-F238E27FC236}">
                <a16:creationId xmlns:a16="http://schemas.microsoft.com/office/drawing/2014/main" id="{6F3BE276-CC0E-4E4D-5BD0-99521E9DFD27}"/>
              </a:ext>
            </a:extLst>
          </p:cNvPr>
          <p:cNvSpPr/>
          <p:nvPr/>
        </p:nvSpPr>
        <p:spPr>
          <a:xfrm>
            <a:off x="1280160" y="2834640"/>
            <a:ext cx="4754880" cy="4434840"/>
          </a:xfrm>
          <a:prstGeom prst="roundRect">
            <a:avLst>
              <a:gd name="adj" fmla="val 8000"/>
            </a:avLst>
          </a:prstGeom>
          <a:solidFill>
            <a:srgbClr val="0E1A24"/>
          </a:solidFill>
          <a:ln w="15875">
            <a:solidFill>
              <a:srgbClr val="2EC4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E2CD77F-B9BC-E7EF-B9E8-ED17C2B0B3B4}"/>
              </a:ext>
            </a:extLst>
          </p:cNvPr>
          <p:cNvSpPr txBox="1"/>
          <p:nvPr/>
        </p:nvSpPr>
        <p:spPr>
          <a:xfrm>
            <a:off x="1508760" y="3017520"/>
            <a:ext cx="4297680" cy="369332"/>
          </a:xfrm>
          <a:prstGeom prst="rect">
            <a:avLst/>
          </a:prstGeom>
          <a:noFill/>
        </p:spPr>
        <p:txBody>
          <a:bodyPr vert="horz" wrap="square" lIns="0" tIns="0" rIns="0" bIns="0" rtlCol="0">
            <a:noAutofit/>
          </a:bodyPr>
          <a:lstStyle/>
          <a:p>
            <a:r>
              <a:rPr lang="en-US" sz="2200" b="1">
                <a:solidFill>
                  <a:srgbClr val="2EC4F1"/>
                </a:solidFill>
                <a:latin typeface="Arial" panose="020B0604020202020204" pitchFamily="34" charset="0"/>
                <a:cs typeface="Nirmala UI" panose="020B0502040204020203" pitchFamily="34" charset="0"/>
              </a:rPr>
              <a:t>1 · ANY INPUT</a:t>
            </a:r>
          </a:p>
          <a:p>
            <a:pPr>
              <a:spcAft>
                <a:spcPts val="1000"/>
              </a:spcAft>
            </a:pPr>
            <a:r>
              <a:rPr lang="en-US" sz="1400">
                <a:solidFill>
                  <a:srgbClr val="8A98A3"/>
                </a:solidFill>
                <a:latin typeface="Arial" panose="020B0604020202020204" pitchFamily="34" charset="0"/>
                <a:cs typeface="Nirmala UI" panose="020B0502040204020203" pitchFamily="34" charset="0"/>
              </a:rPr>
              <a:t>alternative input</a:t>
            </a:r>
          </a:p>
          <a:p>
            <a:pPr>
              <a:spcAft>
                <a:spcPts val="900"/>
              </a:spcAft>
            </a:pPr>
            <a:r>
              <a:rPr lang="en-US">
                <a:solidFill>
                  <a:srgbClr val="FFFFFF"/>
                </a:solidFill>
                <a:latin typeface="Arial" panose="020B0604020202020204" pitchFamily="34" charset="0"/>
                <a:cs typeface="Nirmala UI" panose="020B0502040204020203" pitchFamily="34" charset="0"/>
              </a:rPr>
              <a:t>📷 Photo with voice guide + auto-torch</a:t>
            </a:r>
          </a:p>
          <a:p>
            <a:pPr>
              <a:spcAft>
                <a:spcPts val="900"/>
              </a:spcAft>
            </a:pPr>
            <a:r>
              <a:rPr lang="en-US">
                <a:solidFill>
                  <a:srgbClr val="FFFFFF"/>
                </a:solidFill>
                <a:latin typeface="Arial" panose="020B0604020202020204" pitchFamily="34" charset="0"/>
                <a:cs typeface="Nirmala UI" panose="020B0502040204020203" pitchFamily="34" charset="0"/>
              </a:rPr>
              <a:t>🖼️ Screenshot or PDF e-bill</a:t>
            </a:r>
          </a:p>
          <a:p>
            <a:pPr>
              <a:spcAft>
                <a:spcPts val="900"/>
              </a:spcAft>
            </a:pPr>
            <a:r>
              <a:rPr lang="en-US">
                <a:solidFill>
                  <a:srgbClr val="FFFFFF"/>
                </a:solidFill>
                <a:latin typeface="Arial" panose="020B0604020202020204" pitchFamily="34" charset="0"/>
                <a:cs typeface="Nirmala UI" panose="020B0502040204020203" pitchFamily="34" charset="0"/>
              </a:rPr>
              <a:t>💬 Pasted SMS / WhatsApp forward</a:t>
            </a:r>
          </a:p>
          <a:p>
            <a:pPr>
              <a:spcAft>
                <a:spcPts val="900"/>
              </a:spcAft>
            </a:pPr>
            <a:r>
              <a:rPr lang="en-US">
                <a:solidFill>
                  <a:srgbClr val="FFFFFF"/>
                </a:solidFill>
                <a:latin typeface="Arial" panose="020B0604020202020204" pitchFamily="34" charset="0"/>
                <a:cs typeface="Nirmala UI" panose="020B0502040204020203" pitchFamily="34" charset="0"/>
              </a:rPr>
              <a:t>🔗 Link to a bill or govt notice</a:t>
            </a:r>
          </a:p>
          <a:p>
            <a:pPr>
              <a:spcAft>
                <a:spcPts val="900"/>
              </a:spcAft>
            </a:pPr>
            <a:r>
              <a:rPr lang="en-US">
                <a:solidFill>
                  <a:srgbClr val="FFFFFF"/>
                </a:solidFill>
                <a:latin typeface="Arial" panose="020B0604020202020204" pitchFamily="34" charset="0"/>
                <a:cs typeface="Nirmala UI" panose="020B0502040204020203" pitchFamily="34" charset="0"/>
              </a:rPr>
              <a:t>📲 “Share to Vaachak” from any app</a:t>
            </a:r>
          </a:p>
          <a:p>
            <a:pPr>
              <a:spcAft>
                <a:spcPts val="900"/>
              </a:spcAft>
            </a:pPr>
            <a:r>
              <a:rPr lang="en-US">
                <a:solidFill>
                  <a:srgbClr val="FFFFFF"/>
                </a:solidFill>
                <a:latin typeface="Arial" panose="020B0604020202020204" pitchFamily="34" charset="0"/>
                <a:cs typeface="Nirmala UI" panose="020B0502040204020203" pitchFamily="34" charset="0"/>
              </a:rPr>
              <a:t>🎤 Ask a question by voice</a:t>
            </a:r>
          </a:p>
        </p:txBody>
      </p:sp>
      <p:cxnSp>
        <p:nvCxnSpPr>
          <p:cNvPr id="8" name="Straight Arrow Connector 7">
            <a:extLst>
              <a:ext uri="{FF2B5EF4-FFF2-40B4-BE49-F238E27FC236}">
                <a16:creationId xmlns:a16="http://schemas.microsoft.com/office/drawing/2014/main" id="{673E68C0-1F98-287F-EED1-54578DA0A2FE}"/>
              </a:ext>
            </a:extLst>
          </p:cNvPr>
          <p:cNvCxnSpPr/>
          <p:nvPr/>
        </p:nvCxnSpPr>
        <p:spPr>
          <a:xfrm>
            <a:off x="6053328" y="5029200"/>
            <a:ext cx="512064" cy="0"/>
          </a:xfrm>
          <a:prstGeom prst="straightConnector1">
            <a:avLst/>
          </a:prstGeom>
          <a:ln w="25400">
            <a:solidFill>
              <a:srgbClr val="2EC4F1"/>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Rounded Corners 8">
            <a:extLst>
              <a:ext uri="{FF2B5EF4-FFF2-40B4-BE49-F238E27FC236}">
                <a16:creationId xmlns:a16="http://schemas.microsoft.com/office/drawing/2014/main" id="{5FABBC5E-E093-3D49-336F-F145624C1FC2}"/>
              </a:ext>
            </a:extLst>
          </p:cNvPr>
          <p:cNvSpPr/>
          <p:nvPr/>
        </p:nvSpPr>
        <p:spPr>
          <a:xfrm>
            <a:off x="6583680" y="2834640"/>
            <a:ext cx="4754881" cy="4434840"/>
          </a:xfrm>
          <a:prstGeom prst="roundRect">
            <a:avLst>
              <a:gd name="adj" fmla="val 8000"/>
            </a:avLst>
          </a:prstGeom>
          <a:solidFill>
            <a:srgbClr val="0E1A24"/>
          </a:solidFill>
          <a:ln w="15875">
            <a:solidFill>
              <a:srgbClr val="2EC4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61B37B9-217E-BE44-D2ED-ABBFB6A9C07A}"/>
              </a:ext>
            </a:extLst>
          </p:cNvPr>
          <p:cNvSpPr txBox="1"/>
          <p:nvPr/>
        </p:nvSpPr>
        <p:spPr>
          <a:xfrm>
            <a:off x="6812280" y="3017520"/>
            <a:ext cx="4297680" cy="369332"/>
          </a:xfrm>
          <a:prstGeom prst="rect">
            <a:avLst/>
          </a:prstGeom>
          <a:noFill/>
        </p:spPr>
        <p:txBody>
          <a:bodyPr vert="horz" wrap="square" lIns="0" tIns="0" rIns="0" bIns="0" rtlCol="0">
            <a:noAutofit/>
          </a:bodyPr>
          <a:lstStyle/>
          <a:p>
            <a:r>
              <a:rPr lang="en-US" sz="2200" b="1">
                <a:solidFill>
                  <a:srgbClr val="2EC4F1"/>
                </a:solidFill>
                <a:latin typeface="Arial" panose="020B0604020202020204" pitchFamily="34" charset="0"/>
                <a:cs typeface="Nirmala UI" panose="020B0502040204020203" pitchFamily="34" charset="0"/>
              </a:rPr>
              <a:t>2 · UNDERSTAND + VERIFY</a:t>
            </a:r>
          </a:p>
          <a:p>
            <a:pPr>
              <a:spcAft>
                <a:spcPts val="1000"/>
              </a:spcAft>
            </a:pPr>
            <a:r>
              <a:rPr lang="en-US" sz="1400">
                <a:solidFill>
                  <a:srgbClr val="8A98A3"/>
                </a:solidFill>
                <a:latin typeface="Arial" panose="020B0604020202020204" pitchFamily="34" charset="0"/>
                <a:cs typeface="Nirmala UI" panose="020B0502040204020203" pitchFamily="34" charset="0"/>
              </a:rPr>
              <a:t>AI reads, rules check</a:t>
            </a:r>
          </a:p>
          <a:p>
            <a:pPr>
              <a:spcAft>
                <a:spcPts val="900"/>
              </a:spcAft>
            </a:pPr>
            <a:r>
              <a:rPr lang="en-US">
                <a:solidFill>
                  <a:srgbClr val="FFFFFF"/>
                </a:solidFill>
                <a:latin typeface="Arial" panose="020B0604020202020204" pitchFamily="34" charset="0"/>
                <a:cs typeface="Nirmala UI" panose="020B0502040204020203" pitchFamily="34" charset="0"/>
              </a:rPr>
              <a:t>Gemini fills a 5-field Action Card: What · Do · By when · How much · Warning</a:t>
            </a:r>
          </a:p>
          <a:p>
            <a:pPr>
              <a:spcAft>
                <a:spcPts val="900"/>
              </a:spcAft>
            </a:pPr>
            <a:r>
              <a:rPr lang="en-US">
                <a:solidFill>
                  <a:srgbClr val="FFFFFF"/>
                </a:solidFill>
                <a:latin typeface="Arial" panose="020B0604020202020204" pitchFamily="34" charset="0"/>
                <a:cs typeface="Nirmala UI" panose="020B0502040204020203" pitchFamily="34" charset="0"/>
              </a:rPr>
              <a:t>🛡️ Rule engine verifies amount &amp; date</a:t>
            </a:r>
          </a:p>
          <a:p>
            <a:pPr>
              <a:spcAft>
                <a:spcPts val="900"/>
              </a:spcAft>
            </a:pPr>
            <a:r>
              <a:rPr lang="en-US">
                <a:solidFill>
                  <a:srgbClr val="FFFFFF"/>
                </a:solidFill>
                <a:latin typeface="Arial" panose="020B0604020202020204" pitchFamily="34" charset="0"/>
                <a:cs typeface="Nirmala UI" panose="020B0502040204020203" pitchFamily="34" charset="0"/>
              </a:rPr>
              <a:t>🔁 2nd engine (on-device OCR) must agree</a:t>
            </a:r>
          </a:p>
          <a:p>
            <a:pPr>
              <a:spcAft>
                <a:spcPts val="900"/>
              </a:spcAft>
            </a:pPr>
            <a:r>
              <a:rPr lang="en-US">
                <a:solidFill>
                  <a:srgbClr val="FFFFFF"/>
                </a:solidFill>
                <a:latin typeface="Arial" panose="020B0604020202020204" pitchFamily="34" charset="0"/>
                <a:cs typeface="Nirmala UI" panose="020B0502040204020203" pitchFamily="34" charset="0"/>
              </a:rPr>
              <a:t>🚨 Scam shield · ⛔ expiry · 📈 bill spike</a:t>
            </a:r>
          </a:p>
          <a:p>
            <a:pPr>
              <a:spcAft>
                <a:spcPts val="900"/>
              </a:spcAft>
            </a:pPr>
            <a:r>
              <a:rPr lang="en-US">
                <a:solidFill>
                  <a:srgbClr val="FFFFFF"/>
                </a:solidFill>
                <a:latin typeface="Arial" panose="020B0604020202020204" pitchFamily="34" charset="0"/>
                <a:cs typeface="Nirmala UI" panose="020B0502040204020203" pitchFamily="34" charset="0"/>
              </a:rPr>
              <a:t>🤔 Unsure? It says so. Never guesses.</a:t>
            </a:r>
          </a:p>
        </p:txBody>
      </p:sp>
      <p:cxnSp>
        <p:nvCxnSpPr>
          <p:cNvPr id="11" name="Straight Arrow Connector 10">
            <a:extLst>
              <a:ext uri="{FF2B5EF4-FFF2-40B4-BE49-F238E27FC236}">
                <a16:creationId xmlns:a16="http://schemas.microsoft.com/office/drawing/2014/main" id="{A33D2510-6107-A9CE-915E-5043038A234D}"/>
              </a:ext>
            </a:extLst>
          </p:cNvPr>
          <p:cNvCxnSpPr/>
          <p:nvPr/>
        </p:nvCxnSpPr>
        <p:spPr>
          <a:xfrm>
            <a:off x="11356848" y="5029200"/>
            <a:ext cx="512064" cy="0"/>
          </a:xfrm>
          <a:prstGeom prst="straightConnector1">
            <a:avLst/>
          </a:prstGeom>
          <a:ln w="25400">
            <a:solidFill>
              <a:srgbClr val="2EC4F1"/>
            </a:solidFill>
            <a:tailEnd type="triangle"/>
          </a:ln>
        </p:spPr>
        <p:style>
          <a:lnRef idx="1">
            <a:schemeClr val="accent1"/>
          </a:lnRef>
          <a:fillRef idx="0">
            <a:schemeClr val="accent1"/>
          </a:fillRef>
          <a:effectRef idx="0">
            <a:schemeClr val="accent1"/>
          </a:effectRef>
          <a:fontRef idx="minor">
            <a:schemeClr val="tx1"/>
          </a:fontRef>
        </p:style>
      </p:cxnSp>
      <p:sp>
        <p:nvSpPr>
          <p:cNvPr id="12" name="Rectangle: Rounded Corners 11">
            <a:extLst>
              <a:ext uri="{FF2B5EF4-FFF2-40B4-BE49-F238E27FC236}">
                <a16:creationId xmlns:a16="http://schemas.microsoft.com/office/drawing/2014/main" id="{5B3C0568-306A-613C-682B-58C5E5B832C9}"/>
              </a:ext>
            </a:extLst>
          </p:cNvPr>
          <p:cNvSpPr/>
          <p:nvPr/>
        </p:nvSpPr>
        <p:spPr>
          <a:xfrm>
            <a:off x="11887200" y="2834640"/>
            <a:ext cx="4754880" cy="4434840"/>
          </a:xfrm>
          <a:prstGeom prst="roundRect">
            <a:avLst>
              <a:gd name="adj" fmla="val 8000"/>
            </a:avLst>
          </a:prstGeom>
          <a:solidFill>
            <a:srgbClr val="0E1A24"/>
          </a:solidFill>
          <a:ln w="15875">
            <a:solidFill>
              <a:srgbClr val="2EC4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F42AF06D-4F40-DC22-4138-68E34B3F19A3}"/>
              </a:ext>
            </a:extLst>
          </p:cNvPr>
          <p:cNvSpPr txBox="1"/>
          <p:nvPr/>
        </p:nvSpPr>
        <p:spPr>
          <a:xfrm>
            <a:off x="12115800" y="3017520"/>
            <a:ext cx="4297680" cy="369332"/>
          </a:xfrm>
          <a:prstGeom prst="rect">
            <a:avLst/>
          </a:prstGeom>
          <a:noFill/>
        </p:spPr>
        <p:txBody>
          <a:bodyPr vert="horz" wrap="square" lIns="0" tIns="0" rIns="0" bIns="0" rtlCol="0">
            <a:noAutofit/>
          </a:bodyPr>
          <a:lstStyle/>
          <a:p>
            <a:r>
              <a:rPr lang="en-US" sz="2200" b="1">
                <a:solidFill>
                  <a:srgbClr val="2EC4F1"/>
                </a:solidFill>
                <a:latin typeface="Arial" panose="020B0604020202020204" pitchFamily="34" charset="0"/>
                <a:cs typeface="Nirmala UI" panose="020B0502040204020203" pitchFamily="34" charset="0"/>
              </a:rPr>
              <a:t>3 · ACT</a:t>
            </a:r>
          </a:p>
          <a:p>
            <a:pPr>
              <a:spcAft>
                <a:spcPts val="1000"/>
              </a:spcAft>
            </a:pPr>
            <a:r>
              <a:rPr lang="en-US" sz="1400">
                <a:solidFill>
                  <a:srgbClr val="8A98A3"/>
                </a:solidFill>
                <a:latin typeface="Arial" panose="020B0604020202020204" pitchFamily="34" charset="0"/>
                <a:cs typeface="Nirmala UI" panose="020B0502040204020203" pitchFamily="34" charset="0"/>
              </a:rPr>
              <a:t>alternative output</a:t>
            </a:r>
          </a:p>
          <a:p>
            <a:pPr>
              <a:spcAft>
                <a:spcPts val="900"/>
              </a:spcAft>
            </a:pPr>
            <a:r>
              <a:rPr lang="en-US">
                <a:solidFill>
                  <a:srgbClr val="FFFFFF"/>
                </a:solidFill>
                <a:latin typeface="Arial" panose="020B0604020202020204" pitchFamily="34" charset="0"/>
                <a:cs typeface="Nirmala UI" panose="020B0502040204020203" pitchFamily="34" charset="0"/>
              </a:rPr>
              <a:t>🔊 Slow Marathi / Hindi voice (Sarvam AI)</a:t>
            </a:r>
          </a:p>
          <a:p>
            <a:pPr>
              <a:spcAft>
                <a:spcPts val="900"/>
              </a:spcAft>
            </a:pPr>
            <a:r>
              <a:rPr lang="en-US">
                <a:solidFill>
                  <a:srgbClr val="FFFFFF"/>
                </a:solidFill>
                <a:latin typeface="Arial" panose="020B0604020202020204" pitchFamily="34" charset="0"/>
                <a:cs typeface="Nirmala UI" panose="020B0502040204020203" pitchFamily="34" charset="0"/>
              </a:rPr>
              <a:t>🟥 Colour banners + 📳 danger vibration</a:t>
            </a:r>
          </a:p>
          <a:p>
            <a:pPr>
              <a:spcAft>
                <a:spcPts val="900"/>
              </a:spcAft>
            </a:pPr>
            <a:r>
              <a:rPr lang="en-US">
                <a:solidFill>
                  <a:srgbClr val="FFFFFF"/>
                </a:solidFill>
                <a:latin typeface="Arial" panose="020B0604020202020204" pitchFamily="34" charset="0"/>
                <a:cs typeface="Nirmala UI" panose="020B0502040204020203" pitchFamily="34" charset="0"/>
              </a:rPr>
              <a:t>☀️🌤️🌙 Pill pictures for “1-0-1”</a:t>
            </a:r>
          </a:p>
          <a:p>
            <a:pPr>
              <a:spcAft>
                <a:spcPts val="900"/>
              </a:spcAft>
            </a:pPr>
            <a:r>
              <a:rPr lang="en-US">
                <a:solidFill>
                  <a:srgbClr val="FFFFFF"/>
                </a:solidFill>
                <a:latin typeface="Arial" panose="020B0604020202020204" pitchFamily="34" charset="0"/>
                <a:cs typeface="Nirmala UI" panose="020B0502040204020203" pitchFamily="34" charset="0"/>
              </a:rPr>
              <a:t>💳 Zero-typing bill payment</a:t>
            </a:r>
          </a:p>
          <a:p>
            <a:pPr>
              <a:spcAft>
                <a:spcPts val="900"/>
              </a:spcAft>
            </a:pPr>
            <a:r>
              <a:rPr lang="en-US">
                <a:solidFill>
                  <a:srgbClr val="FFFFFF"/>
                </a:solidFill>
                <a:latin typeface="Arial" panose="020B0604020202020204" pitchFamily="34" charset="0"/>
                <a:cs typeface="Nirmala UI" panose="020B0502040204020203" pitchFamily="34" charset="0"/>
              </a:rPr>
              <a:t>👨‍👩‍👦 Send to son on WhatsApp</a:t>
            </a:r>
          </a:p>
          <a:p>
            <a:pPr>
              <a:spcAft>
                <a:spcPts val="900"/>
              </a:spcAft>
            </a:pPr>
            <a:r>
              <a:rPr lang="en-US">
                <a:solidFill>
                  <a:srgbClr val="FFFFFF"/>
                </a:solidFill>
                <a:latin typeface="Arial" panose="020B0604020202020204" pitchFamily="34" charset="0"/>
                <a:cs typeface="Nirmala UI" panose="020B0502040204020203" pitchFamily="34" charset="0"/>
              </a:rPr>
              <a:t>⏰ Bill + dose reminders, whole course</a:t>
            </a:r>
          </a:p>
          <a:p>
            <a:pPr>
              <a:spcAft>
                <a:spcPts val="900"/>
              </a:spcAft>
            </a:pPr>
            <a:r>
              <a:rPr lang="en-US">
                <a:solidFill>
                  <a:srgbClr val="FFFFFF"/>
                </a:solidFill>
                <a:latin typeface="Arial" panose="020B0604020202020204" pitchFamily="34" charset="0"/>
                <a:cs typeface="Nirmala UI" panose="020B0502040204020203" pitchFamily="34" charset="0"/>
              </a:rPr>
              <a:t>📞 Scam? One tap calls 1930</a:t>
            </a:r>
          </a:p>
          <a:p>
            <a:pPr>
              <a:spcAft>
                <a:spcPts val="900"/>
              </a:spcAft>
            </a:pPr>
            <a:r>
              <a:rPr lang="en-US">
                <a:solidFill>
                  <a:srgbClr val="FFFFFF"/>
                </a:solidFill>
                <a:latin typeface="Arial" panose="020B0604020202020204" pitchFamily="34" charset="0"/>
                <a:cs typeface="Nirmala UI" panose="020B0502040204020203" pitchFamily="34" charset="0"/>
              </a:rPr>
              <a:t>🗂️ My papers: due dates at a glance</a:t>
            </a:r>
          </a:p>
        </p:txBody>
      </p:sp>
      <p:sp>
        <p:nvSpPr>
          <p:cNvPr id="14" name="TextBox 13">
            <a:extLst>
              <a:ext uri="{FF2B5EF4-FFF2-40B4-BE49-F238E27FC236}">
                <a16:creationId xmlns:a16="http://schemas.microsoft.com/office/drawing/2014/main" id="{33CAA1FF-6B32-A699-E13B-F1FA95A17B09}"/>
              </a:ext>
            </a:extLst>
          </p:cNvPr>
          <p:cNvSpPr txBox="1"/>
          <p:nvPr/>
        </p:nvSpPr>
        <p:spPr>
          <a:xfrm>
            <a:off x="2286000" y="7589520"/>
            <a:ext cx="13716000" cy="369332"/>
          </a:xfrm>
          <a:prstGeom prst="rect">
            <a:avLst/>
          </a:prstGeom>
          <a:noFill/>
        </p:spPr>
        <p:txBody>
          <a:bodyPr vert="horz" wrap="square" lIns="0" tIns="0" rIns="0" bIns="0" rtlCol="0">
            <a:noAutofit/>
          </a:bodyPr>
          <a:lstStyle/>
          <a:p>
            <a:pPr algn="ctr">
              <a:spcAft>
                <a:spcPts val="400"/>
              </a:spcAft>
            </a:pPr>
            <a:r>
              <a:rPr lang="en-US" sz="3400">
                <a:solidFill>
                  <a:srgbClr val="2EC4F1"/>
                </a:solidFill>
                <a:latin typeface="Lobster" panose="00000500000000000000" pitchFamily="2" charset="0"/>
                <a:cs typeface="Nirmala UI" panose="020B0502040204020203" pitchFamily="34" charset="0"/>
              </a:rPr>
              <a:t>Gemini answers questions. Vaachak never needs one.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109671"/>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3"/>
              <a:stretch>
                <a:fillRect t="-80500" r="-3713" b="-80500"/>
              </a:stretch>
            </a:blipFill>
          </p:spPr>
        </p:sp>
      </p:grpSp>
      <p:sp>
        <p:nvSpPr>
          <p:cNvPr id="4" name="TextBox 4"/>
          <p:cNvSpPr txBox="1"/>
          <p:nvPr/>
        </p:nvSpPr>
        <p:spPr>
          <a:xfrm>
            <a:off x="714823" y="1068124"/>
            <a:ext cx="16858202" cy="849207"/>
          </a:xfrm>
          <a:prstGeom prst="rect">
            <a:avLst/>
          </a:prstGeom>
        </p:spPr>
        <p:txBody>
          <a:bodyPr lIns="0" tIns="0" rIns="0" bIns="0" rtlCol="0" anchor="t">
            <a:spAutoFit/>
          </a:bodyPr>
          <a:lstStyle/>
          <a:p>
            <a:pPr algn="l">
              <a:lnSpc>
                <a:spcPts val="7256"/>
              </a:lnSpc>
            </a:pPr>
            <a:r>
              <a:rPr lang="en-US" sz="5039">
                <a:solidFill>
                  <a:srgbClr val="FFFFFF"/>
                </a:solidFill>
                <a:latin typeface="Arial"/>
                <a:ea typeface="Arial"/>
                <a:cs typeface="Arial"/>
                <a:sym typeface="Arial"/>
              </a:rPr>
              <a:t>Live Prototype</a:t>
            </a:r>
          </a:p>
        </p:txBody>
      </p:sp>
      <p:sp>
        <p:nvSpPr>
          <p:cNvPr id="5" name="TextBox 4">
            <a:extLst>
              <a:ext uri="{FF2B5EF4-FFF2-40B4-BE49-F238E27FC236}">
                <a16:creationId xmlns:a16="http://schemas.microsoft.com/office/drawing/2014/main" id="{995C0BC7-F42B-E443-54D2-B05A2A649B87}"/>
              </a:ext>
            </a:extLst>
          </p:cNvPr>
          <p:cNvSpPr txBox="1"/>
          <p:nvPr/>
        </p:nvSpPr>
        <p:spPr>
          <a:xfrm>
            <a:off x="9692640" y="1280160"/>
            <a:ext cx="7223760" cy="369332"/>
          </a:xfrm>
          <a:prstGeom prst="rect">
            <a:avLst/>
          </a:prstGeom>
          <a:noFill/>
        </p:spPr>
        <p:txBody>
          <a:bodyPr vert="horz" wrap="square" lIns="0" tIns="0" rIns="0" bIns="0" rtlCol="0">
            <a:noAutofit/>
          </a:bodyPr>
          <a:lstStyle/>
          <a:p>
            <a:pPr algn="r">
              <a:spcAft>
                <a:spcPts val="400"/>
              </a:spcAft>
            </a:pPr>
            <a:r>
              <a:rPr lang="en-US" sz="2200" b="1">
                <a:solidFill>
                  <a:srgbClr val="2EC4F1"/>
                </a:solidFill>
                <a:latin typeface="Arial" panose="020B0604020202020204" pitchFamily="34" charset="0"/>
                <a:cs typeface="Nirmala UI" panose="020B0502040204020203" pitchFamily="34" charset="0"/>
              </a:rPr>
              <a:t>🌐 vaachak-zeta.vercel.app</a:t>
            </a:r>
          </a:p>
        </p:txBody>
      </p:sp>
      <p:sp>
        <p:nvSpPr>
          <p:cNvPr id="6" name="Rectangle: Rounded Corners 5">
            <a:extLst>
              <a:ext uri="{FF2B5EF4-FFF2-40B4-BE49-F238E27FC236}">
                <a16:creationId xmlns:a16="http://schemas.microsoft.com/office/drawing/2014/main" id="{261196B5-A998-D48E-9956-1A02F45EDB97}"/>
              </a:ext>
            </a:extLst>
          </p:cNvPr>
          <p:cNvSpPr/>
          <p:nvPr/>
        </p:nvSpPr>
        <p:spPr>
          <a:xfrm>
            <a:off x="2953512" y="2103120"/>
            <a:ext cx="3236976" cy="6254496"/>
          </a:xfrm>
          <a:prstGeom prst="roundRect">
            <a:avLst>
              <a:gd name="adj" fmla="val 8000"/>
            </a:avLst>
          </a:prstGeom>
          <a:solidFill>
            <a:srgbClr val="000000"/>
          </a:solidFill>
          <a:ln w="25400">
            <a:solidFill>
              <a:srgbClr val="2EC4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71995FDE-D7F0-4881-8F0D-D48540F3FE1D}"/>
              </a:ext>
            </a:extLst>
          </p:cNvPr>
          <p:cNvSpPr txBox="1"/>
          <p:nvPr/>
        </p:nvSpPr>
        <p:spPr>
          <a:xfrm>
            <a:off x="2377440" y="8458200"/>
            <a:ext cx="4389120" cy="369332"/>
          </a:xfrm>
          <a:prstGeom prst="rect">
            <a:avLst/>
          </a:prstGeom>
          <a:noFill/>
        </p:spPr>
        <p:txBody>
          <a:bodyPr vert="horz" wrap="square" lIns="0" tIns="0" rIns="0" bIns="0" rtlCol="0">
            <a:noAutofit/>
          </a:bodyPr>
          <a:lstStyle/>
          <a:p>
            <a:pPr algn="ctr">
              <a:spcAft>
                <a:spcPts val="400"/>
              </a:spcAft>
            </a:pPr>
            <a:r>
              <a:rPr lang="en-US" sz="1500">
                <a:solidFill>
                  <a:srgbClr val="FFFFFF"/>
                </a:solidFill>
                <a:latin typeface="Arial" panose="020B0604020202020204" pitchFamily="34" charset="0"/>
                <a:cs typeface="Nirmala UI" panose="020B0502040204020203" pitchFamily="34" charset="0"/>
              </a:rPr>
              <a:t>🚨 Fake power-cut SMS → red SCAM alert</a:t>
            </a:r>
          </a:p>
        </p:txBody>
      </p:sp>
      <p:sp>
        <p:nvSpPr>
          <p:cNvPr id="10" name="Rectangle: Rounded Corners 9">
            <a:extLst>
              <a:ext uri="{FF2B5EF4-FFF2-40B4-BE49-F238E27FC236}">
                <a16:creationId xmlns:a16="http://schemas.microsoft.com/office/drawing/2014/main" id="{D4E32494-0D1A-48DE-D254-07B249174BB6}"/>
              </a:ext>
            </a:extLst>
          </p:cNvPr>
          <p:cNvSpPr/>
          <p:nvPr/>
        </p:nvSpPr>
        <p:spPr>
          <a:xfrm>
            <a:off x="7525512" y="2103120"/>
            <a:ext cx="3236976" cy="6254496"/>
          </a:xfrm>
          <a:prstGeom prst="roundRect">
            <a:avLst>
              <a:gd name="adj" fmla="val 8000"/>
            </a:avLst>
          </a:prstGeom>
          <a:solidFill>
            <a:srgbClr val="000000"/>
          </a:solidFill>
          <a:ln w="25400">
            <a:solidFill>
              <a:srgbClr val="2EC4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6A13C32E-E998-1A6E-CE84-58D38D71E5ED}"/>
              </a:ext>
            </a:extLst>
          </p:cNvPr>
          <p:cNvSpPr txBox="1"/>
          <p:nvPr/>
        </p:nvSpPr>
        <p:spPr>
          <a:xfrm>
            <a:off x="6949440" y="8458200"/>
            <a:ext cx="4389120" cy="369332"/>
          </a:xfrm>
          <a:prstGeom prst="rect">
            <a:avLst/>
          </a:prstGeom>
          <a:noFill/>
        </p:spPr>
        <p:txBody>
          <a:bodyPr vert="horz" wrap="square" lIns="0" tIns="0" rIns="0" bIns="0" rtlCol="0">
            <a:noAutofit/>
          </a:bodyPr>
          <a:lstStyle/>
          <a:p>
            <a:pPr algn="ctr">
              <a:spcAft>
                <a:spcPts val="400"/>
              </a:spcAft>
            </a:pPr>
            <a:r>
              <a:rPr lang="en-US" sz="1500">
                <a:solidFill>
                  <a:srgbClr val="FFFFFF"/>
                </a:solidFill>
                <a:latin typeface="Arial" panose="020B0604020202020204" pitchFamily="34" charset="0"/>
                <a:cs typeface="Nirmala UI" panose="020B0502040204020203" pitchFamily="34" charset="0"/>
              </a:rPr>
              <a:t>⏰ MSEDCL bill → ₹840 by 10 Oct, verified</a:t>
            </a:r>
          </a:p>
        </p:txBody>
      </p:sp>
      <p:sp>
        <p:nvSpPr>
          <p:cNvPr id="14" name="Rectangle: Rounded Corners 13">
            <a:extLst>
              <a:ext uri="{FF2B5EF4-FFF2-40B4-BE49-F238E27FC236}">
                <a16:creationId xmlns:a16="http://schemas.microsoft.com/office/drawing/2014/main" id="{2DA6D38D-9BD8-36C4-932B-D51B1F537126}"/>
              </a:ext>
            </a:extLst>
          </p:cNvPr>
          <p:cNvSpPr/>
          <p:nvPr/>
        </p:nvSpPr>
        <p:spPr>
          <a:xfrm>
            <a:off x="12097512" y="2103120"/>
            <a:ext cx="3236975" cy="6254496"/>
          </a:xfrm>
          <a:prstGeom prst="roundRect">
            <a:avLst>
              <a:gd name="adj" fmla="val 8000"/>
            </a:avLst>
          </a:prstGeom>
          <a:solidFill>
            <a:srgbClr val="000000"/>
          </a:solidFill>
          <a:ln w="25400">
            <a:solidFill>
              <a:srgbClr val="2EC4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DDD95906-3760-EBF9-AA79-92E177D75C8F}"/>
              </a:ext>
            </a:extLst>
          </p:cNvPr>
          <p:cNvSpPr txBox="1"/>
          <p:nvPr/>
        </p:nvSpPr>
        <p:spPr>
          <a:xfrm>
            <a:off x="11521440" y="8458200"/>
            <a:ext cx="4389120" cy="369332"/>
          </a:xfrm>
          <a:prstGeom prst="rect">
            <a:avLst/>
          </a:prstGeom>
          <a:noFill/>
        </p:spPr>
        <p:txBody>
          <a:bodyPr vert="horz" wrap="square" lIns="0" tIns="0" rIns="0" bIns="0" rtlCol="0">
            <a:noAutofit/>
          </a:bodyPr>
          <a:lstStyle/>
          <a:p>
            <a:pPr algn="ctr">
              <a:spcAft>
                <a:spcPts val="400"/>
              </a:spcAft>
            </a:pPr>
            <a:r>
              <a:rPr lang="en-US" sz="1500">
                <a:solidFill>
                  <a:srgbClr val="FFFFFF"/>
                </a:solidFill>
                <a:latin typeface="Arial" panose="020B0604020202020204" pitchFamily="34" charset="0"/>
                <a:cs typeface="Nirmala UI" panose="020B0502040204020203" pitchFamily="34" charset="0"/>
              </a:rPr>
              <a:t>🩺 3 medicines → one schedule each</a:t>
            </a:r>
          </a:p>
        </p:txBody>
      </p:sp>
      <p:pic>
        <p:nvPicPr>
          <p:cNvPr id="18" name="Picture 7" descr="scam.png"/>
          <p:cNvPicPr>
            <a:picLocks noChangeAspect="1"/>
          </p:cNvPicPr>
          <p:nvPr/>
        </p:nvPicPr>
        <p:blipFill>
          <a:blip r:embed="rId7"/>
          <a:stretch>
            <a:fillRect/>
          </a:stretch>
        </p:blipFill>
        <p:spPr>
          <a:xfrm>
            <a:off x="3063240" y="2212848"/>
            <a:ext cx="3017520" cy="6035040"/>
          </a:xfrm>
          <a:prstGeom prst="rect">
            <a:avLst/>
          </a:prstGeom>
        </p:spPr>
      </p:pic>
      <p:pic>
        <p:nvPicPr>
          <p:cNvPr id="19" name="Picture 11" descr="bill.png"/>
          <p:cNvPicPr>
            <a:picLocks noChangeAspect="1"/>
          </p:cNvPicPr>
          <p:nvPr/>
        </p:nvPicPr>
        <p:blipFill>
          <a:blip r:embed="rId8"/>
          <a:stretch>
            <a:fillRect/>
          </a:stretch>
        </p:blipFill>
        <p:spPr>
          <a:xfrm>
            <a:off x="7635240" y="2212848"/>
            <a:ext cx="3017520" cy="6035040"/>
          </a:xfrm>
          <a:prstGeom prst="rect">
            <a:avLst/>
          </a:prstGeom>
        </p:spPr>
      </p:pic>
      <p:pic>
        <p:nvPicPr>
          <p:cNvPr id="20" name="Picture 15" descr="rx-meds.png"/>
          <p:cNvPicPr>
            <a:picLocks noChangeAspect="1"/>
          </p:cNvPicPr>
          <p:nvPr/>
        </p:nvPicPr>
        <p:blipFill>
          <a:blip r:embed="rId9"/>
          <a:stretch>
            <a:fillRect/>
          </a:stretch>
        </p:blipFill>
        <p:spPr>
          <a:xfrm>
            <a:off x="12207240" y="2212848"/>
            <a:ext cx="3017520" cy="6035040"/>
          </a:xfrm>
          <a:prstGeom prst="rect">
            <a:avLst/>
          </a:prstGeom>
        </p:spPr>
      </p:pic>
      <p:pic>
        <p:nvPicPr>
          <p:cNvPr id="21" name="QR live app" descr="qr.png"/>
          <p:cNvPicPr>
            <a:picLocks noChangeAspect="1"/>
          </p:cNvPicPr>
          <p:nvPr/>
        </p:nvPicPr>
        <p:blipFill>
          <a:blip r:embed="rId10"/>
          <a:stretch>
            <a:fillRect/>
          </a:stretch>
        </p:blipFill>
        <p:spPr>
          <a:xfrm>
            <a:off x="15590520" y="3566160"/>
            <a:ext cx="1828800" cy="1828800"/>
          </a:xfrm>
          <a:prstGeom prst="rect">
            <a:avLst/>
          </a:prstGeom>
        </p:spPr>
      </p:pic>
      <p:sp>
        <p:nvSpPr>
          <p:cNvPr id="22" name="QR caption"/>
          <p:cNvSpPr txBox="1"/>
          <p:nvPr/>
        </p:nvSpPr>
        <p:spPr>
          <a:xfrm>
            <a:off x="15407640" y="5486400"/>
            <a:ext cx="2194560" cy="731520"/>
          </a:xfrm>
          <a:prstGeom prst="rect">
            <a:avLst/>
          </a:prstGeom>
          <a:noFill/>
        </p:spPr>
        <p:txBody>
          <a:bodyPr wrap="square" lIns="0" tIns="0" rIns="0" bIns="0" anchor="t">
            <a:spAutoFit/>
          </a:bodyPr>
          <a:lstStyle/>
          <a:p>
            <a:pPr algn="ctr">
              <a:spcAft>
                <a:spcPts val="200"/>
              </a:spcAft>
            </a:pPr>
            <a:r>
              <a:rPr sz="1600" b="1">
                <a:solidFill>
                  <a:srgbClr val="FFFFFF"/>
                </a:solidFill>
                <a:latin typeface="Arial"/>
                <a:cs typeface="Nirmala UI"/>
              </a:rPr>
              <a:t>Scan &amp; try it</a:t>
            </a:r>
          </a:p>
          <a:p>
            <a:pPr algn="ctr"/>
            <a:r>
              <a:rPr sz="1200" b="0">
                <a:solidFill>
                  <a:srgbClr val="8A98A3"/>
                </a:solidFill>
                <a:latin typeface="Arial"/>
                <a:cs typeface="Nirmala UI"/>
              </a:rPr>
              <a:t>works on any phone</a:t>
            </a:r>
          </a:p>
        </p:txBody>
      </p:sp>
    </p:spTree>
    <p:extLst>
      <p:ext uri="{BB962C8B-B14F-4D97-AF65-F5344CB8AC3E}">
        <p14:creationId xmlns:p14="http://schemas.microsoft.com/office/powerpoint/2010/main" val="5191592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109671"/>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3"/>
              <a:stretch>
                <a:fillRect t="-80500" r="-3713" b="-80500"/>
              </a:stretch>
            </a:blipFill>
          </p:spPr>
        </p:sp>
      </p:grpSp>
      <p:sp>
        <p:nvSpPr>
          <p:cNvPr id="4" name="TextBox 4"/>
          <p:cNvSpPr txBox="1"/>
          <p:nvPr/>
        </p:nvSpPr>
        <p:spPr>
          <a:xfrm>
            <a:off x="714823" y="1068124"/>
            <a:ext cx="16858202" cy="849207"/>
          </a:xfrm>
          <a:prstGeom prst="rect">
            <a:avLst/>
          </a:prstGeom>
        </p:spPr>
        <p:txBody>
          <a:bodyPr lIns="0" tIns="0" rIns="0" bIns="0" rtlCol="0" anchor="t">
            <a:spAutoFit/>
          </a:bodyPr>
          <a:lstStyle/>
          <a:p>
            <a:pPr algn="l">
              <a:lnSpc>
                <a:spcPts val="7256"/>
              </a:lnSpc>
            </a:pPr>
            <a:r>
              <a:rPr lang="en-US" sz="5039">
                <a:solidFill>
                  <a:srgbClr val="FFFFFF"/>
                </a:solidFill>
                <a:latin typeface="Arial"/>
                <a:ea typeface="Arial"/>
                <a:cs typeface="Arial"/>
                <a:sym typeface="Arial"/>
              </a:rPr>
              <a:t>Beyond reading: protects, reminds, remembers</a:t>
            </a:r>
          </a:p>
        </p:txBody>
      </p:sp>
      <p:sp>
        <p:nvSpPr>
          <p:cNvPr id="6" name="Feature 1 screen frame">
            <a:extLst>
              <a:ext uri="{FF2B5EF4-FFF2-40B4-BE49-F238E27FC236}">
                <a16:creationId xmlns:a16="http://schemas.microsoft.com/office/drawing/2014/main" id="{261196B5-A998-D48E-9956-1A02F45EDB97}"/>
              </a:ext>
            </a:extLst>
          </p:cNvPr>
          <p:cNvSpPr/>
          <p:nvPr/>
        </p:nvSpPr>
        <p:spPr>
          <a:xfrm>
            <a:off x="2080260" y="2103120"/>
            <a:ext cx="2880360" cy="5980176"/>
          </a:xfrm>
          <a:prstGeom prst="roundRect">
            <a:avLst>
              <a:gd name="adj" fmla="val 8000"/>
            </a:avLst>
          </a:prstGeom>
          <a:solidFill>
            <a:srgbClr val="000000"/>
          </a:solidFill>
          <a:ln w="25400">
            <a:solidFill>
              <a:srgbClr val="2EC4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Feature 1 screen" descr="scam-help.png"/>
          <p:cNvPicPr>
            <a:picLocks noChangeAspect="1"/>
          </p:cNvPicPr>
          <p:nvPr/>
        </p:nvPicPr>
        <p:blipFill>
          <a:blip r:embed="rId2"/>
          <a:stretch>
            <a:fillRect/>
          </a:stretch>
        </p:blipFill>
        <p:spPr>
          <a:xfrm>
            <a:off x="2189988" y="2212848"/>
            <a:ext cx="2660904" cy="5760720"/>
          </a:xfrm>
          <a:prstGeom prst="roundRect">
            <a:avLst>
              <a:gd name="adj" fmla="val 6000"/>
            </a:avLst>
          </a:prstGeom>
        </p:spPr>
      </p:pic>
      <p:sp>
        <p:nvSpPr>
          <p:cNvPr id="8" name="Feature 1 caption"/>
          <p:cNvSpPr txBox="1"/>
          <p:nvPr/>
        </p:nvSpPr>
        <p:spPr>
          <a:xfrm>
            <a:off x="1714500" y="8183879"/>
            <a:ext cx="3611880" cy="1280160"/>
          </a:xfrm>
          <a:prstGeom prst="rect">
            <a:avLst/>
          </a:prstGeom>
          <a:noFill/>
        </p:spPr>
        <p:txBody>
          <a:bodyPr wrap="square" lIns="0" tIns="0" rIns="0" bIns="0" anchor="t">
            <a:spAutoFit/>
          </a:bodyPr>
          <a:lstStyle/>
          <a:p>
            <a:pPr algn="ctr">
              <a:spcAft>
                <a:spcPts val="300"/>
              </a:spcAft>
            </a:pPr>
            <a:r>
              <a:rPr sz="1400" b="1">
                <a:solidFill>
                  <a:srgbClr val="FF5A6E"/>
                </a:solidFill>
                <a:latin typeface="Arial"/>
                <a:cs typeface="Nirmala UI"/>
              </a:rPr>
              <a:t>PROTECT</a:t>
            </a:r>
          </a:p>
          <a:p>
            <a:pPr algn="ctr">
              <a:spcAft>
                <a:spcPts val="200"/>
              </a:spcAft>
            </a:pPr>
            <a:r>
              <a:rPr sz="1600" b="1">
                <a:solidFill>
                  <a:srgbClr val="FFFFFF"/>
                </a:solidFill>
                <a:latin typeface="Arial"/>
                <a:cs typeface="Nirmala UI"/>
              </a:rPr>
              <a:t>Scam? One tap calls 1930</a:t>
            </a:r>
          </a:p>
          <a:p>
            <a:pPr algn="ctr"/>
            <a:r>
              <a:rPr sz="1300" b="0">
                <a:solidFill>
                  <a:srgbClr val="8CB3E3"/>
                </a:solidFill>
                <a:latin typeface="Arial"/>
                <a:cs typeface="Nirmala UI"/>
              </a:rPr>
              <a:t>and the real MSEDCL / SBI helpline</a:t>
            </a:r>
          </a:p>
        </p:txBody>
      </p:sp>
      <p:sp>
        <p:nvSpPr>
          <p:cNvPr id="6" name="Feature 2 screen frame">
            <a:extLst>
              <a:ext uri="{FF2B5EF4-FFF2-40B4-BE49-F238E27FC236}">
                <a16:creationId xmlns:a16="http://schemas.microsoft.com/office/drawing/2014/main" id="{261196B5-A998-D48E-9956-1A02F45EDB97}"/>
              </a:ext>
            </a:extLst>
          </p:cNvPr>
          <p:cNvSpPr/>
          <p:nvPr/>
        </p:nvSpPr>
        <p:spPr>
          <a:xfrm>
            <a:off x="5829300" y="2103120"/>
            <a:ext cx="2880360" cy="5980176"/>
          </a:xfrm>
          <a:prstGeom prst="roundRect">
            <a:avLst>
              <a:gd name="adj" fmla="val 8000"/>
            </a:avLst>
          </a:prstGeom>
          <a:solidFill>
            <a:srgbClr val="000000"/>
          </a:solidFill>
          <a:ln w="25400">
            <a:solidFill>
              <a:srgbClr val="2EC4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Feature 2 screen" descr="rx-sheet.png"/>
          <p:cNvPicPr>
            <a:picLocks noChangeAspect="1"/>
          </p:cNvPicPr>
          <p:nvPr/>
        </p:nvPicPr>
        <p:blipFill>
          <a:blip r:embed="rId7"/>
          <a:stretch>
            <a:fillRect/>
          </a:stretch>
        </p:blipFill>
        <p:spPr>
          <a:xfrm>
            <a:off x="5939028" y="2212848"/>
            <a:ext cx="2660904" cy="5760720"/>
          </a:xfrm>
          <a:prstGeom prst="roundRect">
            <a:avLst>
              <a:gd name="adj" fmla="val 6000"/>
            </a:avLst>
          </a:prstGeom>
        </p:spPr>
      </p:pic>
      <p:sp>
        <p:nvSpPr>
          <p:cNvPr id="10" name="Feature 2 caption"/>
          <p:cNvSpPr txBox="1"/>
          <p:nvPr/>
        </p:nvSpPr>
        <p:spPr>
          <a:xfrm>
            <a:off x="5463540" y="8183879"/>
            <a:ext cx="3611880" cy="1280160"/>
          </a:xfrm>
          <a:prstGeom prst="rect">
            <a:avLst/>
          </a:prstGeom>
          <a:noFill/>
        </p:spPr>
        <p:txBody>
          <a:bodyPr wrap="square" lIns="0" tIns="0" rIns="0" bIns="0" anchor="t">
            <a:spAutoFit/>
          </a:bodyPr>
          <a:lstStyle/>
          <a:p>
            <a:pPr algn="ctr">
              <a:spcAft>
                <a:spcPts val="300"/>
              </a:spcAft>
            </a:pPr>
            <a:r>
              <a:rPr sz="1400" b="1">
                <a:solidFill>
                  <a:srgbClr val="3DDC97"/>
                </a:solidFill>
                <a:latin typeface="Arial"/>
                <a:cs typeface="Nirmala UI"/>
              </a:rPr>
              <a:t>REMIND</a:t>
            </a:r>
          </a:p>
          <a:p>
            <a:pPr algn="ctr">
              <a:spcAft>
                <a:spcPts val="200"/>
              </a:spcAft>
            </a:pPr>
            <a:r>
              <a:rPr sz="1600" b="1">
                <a:solidFill>
                  <a:srgbClr val="FFFFFF"/>
                </a:solidFill>
                <a:latin typeface="Arial"/>
                <a:cs typeface="Nirmala UI"/>
              </a:rPr>
              <a:t>Every dose, whole course</a:t>
            </a:r>
          </a:p>
          <a:p>
            <a:pPr algn="ctr"/>
            <a:r>
              <a:rPr sz="1300" b="0">
                <a:solidFill>
                  <a:srgbClr val="8CB3E3"/>
                </a:solidFill>
                <a:latin typeface="Arial"/>
                <a:cs typeface="Nirmala UI"/>
              </a:rPr>
              <a:t>in the phone calendar, one tap</a:t>
            </a:r>
          </a:p>
        </p:txBody>
      </p:sp>
      <p:sp>
        <p:nvSpPr>
          <p:cNvPr id="6" name="Feature 3 screen frame">
            <a:extLst>
              <a:ext uri="{FF2B5EF4-FFF2-40B4-BE49-F238E27FC236}">
                <a16:creationId xmlns:a16="http://schemas.microsoft.com/office/drawing/2014/main" id="{261196B5-A998-D48E-9956-1A02F45EDB97}"/>
              </a:ext>
            </a:extLst>
          </p:cNvPr>
          <p:cNvSpPr/>
          <p:nvPr/>
        </p:nvSpPr>
        <p:spPr>
          <a:xfrm>
            <a:off x="9578340" y="2103120"/>
            <a:ext cx="2880360" cy="5980176"/>
          </a:xfrm>
          <a:prstGeom prst="roundRect">
            <a:avLst>
              <a:gd name="adj" fmla="val 8000"/>
            </a:avLst>
          </a:prstGeom>
          <a:solidFill>
            <a:srgbClr val="000000"/>
          </a:solidFill>
          <a:ln w="25400">
            <a:solidFill>
              <a:srgbClr val="2EC4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Feature 3 screen" descr="papers.png"/>
          <p:cNvPicPr>
            <a:picLocks noChangeAspect="1"/>
          </p:cNvPicPr>
          <p:nvPr/>
        </p:nvPicPr>
        <p:blipFill>
          <a:blip r:embed="rId8"/>
          <a:stretch>
            <a:fillRect/>
          </a:stretch>
        </p:blipFill>
        <p:spPr>
          <a:xfrm>
            <a:off x="9688067" y="2212848"/>
            <a:ext cx="2660904" cy="5760720"/>
          </a:xfrm>
          <a:prstGeom prst="roundRect">
            <a:avLst>
              <a:gd name="adj" fmla="val 6000"/>
            </a:avLst>
          </a:prstGeom>
        </p:spPr>
      </p:pic>
      <p:sp>
        <p:nvSpPr>
          <p:cNvPr id="12" name="Feature 3 caption"/>
          <p:cNvSpPr txBox="1"/>
          <p:nvPr/>
        </p:nvSpPr>
        <p:spPr>
          <a:xfrm>
            <a:off x="9212580" y="8183879"/>
            <a:ext cx="3611880" cy="1280160"/>
          </a:xfrm>
          <a:prstGeom prst="rect">
            <a:avLst/>
          </a:prstGeom>
          <a:noFill/>
        </p:spPr>
        <p:txBody>
          <a:bodyPr wrap="square" lIns="0" tIns="0" rIns="0" bIns="0" anchor="t">
            <a:spAutoFit/>
          </a:bodyPr>
          <a:lstStyle/>
          <a:p>
            <a:pPr algn="ctr">
              <a:spcAft>
                <a:spcPts val="300"/>
              </a:spcAft>
            </a:pPr>
            <a:r>
              <a:rPr sz="1400" b="1">
                <a:solidFill>
                  <a:srgbClr val="F2B33D"/>
                </a:solidFill>
                <a:latin typeface="Arial"/>
                <a:cs typeface="Nirmala UI"/>
              </a:rPr>
              <a:t>REMEMBER</a:t>
            </a:r>
          </a:p>
          <a:p>
            <a:pPr algn="ctr">
              <a:spcAft>
                <a:spcPts val="200"/>
              </a:spcAft>
            </a:pPr>
            <a:r>
              <a:rPr sz="1600" b="1">
                <a:solidFill>
                  <a:srgbClr val="FFFFFF"/>
                </a:solidFill>
                <a:latin typeface="Arial"/>
                <a:cs typeface="Nirmala UI"/>
              </a:rPr>
              <a:t>My papers: what is due</a:t>
            </a:r>
          </a:p>
          <a:p>
            <a:pPr algn="ctr"/>
            <a:r>
              <a:rPr sz="1300" b="0">
                <a:solidFill>
                  <a:srgbClr val="8CB3E3"/>
                </a:solidFill>
                <a:latin typeface="Arial"/>
                <a:cs typeface="Nirmala UI"/>
              </a:rPr>
              <a:t>bills, medicines, scams caught</a:t>
            </a:r>
          </a:p>
        </p:txBody>
      </p:sp>
      <p:sp>
        <p:nvSpPr>
          <p:cNvPr id="6" name="Feature 4 screen frame">
            <a:extLst>
              <a:ext uri="{FF2B5EF4-FFF2-40B4-BE49-F238E27FC236}">
                <a16:creationId xmlns:a16="http://schemas.microsoft.com/office/drawing/2014/main" id="{261196B5-A998-D48E-9956-1A02F45EDB97}"/>
              </a:ext>
            </a:extLst>
          </p:cNvPr>
          <p:cNvSpPr/>
          <p:nvPr/>
        </p:nvSpPr>
        <p:spPr>
          <a:xfrm>
            <a:off x="13327380" y="2103120"/>
            <a:ext cx="2880360" cy="5980176"/>
          </a:xfrm>
          <a:prstGeom prst="roundRect">
            <a:avLst>
              <a:gd name="adj" fmla="val 8000"/>
            </a:avLst>
          </a:prstGeom>
          <a:solidFill>
            <a:srgbClr val="000000"/>
          </a:solidFill>
          <a:ln w="25400">
            <a:solidFill>
              <a:srgbClr val="2EC4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Feature 4 screen" descr="tour-3.png"/>
          <p:cNvPicPr>
            <a:picLocks noChangeAspect="1"/>
          </p:cNvPicPr>
          <p:nvPr/>
        </p:nvPicPr>
        <p:blipFill>
          <a:blip r:embed="rId9"/>
          <a:stretch>
            <a:fillRect/>
          </a:stretch>
        </p:blipFill>
        <p:spPr>
          <a:xfrm>
            <a:off x="13437107" y="2212848"/>
            <a:ext cx="2660904" cy="5760720"/>
          </a:xfrm>
          <a:prstGeom prst="roundRect">
            <a:avLst>
              <a:gd name="adj" fmla="val 6000"/>
            </a:avLst>
          </a:prstGeom>
        </p:spPr>
      </p:pic>
      <p:sp>
        <p:nvSpPr>
          <p:cNvPr id="14" name="Feature 4 caption"/>
          <p:cNvSpPr txBox="1"/>
          <p:nvPr/>
        </p:nvSpPr>
        <p:spPr>
          <a:xfrm>
            <a:off x="12961619" y="8183879"/>
            <a:ext cx="3611880" cy="1280160"/>
          </a:xfrm>
          <a:prstGeom prst="rect">
            <a:avLst/>
          </a:prstGeom>
          <a:noFill/>
        </p:spPr>
        <p:txBody>
          <a:bodyPr wrap="square" lIns="0" tIns="0" rIns="0" bIns="0" anchor="t">
            <a:spAutoFit/>
          </a:bodyPr>
          <a:lstStyle/>
          <a:p>
            <a:pPr algn="ctr">
              <a:spcAft>
                <a:spcPts val="300"/>
              </a:spcAft>
            </a:pPr>
            <a:r>
              <a:rPr sz="1400" b="1">
                <a:solidFill>
                  <a:srgbClr val="2EC4F1"/>
                </a:solidFill>
                <a:latin typeface="Arial"/>
                <a:cs typeface="Nirmala UI"/>
              </a:rPr>
              <a:t>GUIDE</a:t>
            </a:r>
          </a:p>
          <a:p>
            <a:pPr algn="ctr">
              <a:spcAft>
                <a:spcPts val="200"/>
              </a:spcAft>
            </a:pPr>
            <a:r>
              <a:rPr sz="1600" b="1">
                <a:solidFill>
                  <a:srgbClr val="FFFFFF"/>
                </a:solidFill>
                <a:latin typeface="Arial"/>
                <a:cs typeface="Nirmala UI"/>
              </a:rPr>
              <a:t>Spoken tour, 3 languages</a:t>
            </a:r>
          </a:p>
          <a:p>
            <a:pPr algn="ctr"/>
            <a:r>
              <a:rPr sz="1300" b="0">
                <a:solidFill>
                  <a:srgbClr val="8CB3E3"/>
                </a:solidFill>
                <a:latin typeface="Arial"/>
                <a:cs typeface="Nirmala UI"/>
              </a:rPr>
              <a:t>मराठी · हिंदी · English</a:t>
            </a:r>
          </a:p>
        </p:txBody>
      </p:sp>
    </p:spTree>
    <p:extLst>
      <p:ext uri="{BB962C8B-B14F-4D97-AF65-F5344CB8AC3E}">
        <p14:creationId xmlns:p14="http://schemas.microsoft.com/office/powerpoint/2010/main" val="5191592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76"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3"/>
              <a:stretch>
                <a:fillRect t="-80500" r="-3713" b="-80500"/>
              </a:stretch>
            </a:blipFill>
          </p:spPr>
        </p:sp>
      </p:grpSp>
      <p:sp>
        <p:nvSpPr>
          <p:cNvPr id="4" name="TextBox 4"/>
          <p:cNvSpPr txBox="1"/>
          <p:nvPr/>
        </p:nvSpPr>
        <p:spPr>
          <a:xfrm>
            <a:off x="714823" y="1068124"/>
            <a:ext cx="16858202" cy="918372"/>
          </a:xfrm>
          <a:prstGeom prst="rect">
            <a:avLst/>
          </a:prstGeom>
        </p:spPr>
        <p:txBody>
          <a:bodyPr lIns="0" tIns="0" rIns="0" bIns="0" rtlCol="0" anchor="t">
            <a:spAutoFit/>
          </a:bodyPr>
          <a:lstStyle/>
          <a:p>
            <a:pPr algn="l">
              <a:lnSpc>
                <a:spcPts val="7256"/>
              </a:lnSpc>
            </a:pPr>
            <a:r>
              <a:rPr lang="en-US" sz="5039">
                <a:solidFill>
                  <a:srgbClr val="FFFFFF"/>
                </a:solidFill>
                <a:latin typeface="Arial"/>
                <a:ea typeface="Arial"/>
                <a:cs typeface="Arial"/>
                <a:sym typeface="Arial"/>
              </a:rPr>
              <a:t>Measured, not claimed</a:t>
            </a:r>
          </a:p>
        </p:txBody>
      </p:sp>
      <p:sp>
        <p:nvSpPr>
          <p:cNvPr id="5" name="Stat 1 card"/>
          <p:cNvSpPr/>
          <p:nvPr/>
        </p:nvSpPr>
        <p:spPr>
          <a:xfrm>
            <a:off x="1280159" y="2194560"/>
            <a:ext cx="4937760" cy="2286000"/>
          </a:xfrm>
          <a:prstGeom prst="roundRect">
            <a:avLst>
              <a:gd name="adj" fmla="val 8000"/>
            </a:avLst>
          </a:prstGeom>
          <a:solidFill>
            <a:srgbClr val="0E1A24"/>
          </a:solidFill>
          <a:ln w="15875">
            <a:solidFill>
              <a:srgbClr val="1232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tat 1"/>
          <p:cNvSpPr txBox="1"/>
          <p:nvPr/>
        </p:nvSpPr>
        <p:spPr>
          <a:xfrm>
            <a:off x="1554479" y="2423160"/>
            <a:ext cx="4389120" cy="1920240"/>
          </a:xfrm>
          <a:prstGeom prst="rect">
            <a:avLst/>
          </a:prstGeom>
          <a:noFill/>
        </p:spPr>
        <p:txBody>
          <a:bodyPr wrap="square" lIns="0" tIns="0" rIns="0" bIns="0" anchor="t">
            <a:spAutoFit/>
          </a:bodyPr>
          <a:lstStyle/>
          <a:p>
            <a:pPr algn="l">
              <a:spcAft>
                <a:spcPts val="200"/>
              </a:spcAft>
            </a:pPr>
            <a:r>
              <a:rPr sz="4800" b="1">
                <a:solidFill>
                  <a:srgbClr val="2EC4F1"/>
                </a:solidFill>
                <a:latin typeface="Arial"/>
                <a:cs typeface="Nirmala UI"/>
              </a:rPr>
              <a:t>≈ 2 s</a:t>
            </a:r>
          </a:p>
          <a:p>
            <a:pPr algn="l">
              <a:spcAft>
                <a:spcPts val="600"/>
              </a:spcAft>
            </a:pPr>
            <a:r>
              <a:rPr sz="1800" b="1">
                <a:solidFill>
                  <a:srgbClr val="FFFFFF"/>
                </a:solidFill>
                <a:latin typeface="Arial"/>
                <a:cs typeface="Nirmala UI"/>
              </a:rPr>
              <a:t>SMS or link → spoken action card</a:t>
            </a:r>
          </a:p>
          <a:p>
            <a:pPr algn="l"/>
            <a:r>
              <a:rPr sz="1300" b="0">
                <a:solidFill>
                  <a:srgbClr val="8A98A3"/>
                </a:solidFill>
                <a:latin typeface="Arial"/>
                <a:cs typeface="Nirmala UI"/>
              </a:rPr>
              <a:t>timed on the live app, 8 Oct 2026</a:t>
            </a:r>
          </a:p>
        </p:txBody>
      </p:sp>
      <p:sp>
        <p:nvSpPr>
          <p:cNvPr id="7" name="Stat 2 card"/>
          <p:cNvSpPr/>
          <p:nvPr/>
        </p:nvSpPr>
        <p:spPr>
          <a:xfrm>
            <a:off x="6675119" y="2194560"/>
            <a:ext cx="4937760" cy="2286000"/>
          </a:xfrm>
          <a:prstGeom prst="roundRect">
            <a:avLst>
              <a:gd name="adj" fmla="val 8000"/>
            </a:avLst>
          </a:prstGeom>
          <a:solidFill>
            <a:srgbClr val="0E1A24"/>
          </a:solidFill>
          <a:ln w="15875">
            <a:solidFill>
              <a:srgbClr val="1232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Stat 2"/>
          <p:cNvSpPr txBox="1"/>
          <p:nvPr/>
        </p:nvSpPr>
        <p:spPr>
          <a:xfrm>
            <a:off x="6949439" y="2423160"/>
            <a:ext cx="4389120" cy="1920240"/>
          </a:xfrm>
          <a:prstGeom prst="rect">
            <a:avLst/>
          </a:prstGeom>
          <a:noFill/>
        </p:spPr>
        <p:txBody>
          <a:bodyPr wrap="square" lIns="0" tIns="0" rIns="0" bIns="0" anchor="t">
            <a:spAutoFit/>
          </a:bodyPr>
          <a:lstStyle/>
          <a:p>
            <a:pPr algn="l">
              <a:spcAft>
                <a:spcPts val="200"/>
              </a:spcAft>
            </a:pPr>
            <a:r>
              <a:rPr sz="4800" b="1">
                <a:solidFill>
                  <a:srgbClr val="2EC4F1"/>
                </a:solidFill>
                <a:latin typeface="Arial"/>
                <a:cs typeface="Nirmala UI"/>
              </a:rPr>
              <a:t>≈ 4 s</a:t>
            </a:r>
          </a:p>
          <a:p>
            <a:pPr algn="l">
              <a:spcAft>
                <a:spcPts val="600"/>
              </a:spcAft>
            </a:pPr>
            <a:r>
              <a:rPr sz="1800" b="1">
                <a:solidFill>
                  <a:srgbClr val="FFFFFF"/>
                </a:solidFill>
                <a:latin typeface="Arial"/>
                <a:cs typeface="Nirmala UI"/>
              </a:rPr>
              <a:t>Bill photo → card with verified ₹ and date</a:t>
            </a:r>
          </a:p>
          <a:p>
            <a:pPr algn="l"/>
            <a:r>
              <a:rPr sz="1300" b="0">
                <a:solidFill>
                  <a:srgbClr val="8A98A3"/>
                </a:solidFill>
                <a:latin typeface="Arial"/>
                <a:cs typeface="Nirmala UI"/>
              </a:rPr>
              <a:t>amount and date must appear in the print</a:t>
            </a:r>
          </a:p>
        </p:txBody>
      </p:sp>
      <p:sp>
        <p:nvSpPr>
          <p:cNvPr id="9" name="Stat 3 card"/>
          <p:cNvSpPr/>
          <p:nvPr/>
        </p:nvSpPr>
        <p:spPr>
          <a:xfrm>
            <a:off x="12070080" y="2194560"/>
            <a:ext cx="4937760" cy="2286000"/>
          </a:xfrm>
          <a:prstGeom prst="roundRect">
            <a:avLst>
              <a:gd name="adj" fmla="val 8000"/>
            </a:avLst>
          </a:prstGeom>
          <a:solidFill>
            <a:srgbClr val="0E1A24"/>
          </a:solidFill>
          <a:ln w="15875">
            <a:solidFill>
              <a:srgbClr val="1232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tat 3"/>
          <p:cNvSpPr txBox="1"/>
          <p:nvPr/>
        </p:nvSpPr>
        <p:spPr>
          <a:xfrm>
            <a:off x="12344400" y="2423160"/>
            <a:ext cx="4389120" cy="1920240"/>
          </a:xfrm>
          <a:prstGeom prst="rect">
            <a:avLst/>
          </a:prstGeom>
          <a:noFill/>
        </p:spPr>
        <p:txBody>
          <a:bodyPr wrap="square" lIns="0" tIns="0" rIns="0" bIns="0" anchor="t">
            <a:spAutoFit/>
          </a:bodyPr>
          <a:lstStyle/>
          <a:p>
            <a:pPr algn="l">
              <a:spcAft>
                <a:spcPts val="200"/>
              </a:spcAft>
            </a:pPr>
            <a:r>
              <a:rPr sz="4800" b="1">
                <a:solidFill>
                  <a:srgbClr val="2EC4F1"/>
                </a:solidFill>
                <a:latin typeface="Arial"/>
                <a:cs typeface="Nirmala UI"/>
              </a:rPr>
              <a:t>≈ 1.5 s</a:t>
            </a:r>
          </a:p>
          <a:p>
            <a:pPr algn="l">
              <a:spcAft>
                <a:spcPts val="600"/>
              </a:spcAft>
            </a:pPr>
            <a:r>
              <a:rPr sz="1800" b="1">
                <a:solidFill>
                  <a:srgbClr val="FFFFFF"/>
                </a:solidFill>
                <a:latin typeface="Arial"/>
                <a:cs typeface="Nirmala UI"/>
              </a:rPr>
              <a:t>until the voice starts speaking</a:t>
            </a:r>
          </a:p>
          <a:p>
            <a:pPr algn="l"/>
            <a:r>
              <a:rPr sz="1300" b="0">
                <a:solidFill>
                  <a:srgbClr val="8A98A3"/>
                </a:solidFill>
                <a:latin typeface="Arial"/>
                <a:cs typeface="Nirmala UI"/>
              </a:rPr>
              <a:t>first sentence first · Sarvam Bulbul v3</a:t>
            </a:r>
          </a:p>
        </p:txBody>
      </p:sp>
      <p:sp>
        <p:nvSpPr>
          <p:cNvPr id="11" name="Stat 4 card"/>
          <p:cNvSpPr/>
          <p:nvPr/>
        </p:nvSpPr>
        <p:spPr>
          <a:xfrm>
            <a:off x="1280159" y="4892040"/>
            <a:ext cx="4937760" cy="2286000"/>
          </a:xfrm>
          <a:prstGeom prst="roundRect">
            <a:avLst>
              <a:gd name="adj" fmla="val 8000"/>
            </a:avLst>
          </a:prstGeom>
          <a:solidFill>
            <a:srgbClr val="0E1A24"/>
          </a:solidFill>
          <a:ln w="15875">
            <a:solidFill>
              <a:srgbClr val="1232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tat 4"/>
          <p:cNvSpPr txBox="1"/>
          <p:nvPr/>
        </p:nvSpPr>
        <p:spPr>
          <a:xfrm>
            <a:off x="1554479" y="5120640"/>
            <a:ext cx="4389120" cy="1920240"/>
          </a:xfrm>
          <a:prstGeom prst="rect">
            <a:avLst/>
          </a:prstGeom>
          <a:noFill/>
        </p:spPr>
        <p:txBody>
          <a:bodyPr wrap="square" lIns="0" tIns="0" rIns="0" bIns="0" anchor="t">
            <a:spAutoFit/>
          </a:bodyPr>
          <a:lstStyle/>
          <a:p>
            <a:pPr algn="l">
              <a:spcAft>
                <a:spcPts val="200"/>
              </a:spcAft>
            </a:pPr>
            <a:r>
              <a:rPr sz="4800" b="1">
                <a:solidFill>
                  <a:srgbClr val="2EC4F1"/>
                </a:solidFill>
                <a:latin typeface="Arial"/>
                <a:cs typeface="Nirmala UI"/>
              </a:rPr>
              <a:t>4 / 4</a:t>
            </a:r>
          </a:p>
          <a:p>
            <a:pPr algn="l">
              <a:spcAft>
                <a:spcPts val="600"/>
              </a:spcAft>
            </a:pPr>
            <a:r>
              <a:rPr sz="1800" b="1">
                <a:solidFill>
                  <a:srgbClr val="FFFFFF"/>
                </a:solidFill>
                <a:latin typeface="Arial"/>
                <a:cs typeface="Nirmala UI"/>
              </a:rPr>
              <a:t>test scams caught · 0 real bank or govt SMS flagged</a:t>
            </a:r>
          </a:p>
          <a:p>
            <a:pPr algn="l"/>
            <a:r>
              <a:rPr sz="1300" b="0">
                <a:solidFill>
                  <a:srgbClr val="8A98A3"/>
                </a:solidFill>
                <a:latin typeface="Arial"/>
                <a:cs typeface="Nirmala UI"/>
              </a:rPr>
              <a:t>power-cut, KYC link, AnyDesk + OTP, lottery UPI</a:t>
            </a:r>
          </a:p>
        </p:txBody>
      </p:sp>
      <p:sp>
        <p:nvSpPr>
          <p:cNvPr id="13" name="Stat 5 card"/>
          <p:cNvSpPr/>
          <p:nvPr/>
        </p:nvSpPr>
        <p:spPr>
          <a:xfrm>
            <a:off x="6675119" y="4892040"/>
            <a:ext cx="4937760" cy="2286000"/>
          </a:xfrm>
          <a:prstGeom prst="roundRect">
            <a:avLst>
              <a:gd name="adj" fmla="val 8000"/>
            </a:avLst>
          </a:prstGeom>
          <a:solidFill>
            <a:srgbClr val="0E1A24"/>
          </a:solidFill>
          <a:ln w="15875">
            <a:solidFill>
              <a:srgbClr val="1232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tat 5"/>
          <p:cNvSpPr txBox="1"/>
          <p:nvPr/>
        </p:nvSpPr>
        <p:spPr>
          <a:xfrm>
            <a:off x="6949439" y="5120640"/>
            <a:ext cx="4389120" cy="1920240"/>
          </a:xfrm>
          <a:prstGeom prst="rect">
            <a:avLst/>
          </a:prstGeom>
          <a:noFill/>
        </p:spPr>
        <p:txBody>
          <a:bodyPr wrap="square" lIns="0" tIns="0" rIns="0" bIns="0" anchor="t">
            <a:spAutoFit/>
          </a:bodyPr>
          <a:lstStyle/>
          <a:p>
            <a:pPr algn="l">
              <a:spcAft>
                <a:spcPts val="200"/>
              </a:spcAft>
            </a:pPr>
            <a:r>
              <a:rPr sz="4800" b="1">
                <a:solidFill>
                  <a:srgbClr val="2EC4F1"/>
                </a:solidFill>
                <a:latin typeface="Arial"/>
                <a:cs typeface="Nirmala UI"/>
              </a:rPr>
              <a:t>58</a:t>
            </a:r>
          </a:p>
          <a:p>
            <a:pPr algn="l">
              <a:spcAft>
                <a:spcPts val="600"/>
              </a:spcAft>
            </a:pPr>
            <a:r>
              <a:rPr sz="1800" b="1">
                <a:solidFill>
                  <a:srgbClr val="FFFFFF"/>
                </a:solidFill>
                <a:latin typeface="Arial"/>
                <a:cs typeface="Nirmala UI"/>
              </a:rPr>
              <a:t>automated tests on the safety rules</a:t>
            </a:r>
          </a:p>
          <a:p>
            <a:pPr algn="l"/>
            <a:r>
              <a:rPr sz="1300" b="0">
                <a:solidFill>
                  <a:srgbClr val="8A98A3"/>
                </a:solidFill>
                <a:latin typeface="Arial"/>
                <a:cs typeface="Nirmala UI"/>
              </a:rPr>
              <a:t>rules run without AI, on the phone too</a:t>
            </a:r>
          </a:p>
        </p:txBody>
      </p:sp>
      <p:sp>
        <p:nvSpPr>
          <p:cNvPr id="15" name="Stat 6 card"/>
          <p:cNvSpPr/>
          <p:nvPr/>
        </p:nvSpPr>
        <p:spPr>
          <a:xfrm>
            <a:off x="12070080" y="4892040"/>
            <a:ext cx="4937760" cy="2286000"/>
          </a:xfrm>
          <a:prstGeom prst="roundRect">
            <a:avLst>
              <a:gd name="adj" fmla="val 8000"/>
            </a:avLst>
          </a:prstGeom>
          <a:solidFill>
            <a:srgbClr val="0E1A24"/>
          </a:solidFill>
          <a:ln w="15875">
            <a:solidFill>
              <a:srgbClr val="1232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tat 6"/>
          <p:cNvSpPr txBox="1"/>
          <p:nvPr/>
        </p:nvSpPr>
        <p:spPr>
          <a:xfrm>
            <a:off x="12344400" y="5120640"/>
            <a:ext cx="4389120" cy="1920240"/>
          </a:xfrm>
          <a:prstGeom prst="rect">
            <a:avLst/>
          </a:prstGeom>
          <a:noFill/>
        </p:spPr>
        <p:txBody>
          <a:bodyPr wrap="square" lIns="0" tIns="0" rIns="0" bIns="0" anchor="t">
            <a:spAutoFit/>
          </a:bodyPr>
          <a:lstStyle/>
          <a:p>
            <a:pPr algn="l">
              <a:spcAft>
                <a:spcPts val="200"/>
              </a:spcAft>
            </a:pPr>
            <a:r>
              <a:rPr sz="4800" b="1">
                <a:solidFill>
                  <a:srgbClr val="2EC4F1"/>
                </a:solidFill>
                <a:latin typeface="Arial"/>
                <a:cs typeface="Nirmala UI"/>
              </a:rPr>
              <a:t>3</a:t>
            </a:r>
          </a:p>
          <a:p>
            <a:pPr algn="l">
              <a:spcAft>
                <a:spcPts val="600"/>
              </a:spcAft>
            </a:pPr>
            <a:r>
              <a:rPr sz="1800" b="1">
                <a:solidFill>
                  <a:srgbClr val="FFFFFF"/>
                </a:solidFill>
                <a:latin typeface="Arial"/>
                <a:cs typeface="Nirmala UI"/>
              </a:rPr>
              <a:t>languages on every screen, voice and sample</a:t>
            </a:r>
          </a:p>
          <a:p>
            <a:pPr algn="l"/>
            <a:r>
              <a:rPr sz="1300" b="0">
                <a:solidFill>
                  <a:srgbClr val="8A98A3"/>
                </a:solidFill>
                <a:latin typeface="Arial"/>
                <a:cs typeface="Nirmala UI"/>
              </a:rPr>
              <a:t>मराठी · हिंदी · English</a:t>
            </a:r>
          </a:p>
        </p:txBody>
      </p:sp>
      <p:sp>
        <p:nvSpPr>
          <p:cNvPr id="17" name="Rule line"/>
          <p:cNvSpPr txBox="1"/>
          <p:nvPr/>
        </p:nvSpPr>
        <p:spPr>
          <a:xfrm>
            <a:off x="1280160" y="7543800"/>
            <a:ext cx="15727680" cy="822960"/>
          </a:xfrm>
          <a:prstGeom prst="rect">
            <a:avLst/>
          </a:prstGeom>
          <a:noFill/>
        </p:spPr>
        <p:txBody>
          <a:bodyPr wrap="square" lIns="0" tIns="0" rIns="0" bIns="0" anchor="t">
            <a:spAutoFit/>
          </a:bodyPr>
          <a:lstStyle/>
          <a:p>
            <a:pPr algn="ctr"/>
            <a:r>
              <a:rPr sz="1800" b="1">
                <a:solidFill>
                  <a:srgbClr val="FFFFFF"/>
                </a:solidFill>
                <a:latin typeface="Arial"/>
                <a:cs typeface="Nirmala UI"/>
              </a:rPr>
              <a:t>Never guesses with money or medicine. </a:t>
            </a:r>
            <a:r>
              <a:rPr sz="1600" b="0">
                <a:solidFill>
                  <a:srgbClr val="8CB3E3"/>
                </a:solidFill>
                <a:latin typeface="Arial"/>
                <a:cs typeface="Nirmala UI"/>
              </a:rPr>
              <a:t>When unsure, it says “हे साफ दिसत नाही, कृपया कुणालातरी विचारा” (this is not clear, please ask someone).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109671"/>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3"/>
              <a:stretch>
                <a:fillRect t="-80500" r="-3713" b="-80500"/>
              </a:stretch>
            </a:blipFill>
          </p:spPr>
        </p:sp>
      </p:grpSp>
      <p:sp>
        <p:nvSpPr>
          <p:cNvPr id="4" name="TextBox 4"/>
          <p:cNvSpPr txBox="1"/>
          <p:nvPr/>
        </p:nvSpPr>
        <p:spPr>
          <a:xfrm>
            <a:off x="714823" y="1068124"/>
            <a:ext cx="4428601" cy="918372"/>
          </a:xfrm>
          <a:prstGeom prst="rect">
            <a:avLst/>
          </a:prstGeom>
        </p:spPr>
        <p:txBody>
          <a:bodyPr lIns="0" tIns="0" rIns="0" bIns="0" rtlCol="0" anchor="t">
            <a:spAutoFit/>
          </a:bodyPr>
          <a:lstStyle/>
          <a:p>
            <a:pPr algn="l">
              <a:lnSpc>
                <a:spcPts val="7256"/>
              </a:lnSpc>
            </a:pPr>
            <a:r>
              <a:rPr lang="en-US" sz="5039">
                <a:solidFill>
                  <a:srgbClr val="FFFFFF"/>
                </a:solidFill>
                <a:latin typeface="Arial"/>
                <a:ea typeface="Arial"/>
                <a:cs typeface="Arial"/>
                <a:sym typeface="Arial"/>
              </a:rPr>
              <a:t>Tech Stack </a:t>
            </a:r>
          </a:p>
        </p:txBody>
      </p:sp>
      <p:sp>
        <p:nvSpPr>
          <p:cNvPr id="5" name="TextBox 5"/>
          <p:cNvSpPr txBox="1"/>
          <p:nvPr/>
        </p:nvSpPr>
        <p:spPr>
          <a:xfrm>
            <a:off x="10207809" y="1068124"/>
            <a:ext cx="4428601" cy="849207"/>
          </a:xfrm>
          <a:prstGeom prst="rect">
            <a:avLst/>
          </a:prstGeom>
        </p:spPr>
        <p:txBody>
          <a:bodyPr lIns="0" tIns="0" rIns="0" bIns="0" rtlCol="0" anchor="t">
            <a:spAutoFit/>
          </a:bodyPr>
          <a:lstStyle/>
          <a:p>
            <a:pPr algn="l">
              <a:lnSpc>
                <a:spcPts val="7256"/>
              </a:lnSpc>
            </a:pPr>
            <a:r>
              <a:rPr lang="en-US" sz="5039">
                <a:solidFill>
                  <a:srgbClr val="FFFFFF"/>
                </a:solidFill>
                <a:latin typeface="Arial"/>
                <a:ea typeface="Arial"/>
                <a:cs typeface="Arial"/>
                <a:sym typeface="Arial"/>
              </a:rPr>
              <a:t>Architecture</a:t>
            </a:r>
          </a:p>
        </p:txBody>
      </p:sp>
      <p:sp>
        <p:nvSpPr>
          <p:cNvPr id="6" name="TextBox 5">
            <a:extLst>
              <a:ext uri="{FF2B5EF4-FFF2-40B4-BE49-F238E27FC236}">
                <a16:creationId xmlns:a16="http://schemas.microsoft.com/office/drawing/2014/main" id="{9A31C68E-E016-61F3-DAB4-091F86A11138}"/>
              </a:ext>
            </a:extLst>
          </p:cNvPr>
          <p:cNvSpPr txBox="1"/>
          <p:nvPr/>
        </p:nvSpPr>
        <p:spPr>
          <a:xfrm>
            <a:off x="1280160" y="2103120"/>
            <a:ext cx="7863840" cy="369332"/>
          </a:xfrm>
          <a:prstGeom prst="rect">
            <a:avLst/>
          </a:prstGeom>
          <a:noFill/>
        </p:spPr>
        <p:txBody>
          <a:bodyPr vert="horz" wrap="square" lIns="0" tIns="0" rIns="0" bIns="0" rtlCol="0">
            <a:noAutofit/>
          </a:bodyPr>
          <a:lstStyle/>
          <a:p>
            <a:pPr>
              <a:spcAft>
                <a:spcPts val="100"/>
              </a:spcAft>
            </a:pPr>
            <a:r>
              <a:rPr lang="en-US" sz="1900" b="1">
                <a:solidFill>
                  <a:srgbClr val="2EC4F1"/>
                </a:solidFill>
                <a:latin typeface="Arial" panose="020B0604020202020204" pitchFamily="34" charset="0"/>
                <a:cs typeface="Nirmala UI" panose="020B0502040204020203" pitchFamily="34" charset="0"/>
              </a:rPr>
              <a:t>🧠 AI</a:t>
            </a:r>
          </a:p>
          <a:p>
            <a:pPr>
              <a:spcAft>
                <a:spcPts val="1200"/>
              </a:spcAft>
            </a:pPr>
            <a:r>
              <a:rPr lang="en-US" sz="1600">
                <a:solidFill>
                  <a:srgbClr val="FFFFFF"/>
                </a:solidFill>
                <a:latin typeface="Arial" panose="020B0604020202020204" pitchFamily="34" charset="0"/>
                <a:cs typeface="Nirmala UI" panose="020B0502040204020203" pitchFamily="34" charset="0"/>
              </a:rPr>
              <a:t>Gemini 3.8 Flash vision → strict JSON schema · 4-model fallback chain</a:t>
            </a:r>
          </a:p>
          <a:p>
            <a:pPr>
              <a:spcAft>
                <a:spcPts val="100"/>
              </a:spcAft>
            </a:pPr>
            <a:r>
              <a:rPr lang="en-US" sz="1900" b="1">
                <a:solidFill>
                  <a:srgbClr val="2EC4F1"/>
                </a:solidFill>
                <a:latin typeface="Arial" panose="020B0604020202020204" pitchFamily="34" charset="0"/>
                <a:cs typeface="Nirmala UI" panose="020B0502040204020203" pitchFamily="34" charset="0"/>
              </a:rPr>
              <a:t>🔊 Voice</a:t>
            </a:r>
          </a:p>
          <a:p>
            <a:pPr>
              <a:spcAft>
                <a:spcPts val="1200"/>
              </a:spcAft>
            </a:pPr>
            <a:r>
              <a:rPr lang="en-US" sz="1600">
                <a:solidFill>
                  <a:srgbClr val="FFFFFF"/>
                </a:solidFill>
                <a:latin typeface="Arial" panose="020B0604020202020204" pitchFamily="34" charset="0"/>
                <a:cs typeface="Nirmala UI" panose="020B0502040204020203" pitchFamily="34" charset="0"/>
              </a:rPr>
              <a:t>Sarvam AI Bulbul v3 (Indian voices) · speaks in ~1.5 s · Gemini TTS backup · offline clips</a:t>
            </a:r>
          </a:p>
          <a:p>
            <a:pPr>
              <a:spcAft>
                <a:spcPts val="100"/>
              </a:spcAft>
            </a:pPr>
            <a:r>
              <a:rPr lang="en-US" sz="1900" b="1">
                <a:solidFill>
                  <a:srgbClr val="2EC4F1"/>
                </a:solidFill>
                <a:latin typeface="Arial" panose="020B0604020202020204" pitchFamily="34" charset="0"/>
                <a:cs typeface="Nirmala UI" panose="020B0502040204020203" pitchFamily="34" charset="0"/>
              </a:rPr>
              <a:t>📱 Edge / Offline</a:t>
            </a:r>
          </a:p>
          <a:p>
            <a:pPr>
              <a:spcAft>
                <a:spcPts val="1200"/>
              </a:spcAft>
            </a:pPr>
            <a:r>
              <a:rPr lang="en-US" sz="1600">
                <a:solidFill>
                  <a:srgbClr val="FFFFFF"/>
                </a:solidFill>
                <a:latin typeface="Arial" panose="020B0604020202020204" pitchFamily="34" charset="0"/>
                <a:cs typeface="Nirmala UI" panose="020B0502040204020203" pitchFamily="34" charset="0"/>
              </a:rPr>
              <a:t>Tesseract.js OCR · same rule engine bundled in the browser · 50-medicine directory</a:t>
            </a:r>
          </a:p>
          <a:p>
            <a:pPr>
              <a:spcAft>
                <a:spcPts val="100"/>
              </a:spcAft>
            </a:pPr>
            <a:r>
              <a:rPr lang="en-US" sz="1900" b="1">
                <a:solidFill>
                  <a:srgbClr val="2EC4F1"/>
                </a:solidFill>
                <a:latin typeface="Arial" panose="020B0604020202020204" pitchFamily="34" charset="0"/>
                <a:cs typeface="Nirmala UI" panose="020B0502040204020203" pitchFamily="34" charset="0"/>
              </a:rPr>
              <a:t>🛡️ Safety layer (no AI)</a:t>
            </a:r>
          </a:p>
          <a:p>
            <a:pPr>
              <a:spcAft>
                <a:spcPts val="1200"/>
              </a:spcAft>
            </a:pPr>
            <a:r>
              <a:rPr lang="en-US" sz="1600">
                <a:solidFill>
                  <a:srgbClr val="FFFFFF"/>
                </a:solidFill>
                <a:latin typeface="Arial" panose="020B0604020202020204" pitchFamily="34" charset="0"/>
                <a:cs typeface="Nirmala UI" panose="020B0502040204020203" pitchFamily="34" charset="0"/>
              </a:rPr>
              <a:t>Scam shield, expiry, amount/date verification, Levenshtein 2-engine consensus</a:t>
            </a:r>
          </a:p>
          <a:p>
            <a:pPr>
              <a:spcAft>
                <a:spcPts val="100"/>
              </a:spcAft>
            </a:pPr>
            <a:r>
              <a:rPr lang="en-US" sz="1900" b="1">
                <a:solidFill>
                  <a:srgbClr val="2EC4F1"/>
                </a:solidFill>
                <a:latin typeface="Arial" panose="020B0604020202020204" pitchFamily="34" charset="0"/>
                <a:cs typeface="Nirmala UI" panose="020B0502040204020203" pitchFamily="34" charset="0"/>
              </a:rPr>
              <a:t>⚙️ Backend</a:t>
            </a:r>
          </a:p>
          <a:p>
            <a:pPr>
              <a:spcAft>
                <a:spcPts val="1200"/>
              </a:spcAft>
            </a:pPr>
            <a:r>
              <a:rPr lang="en-US" sz="1600">
                <a:solidFill>
                  <a:srgbClr val="FFFFFF"/>
                </a:solidFill>
                <a:latin typeface="Arial" panose="020B0604020202020204" pitchFamily="34" charset="0"/>
                <a:cs typeface="Nirmala UI" panose="020B0502040204020203" pitchFamily="34" charset="0"/>
              </a:rPr>
              <a:t>Node.js serverless on Vercel (Mumbai) · zero dependencies · 58 automated tests</a:t>
            </a:r>
          </a:p>
          <a:p>
            <a:pPr>
              <a:spcAft>
                <a:spcPts val="100"/>
              </a:spcAft>
            </a:pPr>
            <a:r>
              <a:rPr lang="en-US" sz="1900" b="1">
                <a:solidFill>
                  <a:srgbClr val="2EC4F1"/>
                </a:solidFill>
                <a:latin typeface="Arial" panose="020B0604020202020204" pitchFamily="34" charset="0"/>
                <a:cs typeface="Nirmala UI" panose="020B0502040204020203" pitchFamily="34" charset="0"/>
              </a:rPr>
              <a:t>🎨 Frontend</a:t>
            </a:r>
          </a:p>
          <a:p>
            <a:pPr>
              <a:spcAft>
                <a:spcPts val="1200"/>
              </a:spcAft>
            </a:pPr>
            <a:r>
              <a:rPr lang="en-US" sz="1600">
                <a:solidFill>
                  <a:srgbClr val="FFFFFF"/>
                </a:solidFill>
                <a:latin typeface="Arial" panose="020B0604020202020204" pitchFamily="34" charset="0"/>
                <a:cs typeface="Nirmala UI" panose="020B0502040204020203" pitchFamily="34" charset="0"/>
              </a:rPr>
              <a:t>React PWA · Web Share Target, Vibration and camera-torch APIs</a:t>
            </a:r>
          </a:p>
        </p:txBody>
      </p:sp>
      <p:sp>
        <p:nvSpPr>
          <p:cNvPr id="7" name="Rectangle: Rounded Corners 6">
            <a:extLst>
              <a:ext uri="{FF2B5EF4-FFF2-40B4-BE49-F238E27FC236}">
                <a16:creationId xmlns:a16="http://schemas.microsoft.com/office/drawing/2014/main" id="{A01EFF1B-31CE-C9AA-B17A-7E85462CD8BF}"/>
              </a:ext>
            </a:extLst>
          </p:cNvPr>
          <p:cNvSpPr/>
          <p:nvPr/>
        </p:nvSpPr>
        <p:spPr>
          <a:xfrm>
            <a:off x="9692640" y="2103120"/>
            <a:ext cx="7040881" cy="685800"/>
          </a:xfrm>
          <a:prstGeom prst="roundRect">
            <a:avLst>
              <a:gd name="adj" fmla="val 8000"/>
            </a:avLst>
          </a:prstGeom>
          <a:solidFill>
            <a:srgbClr val="0E1A24"/>
          </a:solidFill>
          <a:ln w="15875">
            <a:solidFill>
              <a:srgbClr val="2EC4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0DB4749-6EE1-95D6-6114-ACBC57F37B76}"/>
              </a:ext>
            </a:extLst>
          </p:cNvPr>
          <p:cNvSpPr txBox="1"/>
          <p:nvPr/>
        </p:nvSpPr>
        <p:spPr>
          <a:xfrm>
            <a:off x="9802368" y="2194560"/>
            <a:ext cx="6821424" cy="369332"/>
          </a:xfrm>
          <a:prstGeom prst="rect">
            <a:avLst/>
          </a:prstGeom>
          <a:noFill/>
        </p:spPr>
        <p:txBody>
          <a:bodyPr vert="horz" wrap="square" lIns="0" tIns="0" rIns="0" bIns="0" rtlCol="0">
            <a:noAutofit/>
          </a:bodyPr>
          <a:lstStyle/>
          <a:p>
            <a:pPr algn="ctr">
              <a:spcAft>
                <a:spcPts val="400"/>
              </a:spcAft>
            </a:pPr>
            <a:r>
              <a:rPr lang="en-US" sz="1500" b="1">
                <a:solidFill>
                  <a:srgbClr val="FFFFFF"/>
                </a:solidFill>
                <a:latin typeface="Arial" panose="020B0604020202020204" pitchFamily="34" charset="0"/>
                <a:cs typeface="Nirmala UI" panose="020B0502040204020203" pitchFamily="34" charset="0"/>
              </a:rPr>
              <a:t>📱 Phone: camera · screenshot · PDF · SMS · link</a:t>
            </a:r>
          </a:p>
        </p:txBody>
      </p:sp>
      <p:cxnSp>
        <p:nvCxnSpPr>
          <p:cNvPr id="9" name="Straight Arrow Connector 8">
            <a:extLst>
              <a:ext uri="{FF2B5EF4-FFF2-40B4-BE49-F238E27FC236}">
                <a16:creationId xmlns:a16="http://schemas.microsoft.com/office/drawing/2014/main" id="{A0E2142A-556D-9194-89C2-EF695C0B35C8}"/>
              </a:ext>
            </a:extLst>
          </p:cNvPr>
          <p:cNvCxnSpPr/>
          <p:nvPr/>
        </p:nvCxnSpPr>
        <p:spPr>
          <a:xfrm>
            <a:off x="11338560" y="2788920"/>
            <a:ext cx="0" cy="411480"/>
          </a:xfrm>
          <a:prstGeom prst="straightConnector1">
            <a:avLst/>
          </a:prstGeom>
          <a:ln w="25400">
            <a:solidFill>
              <a:srgbClr val="2EC4F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1460C943-21AE-3BF1-2617-B9544E5ED93B}"/>
              </a:ext>
            </a:extLst>
          </p:cNvPr>
          <p:cNvCxnSpPr/>
          <p:nvPr/>
        </p:nvCxnSpPr>
        <p:spPr>
          <a:xfrm>
            <a:off x="15087600" y="2788920"/>
            <a:ext cx="0" cy="411480"/>
          </a:xfrm>
          <a:prstGeom prst="straightConnector1">
            <a:avLst/>
          </a:prstGeom>
          <a:ln w="25400">
            <a:solidFill>
              <a:srgbClr val="2EC4F1"/>
            </a:solidFill>
            <a:tailEnd type="triangle"/>
          </a:ln>
        </p:spPr>
        <p:style>
          <a:lnRef idx="1">
            <a:schemeClr val="accent1"/>
          </a:lnRef>
          <a:fillRef idx="0">
            <a:schemeClr val="accent1"/>
          </a:fillRef>
          <a:effectRef idx="0">
            <a:schemeClr val="accent1"/>
          </a:effectRef>
          <a:fontRef idx="minor">
            <a:schemeClr val="tx1"/>
          </a:fontRef>
        </p:style>
      </p:cxnSp>
      <p:sp>
        <p:nvSpPr>
          <p:cNvPr id="11" name="Rectangle: Rounded Corners 10">
            <a:extLst>
              <a:ext uri="{FF2B5EF4-FFF2-40B4-BE49-F238E27FC236}">
                <a16:creationId xmlns:a16="http://schemas.microsoft.com/office/drawing/2014/main" id="{F54153B1-3719-B2AF-CA8E-FF979284EBE9}"/>
              </a:ext>
            </a:extLst>
          </p:cNvPr>
          <p:cNvSpPr/>
          <p:nvPr/>
        </p:nvSpPr>
        <p:spPr>
          <a:xfrm>
            <a:off x="9692640" y="3200400"/>
            <a:ext cx="3291840" cy="914400"/>
          </a:xfrm>
          <a:prstGeom prst="roundRect">
            <a:avLst>
              <a:gd name="adj" fmla="val 8000"/>
            </a:avLst>
          </a:prstGeom>
          <a:solidFill>
            <a:srgbClr val="0E1A24"/>
          </a:solidFill>
          <a:ln w="15875">
            <a:solidFill>
              <a:srgbClr val="2EC4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6D7241-1A40-0F60-90B1-BFA0783AD9D5}"/>
              </a:ext>
            </a:extLst>
          </p:cNvPr>
          <p:cNvSpPr txBox="1"/>
          <p:nvPr/>
        </p:nvSpPr>
        <p:spPr>
          <a:xfrm>
            <a:off x="9802368" y="3291840"/>
            <a:ext cx="3072384" cy="369332"/>
          </a:xfrm>
          <a:prstGeom prst="rect">
            <a:avLst/>
          </a:prstGeom>
          <a:noFill/>
        </p:spPr>
        <p:txBody>
          <a:bodyPr vert="horz" wrap="square" lIns="0" tIns="0" rIns="0" bIns="0" rtlCol="0">
            <a:noAutofit/>
          </a:bodyPr>
          <a:lstStyle/>
          <a:p>
            <a:pPr algn="ctr"/>
            <a:r>
              <a:rPr lang="en-US" sz="1500" b="1">
                <a:solidFill>
                  <a:srgbClr val="FFFFFF"/>
                </a:solidFill>
                <a:latin typeface="Arial" panose="020B0604020202020204" pitchFamily="34" charset="0"/>
                <a:cs typeface="Nirmala UI" panose="020B0502040204020203" pitchFamily="34" charset="0"/>
              </a:rPr>
              <a:t>Tesseract.js OCR</a:t>
            </a:r>
          </a:p>
          <a:p>
            <a:pPr algn="ctr">
              <a:spcAft>
                <a:spcPts val="400"/>
              </a:spcAft>
            </a:pPr>
            <a:r>
              <a:rPr lang="en-US" sz="1200">
                <a:solidFill>
                  <a:srgbClr val="B8C4CC"/>
                </a:solidFill>
                <a:latin typeface="Arial" panose="020B0604020202020204" pitchFamily="34" charset="0"/>
                <a:cs typeface="Nirmala UI" panose="020B0502040204020203" pitchFamily="34" charset="0"/>
              </a:rPr>
              <a:t>on the phone</a:t>
            </a:r>
          </a:p>
        </p:txBody>
      </p:sp>
      <p:sp>
        <p:nvSpPr>
          <p:cNvPr id="13" name="Rectangle: Rounded Corners 12">
            <a:extLst>
              <a:ext uri="{FF2B5EF4-FFF2-40B4-BE49-F238E27FC236}">
                <a16:creationId xmlns:a16="http://schemas.microsoft.com/office/drawing/2014/main" id="{4757E337-ACE0-6061-1E4B-DBF53242F708}"/>
              </a:ext>
            </a:extLst>
          </p:cNvPr>
          <p:cNvSpPr/>
          <p:nvPr/>
        </p:nvSpPr>
        <p:spPr>
          <a:xfrm>
            <a:off x="13441680" y="3200400"/>
            <a:ext cx="3291841" cy="914400"/>
          </a:xfrm>
          <a:prstGeom prst="roundRect">
            <a:avLst>
              <a:gd name="adj" fmla="val 8000"/>
            </a:avLst>
          </a:prstGeom>
          <a:solidFill>
            <a:srgbClr val="0E1A24"/>
          </a:solidFill>
          <a:ln w="15875">
            <a:solidFill>
              <a:srgbClr val="2EC4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DF3C710-FA25-5667-CD8D-251407086C5B}"/>
              </a:ext>
            </a:extLst>
          </p:cNvPr>
          <p:cNvSpPr txBox="1"/>
          <p:nvPr/>
        </p:nvSpPr>
        <p:spPr>
          <a:xfrm>
            <a:off x="13551408" y="3291840"/>
            <a:ext cx="3072384" cy="369332"/>
          </a:xfrm>
          <a:prstGeom prst="rect">
            <a:avLst/>
          </a:prstGeom>
          <a:noFill/>
        </p:spPr>
        <p:txBody>
          <a:bodyPr vert="horz" wrap="square" lIns="0" tIns="0" rIns="0" bIns="0" rtlCol="0">
            <a:noAutofit/>
          </a:bodyPr>
          <a:lstStyle/>
          <a:p>
            <a:pPr algn="ctr"/>
            <a:r>
              <a:rPr lang="en-US" sz="1500" b="1">
                <a:solidFill>
                  <a:srgbClr val="FFFFFF"/>
                </a:solidFill>
                <a:latin typeface="Arial" panose="020B0604020202020204" pitchFamily="34" charset="0"/>
                <a:cs typeface="Nirmala UI" panose="020B0502040204020203" pitchFamily="34" charset="0"/>
              </a:rPr>
              <a:t>Gemini 3.8 Flash</a:t>
            </a:r>
          </a:p>
          <a:p>
            <a:pPr algn="ctr">
              <a:spcAft>
                <a:spcPts val="400"/>
              </a:spcAft>
            </a:pPr>
            <a:r>
              <a:rPr lang="en-US" sz="1200">
                <a:solidFill>
                  <a:srgbClr val="B8C4CC"/>
                </a:solidFill>
                <a:latin typeface="Arial" panose="020B0604020202020204" pitchFamily="34" charset="0"/>
                <a:cs typeface="Nirmala UI" panose="020B0502040204020203" pitchFamily="34" charset="0"/>
              </a:rPr>
              <a:t>vision → JSON card</a:t>
            </a:r>
          </a:p>
        </p:txBody>
      </p:sp>
      <p:cxnSp>
        <p:nvCxnSpPr>
          <p:cNvPr id="15" name="Straight Arrow Connector 14">
            <a:extLst>
              <a:ext uri="{FF2B5EF4-FFF2-40B4-BE49-F238E27FC236}">
                <a16:creationId xmlns:a16="http://schemas.microsoft.com/office/drawing/2014/main" id="{F90A573B-E3E4-8B5A-85F9-819FC4707D80}"/>
              </a:ext>
            </a:extLst>
          </p:cNvPr>
          <p:cNvCxnSpPr/>
          <p:nvPr/>
        </p:nvCxnSpPr>
        <p:spPr>
          <a:xfrm>
            <a:off x="11338560" y="4114800"/>
            <a:ext cx="0" cy="457200"/>
          </a:xfrm>
          <a:prstGeom prst="straightConnector1">
            <a:avLst/>
          </a:prstGeom>
          <a:ln w="25400">
            <a:solidFill>
              <a:srgbClr val="8CB3E3"/>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25BA8FDA-A731-F093-ABA1-7257D267E578}"/>
              </a:ext>
            </a:extLst>
          </p:cNvPr>
          <p:cNvCxnSpPr/>
          <p:nvPr/>
        </p:nvCxnSpPr>
        <p:spPr>
          <a:xfrm>
            <a:off x="15087600" y="4114800"/>
            <a:ext cx="0" cy="457200"/>
          </a:xfrm>
          <a:prstGeom prst="straightConnector1">
            <a:avLst/>
          </a:prstGeom>
          <a:ln w="25400">
            <a:solidFill>
              <a:srgbClr val="2EC4F1"/>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1398BB02-A6E8-6D4E-0F7C-92AA054F48B2}"/>
              </a:ext>
            </a:extLst>
          </p:cNvPr>
          <p:cNvSpPr txBox="1"/>
          <p:nvPr/>
        </p:nvSpPr>
        <p:spPr>
          <a:xfrm>
            <a:off x="11475720" y="4187952"/>
            <a:ext cx="2011680" cy="369332"/>
          </a:xfrm>
          <a:prstGeom prst="rect">
            <a:avLst/>
          </a:prstGeom>
          <a:noFill/>
        </p:spPr>
        <p:txBody>
          <a:bodyPr vert="horz" wrap="square" lIns="0" tIns="0" rIns="0" bIns="0" rtlCol="0">
            <a:noAutofit/>
          </a:bodyPr>
          <a:lstStyle/>
          <a:p>
            <a:pPr>
              <a:spcAft>
                <a:spcPts val="400"/>
              </a:spcAft>
            </a:pPr>
            <a:r>
              <a:rPr lang="en-US" sz="1000">
                <a:solidFill>
                  <a:srgbClr val="8A98A3"/>
                </a:solidFill>
                <a:latin typeface="Arial" panose="020B0604020202020204" pitchFamily="34" charset="0"/>
                <a:cs typeface="Nirmala UI" panose="020B0502040204020203" pitchFamily="34" charset="0"/>
              </a:rPr>
              <a:t>cross-check · offline</a:t>
            </a:r>
          </a:p>
        </p:txBody>
      </p:sp>
      <p:sp>
        <p:nvSpPr>
          <p:cNvPr id="18" name="Rectangle: Rounded Corners 17">
            <a:extLst>
              <a:ext uri="{FF2B5EF4-FFF2-40B4-BE49-F238E27FC236}">
                <a16:creationId xmlns:a16="http://schemas.microsoft.com/office/drawing/2014/main" id="{61A40899-D76B-911A-E3C4-E31C672E3A21}"/>
              </a:ext>
            </a:extLst>
          </p:cNvPr>
          <p:cNvSpPr/>
          <p:nvPr/>
        </p:nvSpPr>
        <p:spPr>
          <a:xfrm>
            <a:off x="9692640" y="4572000"/>
            <a:ext cx="7040881" cy="1234440"/>
          </a:xfrm>
          <a:prstGeom prst="roundRect">
            <a:avLst>
              <a:gd name="adj" fmla="val 8000"/>
            </a:avLst>
          </a:prstGeom>
          <a:solidFill>
            <a:srgbClr val="12324A"/>
          </a:solidFill>
          <a:ln w="15875">
            <a:solidFill>
              <a:srgbClr val="2EC4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F2A1A84F-2066-125D-4684-0A561E812393}"/>
              </a:ext>
            </a:extLst>
          </p:cNvPr>
          <p:cNvSpPr txBox="1"/>
          <p:nvPr/>
        </p:nvSpPr>
        <p:spPr>
          <a:xfrm>
            <a:off x="9802368" y="4663440"/>
            <a:ext cx="6821424" cy="369332"/>
          </a:xfrm>
          <a:prstGeom prst="rect">
            <a:avLst/>
          </a:prstGeom>
          <a:noFill/>
        </p:spPr>
        <p:txBody>
          <a:bodyPr vert="horz" wrap="square" lIns="0" tIns="0" rIns="0" bIns="0" rtlCol="0">
            <a:noAutofit/>
          </a:bodyPr>
          <a:lstStyle/>
          <a:p>
            <a:pPr algn="ctr">
              <a:spcAft>
                <a:spcPts val="200"/>
              </a:spcAft>
            </a:pPr>
            <a:r>
              <a:rPr lang="en-US" sz="1600" b="1">
                <a:solidFill>
                  <a:srgbClr val="2EC4F1"/>
                </a:solidFill>
                <a:latin typeface="Arial" panose="020B0604020202020204" pitchFamily="34" charset="0"/>
                <a:cs typeface="Nirmala UI" panose="020B0502040204020203" pitchFamily="34" charset="0"/>
              </a:rPr>
              <a:t>🛡️ Rule Engine (no AI)</a:t>
            </a:r>
          </a:p>
          <a:p>
            <a:pPr algn="ctr">
              <a:spcAft>
                <a:spcPts val="400"/>
              </a:spcAft>
            </a:pPr>
            <a:r>
              <a:rPr lang="en-US" sz="1300">
                <a:solidFill>
                  <a:srgbClr val="FFFFFF"/>
                </a:solidFill>
                <a:latin typeface="Arial" panose="020B0604020202020204" pitchFamily="34" charset="0"/>
                <a:cs typeface="Nirmala UI" panose="020B0502040204020203" pitchFamily="34" charset="0"/>
              </a:rPr>
              <a:t>amount &amp; date check · 2-engine consensus · expiry · scam shield · bill spike · confidence</a:t>
            </a:r>
          </a:p>
        </p:txBody>
      </p:sp>
      <p:cxnSp>
        <p:nvCxnSpPr>
          <p:cNvPr id="20" name="Straight Arrow Connector 19">
            <a:extLst>
              <a:ext uri="{FF2B5EF4-FFF2-40B4-BE49-F238E27FC236}">
                <a16:creationId xmlns:a16="http://schemas.microsoft.com/office/drawing/2014/main" id="{2715A79A-ED94-56CD-B29D-C96289097F6D}"/>
              </a:ext>
            </a:extLst>
          </p:cNvPr>
          <p:cNvCxnSpPr/>
          <p:nvPr/>
        </p:nvCxnSpPr>
        <p:spPr>
          <a:xfrm>
            <a:off x="13213080" y="5806440"/>
            <a:ext cx="0" cy="365760"/>
          </a:xfrm>
          <a:prstGeom prst="straightConnector1">
            <a:avLst/>
          </a:prstGeom>
          <a:ln w="25400">
            <a:solidFill>
              <a:srgbClr val="2EC4F1"/>
            </a:solidFill>
            <a:tailEnd type="triangle"/>
          </a:ln>
        </p:spPr>
        <p:style>
          <a:lnRef idx="1">
            <a:schemeClr val="accent1"/>
          </a:lnRef>
          <a:fillRef idx="0">
            <a:schemeClr val="accent1"/>
          </a:fillRef>
          <a:effectRef idx="0">
            <a:schemeClr val="accent1"/>
          </a:effectRef>
          <a:fontRef idx="minor">
            <a:schemeClr val="tx1"/>
          </a:fontRef>
        </p:style>
      </p:cxnSp>
      <p:sp>
        <p:nvSpPr>
          <p:cNvPr id="21" name="Rectangle: Rounded Corners 20">
            <a:extLst>
              <a:ext uri="{FF2B5EF4-FFF2-40B4-BE49-F238E27FC236}">
                <a16:creationId xmlns:a16="http://schemas.microsoft.com/office/drawing/2014/main" id="{2E084635-C881-568B-F5C9-2473F06F0D14}"/>
              </a:ext>
            </a:extLst>
          </p:cNvPr>
          <p:cNvSpPr/>
          <p:nvPr/>
        </p:nvSpPr>
        <p:spPr>
          <a:xfrm>
            <a:off x="11155680" y="6172200"/>
            <a:ext cx="4114800" cy="685800"/>
          </a:xfrm>
          <a:prstGeom prst="roundRect">
            <a:avLst>
              <a:gd name="adj" fmla="val 8000"/>
            </a:avLst>
          </a:prstGeom>
          <a:solidFill>
            <a:srgbClr val="0E1A24"/>
          </a:solidFill>
          <a:ln w="15875">
            <a:solidFill>
              <a:srgbClr val="2EC4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19DC2EAC-47F5-D950-9C21-BA303680BAC3}"/>
              </a:ext>
            </a:extLst>
          </p:cNvPr>
          <p:cNvSpPr txBox="1"/>
          <p:nvPr/>
        </p:nvSpPr>
        <p:spPr>
          <a:xfrm>
            <a:off x="11265408" y="6263640"/>
            <a:ext cx="3895344" cy="369332"/>
          </a:xfrm>
          <a:prstGeom prst="rect">
            <a:avLst/>
          </a:prstGeom>
          <a:noFill/>
        </p:spPr>
        <p:txBody>
          <a:bodyPr vert="horz" wrap="square" lIns="0" tIns="0" rIns="0" bIns="0" rtlCol="0">
            <a:noAutofit/>
          </a:bodyPr>
          <a:lstStyle/>
          <a:p>
            <a:pPr algn="ctr">
              <a:spcAft>
                <a:spcPts val="400"/>
              </a:spcAft>
            </a:pPr>
            <a:r>
              <a:rPr lang="en-US" sz="1500" b="1">
                <a:solidFill>
                  <a:srgbClr val="FFFFFF"/>
                </a:solidFill>
                <a:latin typeface="Arial" panose="020B0604020202020204" pitchFamily="34" charset="0"/>
                <a:cs typeface="Nirmala UI" panose="020B0502040204020203" pitchFamily="34" charset="0"/>
              </a:rPr>
              <a:t>Action Card: 5 fields + flags</a:t>
            </a:r>
          </a:p>
        </p:txBody>
      </p:sp>
      <p:cxnSp>
        <p:nvCxnSpPr>
          <p:cNvPr id="23" name="Straight Arrow Connector 22">
            <a:extLst>
              <a:ext uri="{FF2B5EF4-FFF2-40B4-BE49-F238E27FC236}">
                <a16:creationId xmlns:a16="http://schemas.microsoft.com/office/drawing/2014/main" id="{77414C41-9E2E-7307-0042-0F26C0A1B182}"/>
              </a:ext>
            </a:extLst>
          </p:cNvPr>
          <p:cNvCxnSpPr/>
          <p:nvPr/>
        </p:nvCxnSpPr>
        <p:spPr>
          <a:xfrm flipH="1">
            <a:off x="10835640" y="6858000"/>
            <a:ext cx="1051560" cy="365760"/>
          </a:xfrm>
          <a:prstGeom prst="straightConnector1">
            <a:avLst/>
          </a:prstGeom>
          <a:ln w="25400">
            <a:solidFill>
              <a:srgbClr val="2EC4F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79ED5F14-9BB0-E21A-A078-D6592D1329A9}"/>
              </a:ext>
            </a:extLst>
          </p:cNvPr>
          <p:cNvCxnSpPr/>
          <p:nvPr/>
        </p:nvCxnSpPr>
        <p:spPr>
          <a:xfrm>
            <a:off x="13213080" y="6858000"/>
            <a:ext cx="0" cy="365760"/>
          </a:xfrm>
          <a:prstGeom prst="straightConnector1">
            <a:avLst/>
          </a:prstGeom>
          <a:ln w="25400">
            <a:solidFill>
              <a:srgbClr val="2EC4F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F2EEE707-583C-2C9D-3127-D2277A22E49E}"/>
              </a:ext>
            </a:extLst>
          </p:cNvPr>
          <p:cNvCxnSpPr/>
          <p:nvPr/>
        </p:nvCxnSpPr>
        <p:spPr>
          <a:xfrm>
            <a:off x="14538961" y="6858000"/>
            <a:ext cx="1051559" cy="365760"/>
          </a:xfrm>
          <a:prstGeom prst="straightConnector1">
            <a:avLst/>
          </a:prstGeom>
          <a:ln w="25400">
            <a:solidFill>
              <a:srgbClr val="2EC4F1"/>
            </a:solidFill>
            <a:tailEnd type="triangle"/>
          </a:ln>
        </p:spPr>
        <p:style>
          <a:lnRef idx="1">
            <a:schemeClr val="accent1"/>
          </a:lnRef>
          <a:fillRef idx="0">
            <a:schemeClr val="accent1"/>
          </a:fillRef>
          <a:effectRef idx="0">
            <a:schemeClr val="accent1"/>
          </a:effectRef>
          <a:fontRef idx="minor">
            <a:schemeClr val="tx1"/>
          </a:fontRef>
        </p:style>
      </p:cxnSp>
      <p:sp>
        <p:nvSpPr>
          <p:cNvPr id="26" name="Rectangle: Rounded Corners 25">
            <a:extLst>
              <a:ext uri="{FF2B5EF4-FFF2-40B4-BE49-F238E27FC236}">
                <a16:creationId xmlns:a16="http://schemas.microsoft.com/office/drawing/2014/main" id="{094CA5E1-2F1C-76CD-2E5D-1BA92024038F}"/>
              </a:ext>
            </a:extLst>
          </p:cNvPr>
          <p:cNvSpPr/>
          <p:nvPr/>
        </p:nvSpPr>
        <p:spPr>
          <a:xfrm>
            <a:off x="9692640" y="7223760"/>
            <a:ext cx="2286000" cy="731520"/>
          </a:xfrm>
          <a:prstGeom prst="roundRect">
            <a:avLst>
              <a:gd name="adj" fmla="val 8000"/>
            </a:avLst>
          </a:prstGeom>
          <a:solidFill>
            <a:srgbClr val="0E1A24"/>
          </a:solidFill>
          <a:ln w="15875">
            <a:solidFill>
              <a:srgbClr val="2EC4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4D18A682-067A-991E-D07C-D8A6BF357AB0}"/>
              </a:ext>
            </a:extLst>
          </p:cNvPr>
          <p:cNvSpPr txBox="1"/>
          <p:nvPr/>
        </p:nvSpPr>
        <p:spPr>
          <a:xfrm>
            <a:off x="9802368" y="7315200"/>
            <a:ext cx="2066544" cy="369332"/>
          </a:xfrm>
          <a:prstGeom prst="rect">
            <a:avLst/>
          </a:prstGeom>
          <a:noFill/>
        </p:spPr>
        <p:txBody>
          <a:bodyPr vert="horz" wrap="square" lIns="0" tIns="0" rIns="0" bIns="0" rtlCol="0">
            <a:noAutofit/>
          </a:bodyPr>
          <a:lstStyle/>
          <a:p>
            <a:pPr algn="ctr">
              <a:spcAft>
                <a:spcPts val="400"/>
              </a:spcAft>
            </a:pPr>
            <a:r>
              <a:rPr lang="en-US" sz="1300" b="1">
                <a:solidFill>
                  <a:srgbClr val="FFFFFF"/>
                </a:solidFill>
                <a:latin typeface="Arial" panose="020B0604020202020204" pitchFamily="34" charset="0"/>
                <a:cs typeface="Nirmala UI" panose="020B0502040204020203" pitchFamily="34" charset="0"/>
              </a:rPr>
              <a:t>🔊 Sarvam voice</a:t>
            </a:r>
          </a:p>
        </p:txBody>
      </p:sp>
      <p:sp>
        <p:nvSpPr>
          <p:cNvPr id="28" name="Rectangle: Rounded Corners 27">
            <a:extLst>
              <a:ext uri="{FF2B5EF4-FFF2-40B4-BE49-F238E27FC236}">
                <a16:creationId xmlns:a16="http://schemas.microsoft.com/office/drawing/2014/main" id="{D553638A-18BD-FCF5-A598-51BB139A29B9}"/>
              </a:ext>
            </a:extLst>
          </p:cNvPr>
          <p:cNvSpPr/>
          <p:nvPr/>
        </p:nvSpPr>
        <p:spPr>
          <a:xfrm>
            <a:off x="12070080" y="7223760"/>
            <a:ext cx="2286000" cy="731520"/>
          </a:xfrm>
          <a:prstGeom prst="roundRect">
            <a:avLst>
              <a:gd name="adj" fmla="val 8000"/>
            </a:avLst>
          </a:prstGeom>
          <a:solidFill>
            <a:srgbClr val="0E1A24"/>
          </a:solidFill>
          <a:ln w="15875">
            <a:solidFill>
              <a:srgbClr val="2EC4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A3642835-AC50-FAA0-28EA-629FA81E9870}"/>
              </a:ext>
            </a:extLst>
          </p:cNvPr>
          <p:cNvSpPr txBox="1"/>
          <p:nvPr/>
        </p:nvSpPr>
        <p:spPr>
          <a:xfrm>
            <a:off x="12179808" y="7315200"/>
            <a:ext cx="2066544" cy="369332"/>
          </a:xfrm>
          <a:prstGeom prst="rect">
            <a:avLst/>
          </a:prstGeom>
          <a:noFill/>
        </p:spPr>
        <p:txBody>
          <a:bodyPr vert="horz" wrap="square" lIns="0" tIns="0" rIns="0" bIns="0" rtlCol="0">
            <a:noAutofit/>
          </a:bodyPr>
          <a:lstStyle/>
          <a:p>
            <a:pPr algn="ctr">
              <a:spcAft>
                <a:spcPts val="400"/>
              </a:spcAft>
            </a:pPr>
            <a:r>
              <a:rPr lang="en-US" sz="1300" b="1">
                <a:solidFill>
                  <a:srgbClr val="FFFFFF"/>
                </a:solidFill>
                <a:latin typeface="Arial" panose="020B0604020202020204" pitchFamily="34" charset="0"/>
                <a:cs typeface="Nirmala UI" panose="020B0502040204020203" pitchFamily="34" charset="0"/>
              </a:rPr>
              <a:t>📳 Colour + haptic</a:t>
            </a:r>
          </a:p>
        </p:txBody>
      </p:sp>
      <p:sp>
        <p:nvSpPr>
          <p:cNvPr id="30" name="Rectangle: Rounded Corners 29">
            <a:extLst>
              <a:ext uri="{FF2B5EF4-FFF2-40B4-BE49-F238E27FC236}">
                <a16:creationId xmlns:a16="http://schemas.microsoft.com/office/drawing/2014/main" id="{D313D4B5-5B6B-9BD0-9DBB-40B17F92893D}"/>
              </a:ext>
            </a:extLst>
          </p:cNvPr>
          <p:cNvSpPr/>
          <p:nvPr/>
        </p:nvSpPr>
        <p:spPr>
          <a:xfrm>
            <a:off x="14447520" y="7223760"/>
            <a:ext cx="2286000" cy="731520"/>
          </a:xfrm>
          <a:prstGeom prst="roundRect">
            <a:avLst>
              <a:gd name="adj" fmla="val 8000"/>
            </a:avLst>
          </a:prstGeom>
          <a:solidFill>
            <a:srgbClr val="0E1A24"/>
          </a:solidFill>
          <a:ln w="15875">
            <a:solidFill>
              <a:srgbClr val="2EC4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B88C1627-206D-1FBA-5E04-E82F4E92FC88}"/>
              </a:ext>
            </a:extLst>
          </p:cNvPr>
          <p:cNvSpPr txBox="1"/>
          <p:nvPr/>
        </p:nvSpPr>
        <p:spPr>
          <a:xfrm>
            <a:off x="14557248" y="7315200"/>
            <a:ext cx="2066544" cy="369332"/>
          </a:xfrm>
          <a:prstGeom prst="rect">
            <a:avLst/>
          </a:prstGeom>
          <a:noFill/>
        </p:spPr>
        <p:txBody>
          <a:bodyPr vert="horz" wrap="square" lIns="0" tIns="0" rIns="0" bIns="0" rtlCol="0">
            <a:noAutofit/>
          </a:bodyPr>
          <a:lstStyle/>
          <a:p>
            <a:pPr algn="ctr">
              <a:spcAft>
                <a:spcPts val="400"/>
              </a:spcAft>
            </a:pPr>
            <a:r>
              <a:rPr lang="en-US" sz="1300" b="1">
                <a:solidFill>
                  <a:srgbClr val="FFFFFF"/>
                </a:solidFill>
                <a:latin typeface="Arial" panose="020B0604020202020204" pitchFamily="34" charset="0"/>
                <a:cs typeface="Nirmala UI" panose="020B0502040204020203" pitchFamily="34" charset="0"/>
              </a:rPr>
              <a:t>💳 Pay · WhatsApp ·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3"/>
              <a:stretch>
                <a:fillRect t="-80500" r="-3713" b="-80500"/>
              </a:stretch>
            </a:blipFill>
          </p:spPr>
        </p:sp>
      </p:grpSp>
      <p:sp>
        <p:nvSpPr>
          <p:cNvPr id="4" name="TextBox 4"/>
          <p:cNvSpPr txBox="1"/>
          <p:nvPr/>
        </p:nvSpPr>
        <p:spPr>
          <a:xfrm>
            <a:off x="1028700" y="1171023"/>
            <a:ext cx="2280599" cy="918372"/>
          </a:xfrm>
          <a:prstGeom prst="rect">
            <a:avLst/>
          </a:prstGeom>
        </p:spPr>
        <p:txBody>
          <a:bodyPr lIns="0" tIns="0" rIns="0" bIns="0" rtlCol="0" anchor="t">
            <a:spAutoFit/>
          </a:bodyPr>
          <a:lstStyle/>
          <a:p>
            <a:pPr algn="l">
              <a:lnSpc>
                <a:spcPts val="7256"/>
              </a:lnSpc>
            </a:pPr>
            <a:r>
              <a:rPr lang="en-US" sz="5039">
                <a:solidFill>
                  <a:srgbClr val="FFFFFF"/>
                </a:solidFill>
                <a:latin typeface="Arial"/>
                <a:ea typeface="Arial"/>
                <a:cs typeface="Arial"/>
                <a:sym typeface="Arial"/>
              </a:rPr>
              <a:t>USP</a:t>
            </a:r>
          </a:p>
        </p:txBody>
      </p:sp>
      <p:sp>
        <p:nvSpPr>
          <p:cNvPr id="6" name="TextBox 6"/>
          <p:cNvSpPr txBox="1"/>
          <p:nvPr/>
        </p:nvSpPr>
        <p:spPr>
          <a:xfrm>
            <a:off x="10810199" y="1091279"/>
            <a:ext cx="5039096" cy="918372"/>
          </a:xfrm>
          <a:prstGeom prst="rect">
            <a:avLst/>
          </a:prstGeom>
        </p:spPr>
        <p:txBody>
          <a:bodyPr lIns="0" tIns="0" rIns="0" bIns="0" rtlCol="0" anchor="t">
            <a:spAutoFit/>
          </a:bodyPr>
          <a:lstStyle/>
          <a:p>
            <a:pPr algn="l">
              <a:lnSpc>
                <a:spcPts val="7256"/>
              </a:lnSpc>
            </a:pPr>
            <a:r>
              <a:rPr lang="en-US" sz="5039">
                <a:solidFill>
                  <a:srgbClr val="FFFFFF"/>
                </a:solidFill>
                <a:latin typeface="Arial"/>
                <a:ea typeface="Arial"/>
                <a:cs typeface="Arial"/>
                <a:sym typeface="Arial"/>
              </a:rPr>
              <a:t>Future Scope</a:t>
            </a:r>
          </a:p>
        </p:txBody>
      </p:sp>
      <p:sp>
        <p:nvSpPr>
          <p:cNvPr id="7" name="TextBox 7"/>
          <p:cNvSpPr txBox="1"/>
          <p:nvPr/>
        </p:nvSpPr>
        <p:spPr>
          <a:xfrm>
            <a:off x="3108960" y="6446520"/>
            <a:ext cx="7315200" cy="789640"/>
          </a:xfrm>
          <a:prstGeom prst="rect">
            <a:avLst/>
          </a:prstGeom>
        </p:spPr>
        <p:txBody>
          <a:bodyPr lIns="0" tIns="0" rIns="0" bIns="0" rtlCol="0" anchor="t">
            <a:spAutoFit/>
          </a:bodyPr>
          <a:lstStyle/>
          <a:p>
            <a:pPr algn="l">
              <a:lnSpc>
                <a:spcPts val="7256"/>
              </a:lnSpc>
            </a:pPr>
            <a:r>
              <a:rPr lang="en-US" sz="3000">
                <a:solidFill>
                  <a:srgbClr val="FFFFFF"/>
                </a:solidFill>
                <a:latin typeface="Arial"/>
                <a:ea typeface="Arial"/>
                <a:cs typeface="Arial"/>
                <a:sym typeface="Arial"/>
              </a:rPr>
              <a:t>Prototype Link</a:t>
            </a:r>
          </a:p>
        </p:txBody>
      </p:sp>
      <p:sp>
        <p:nvSpPr>
          <p:cNvPr id="8" name="TextBox 7">
            <a:extLst>
              <a:ext uri="{FF2B5EF4-FFF2-40B4-BE49-F238E27FC236}">
                <a16:creationId xmlns:a16="http://schemas.microsoft.com/office/drawing/2014/main" id="{54ED231A-8224-C4C6-3F80-E1B1EF4398B3}"/>
              </a:ext>
            </a:extLst>
          </p:cNvPr>
          <p:cNvSpPr txBox="1"/>
          <p:nvPr/>
        </p:nvSpPr>
        <p:spPr>
          <a:xfrm>
            <a:off x="1188720" y="2148840"/>
            <a:ext cx="8778240" cy="369332"/>
          </a:xfrm>
          <a:prstGeom prst="rect">
            <a:avLst/>
          </a:prstGeom>
          <a:noFill/>
        </p:spPr>
        <p:txBody>
          <a:bodyPr vert="horz" wrap="square" lIns="0" tIns="0" rIns="0" bIns="0" rtlCol="0">
            <a:noAutofit/>
          </a:bodyPr>
          <a:lstStyle/>
          <a:p>
            <a:pPr>
              <a:spcAft>
                <a:spcPts val="1100"/>
              </a:spcAft>
            </a:pPr>
            <a:r>
              <a:rPr lang="en-US" sz="1700" b="1">
                <a:solidFill>
                  <a:srgbClr val="2EC4F1"/>
                </a:solidFill>
                <a:latin typeface="Arial" panose="020B0604020202020204" pitchFamily="34" charset="0"/>
                <a:cs typeface="Nirmala UI" panose="020B0502040204020203" pitchFamily="34" charset="0"/>
              </a:rPr>
              <a:t>✔ Acts, not just reads: </a:t>
            </a:r>
            <a:r>
              <a:rPr lang="en-US" sz="1700">
                <a:solidFill>
                  <a:srgbClr val="FFFFFF"/>
                </a:solidFill>
                <a:latin typeface="Arial" panose="020B0604020202020204" pitchFamily="34" charset="0"/>
                <a:cs typeface="Nirmala UI" panose="020B0502040204020203" pitchFamily="34" charset="0"/>
              </a:rPr>
              <a:t>5-field card + one tap to Pay, Remind, Call 1930, Send to family</a:t>
            </a:r>
          </a:p>
          <a:p>
            <a:pPr>
              <a:spcAft>
                <a:spcPts val="1100"/>
              </a:spcAft>
            </a:pPr>
            <a:r>
              <a:rPr lang="en-US" sz="1700" b="1">
                <a:solidFill>
                  <a:srgbClr val="2EC4F1"/>
                </a:solidFill>
                <a:latin typeface="Arial" panose="020B0604020202020204" pitchFamily="34" charset="0"/>
                <a:cs typeface="Nirmala UI" panose="020B0502040204020203" pitchFamily="34" charset="0"/>
              </a:rPr>
              <a:t>✔ Never guesses: </a:t>
            </a:r>
            <a:r>
              <a:rPr lang="en-US" sz="1700">
                <a:solidFill>
                  <a:srgbClr val="FFFFFF"/>
                </a:solidFill>
                <a:latin typeface="Arial" panose="020B0604020202020204" pitchFamily="34" charset="0"/>
                <a:cs typeface="Nirmala UI" panose="020B0502040204020203" pitchFamily="34" charset="0"/>
              </a:rPr>
              <a:t>rule engine + 2-engine check; if unclear it says “हे साफ दिसत नाही, कृपया कुणालातरी विचारा”</a:t>
            </a:r>
          </a:p>
          <a:p>
            <a:pPr>
              <a:spcAft>
                <a:spcPts val="1100"/>
              </a:spcAft>
            </a:pPr>
            <a:r>
              <a:rPr lang="en-US" sz="1700" b="1">
                <a:solidFill>
                  <a:srgbClr val="2EC4F1"/>
                </a:solidFill>
                <a:latin typeface="Arial" panose="020B0604020202020204" pitchFamily="34" charset="0"/>
                <a:cs typeface="Nirmala UI" panose="020B0502040204020203" pitchFamily="34" charset="0"/>
              </a:rPr>
              <a:t>✔ Scam shield for Indian frauds: </a:t>
            </a:r>
            <a:r>
              <a:rPr lang="en-US" sz="1700">
                <a:solidFill>
                  <a:srgbClr val="FFFFFF"/>
                </a:solidFill>
                <a:latin typeface="Arial" panose="020B0604020202020204" pitchFamily="34" charset="0"/>
                <a:cs typeface="Nirmala UI" panose="020B0502040204020203" pitchFamily="34" charset="0"/>
              </a:rPr>
              <a:t>fake power-cut SMS, KYC, OTP, AnyDesk, look-alike links</a:t>
            </a:r>
          </a:p>
          <a:p>
            <a:pPr>
              <a:spcAft>
                <a:spcPts val="1100"/>
              </a:spcAft>
            </a:pPr>
            <a:r>
              <a:rPr lang="en-US" sz="1700" b="1">
                <a:solidFill>
                  <a:srgbClr val="2EC4F1"/>
                </a:solidFill>
                <a:latin typeface="Arial" panose="020B0604020202020204" pitchFamily="34" charset="0"/>
                <a:cs typeface="Nirmala UI" panose="020B0502040204020203" pitchFamily="34" charset="0"/>
              </a:rPr>
              <a:t>✔ Looks after you: </a:t>
            </a:r>
            <a:r>
              <a:rPr lang="en-US" sz="1700">
                <a:solidFill>
                  <a:srgbClr val="FFFFFF"/>
                </a:solidFill>
                <a:latin typeface="Arial" panose="020B0604020202020204" pitchFamily="34" charset="0"/>
                <a:cs typeface="Nirmala UI" panose="020B0502040204020203" pitchFamily="34" charset="0"/>
              </a:rPr>
              <a:t>dose reminders for the whole course, My papers due dates, cheaper Jan Aushadhi generic</a:t>
            </a:r>
          </a:p>
          <a:p>
            <a:pPr>
              <a:spcAft>
                <a:spcPts val="1100"/>
              </a:spcAft>
            </a:pPr>
            <a:r>
              <a:rPr lang="en-US" sz="1700" b="1">
                <a:solidFill>
                  <a:srgbClr val="2EC4F1"/>
                </a:solidFill>
                <a:latin typeface="Arial" panose="020B0604020202020204" pitchFamily="34" charset="0"/>
                <a:cs typeface="Nirmala UI" panose="020B0502040204020203" pitchFamily="34" charset="0"/>
              </a:rPr>
              <a:t>✔ Works with zero internet: </a:t>
            </a:r>
            <a:r>
              <a:rPr lang="en-US" sz="1700">
                <a:solidFill>
                  <a:srgbClr val="FFFFFF"/>
                </a:solidFill>
                <a:latin typeface="Arial" panose="020B0604020202020204" pitchFamily="34" charset="0"/>
                <a:cs typeface="Nirmala UI" panose="020B0502040204020203" pitchFamily="34" charset="0"/>
              </a:rPr>
              <a:t>on-device OCR + 50-medicine directory + the same safety rules</a:t>
            </a:r>
          </a:p>
          <a:p>
            <a:pPr>
              <a:spcAft>
                <a:spcPts val="1100"/>
              </a:spcAft>
            </a:pPr>
            <a:r>
              <a:rPr lang="en-US" sz="1700" b="1">
                <a:solidFill>
                  <a:srgbClr val="2EC4F1"/>
                </a:solidFill>
                <a:latin typeface="Arial" panose="020B0604020202020204" pitchFamily="34" charset="0"/>
                <a:cs typeface="Nirmala UI" panose="020B0502040204020203" pitchFamily="34" charset="0"/>
              </a:rPr>
              <a:t>✔ Built for low vision &amp; literacy: </a:t>
            </a:r>
            <a:r>
              <a:rPr lang="en-US" sz="1700">
                <a:solidFill>
                  <a:srgbClr val="FFFFFF"/>
                </a:solidFill>
                <a:latin typeface="Arial" panose="020B0604020202020204" pitchFamily="34" charset="0"/>
                <a:cs typeface="Nirmala UI" panose="020B0502040204020203" pitchFamily="34" charset="0"/>
              </a:rPr>
              <a:t>Indian voice, spoken tour in 3 languages, danger vibration, giant UI</a:t>
            </a:r>
          </a:p>
        </p:txBody>
      </p:sp>
      <p:sp>
        <p:nvSpPr>
          <p:cNvPr id="9" name="TextBox 8">
            <a:extLst>
              <a:ext uri="{FF2B5EF4-FFF2-40B4-BE49-F238E27FC236}">
                <a16:creationId xmlns:a16="http://schemas.microsoft.com/office/drawing/2014/main" id="{7A6D0845-917E-A17B-6F65-03174D96C899}"/>
              </a:ext>
            </a:extLst>
          </p:cNvPr>
          <p:cNvSpPr txBox="1"/>
          <p:nvPr/>
        </p:nvSpPr>
        <p:spPr>
          <a:xfrm>
            <a:off x="10332720" y="2148840"/>
            <a:ext cx="6583680" cy="369332"/>
          </a:xfrm>
          <a:prstGeom prst="rect">
            <a:avLst/>
          </a:prstGeom>
          <a:noFill/>
        </p:spPr>
        <p:txBody>
          <a:bodyPr vert="horz" wrap="square" lIns="0" tIns="0" rIns="0" bIns="0" rtlCol="0">
            <a:noAutofit/>
          </a:bodyPr>
          <a:lstStyle/>
          <a:p>
            <a:pPr>
              <a:spcAft>
                <a:spcPts val="1400"/>
              </a:spcAft>
            </a:pPr>
            <a:r>
              <a:rPr lang="en-US">
                <a:solidFill>
                  <a:srgbClr val="FFFFFF"/>
                </a:solidFill>
                <a:latin typeface="Arial" panose="020B0604020202020204" pitchFamily="34" charset="0"/>
                <a:cs typeface="Nirmala UI" panose="020B0502040204020203" pitchFamily="34" charset="0"/>
              </a:rPr>
              <a:t>🌏 All 22 scheduled Indian languages (Sarvam / Bhashini)</a:t>
            </a:r>
          </a:p>
          <a:p>
            <a:pPr>
              <a:spcAft>
                <a:spcPts val="1400"/>
              </a:spcAft>
            </a:pPr>
            <a:r>
              <a:rPr lang="en-US">
                <a:solidFill>
                  <a:srgbClr val="FFFFFF"/>
                </a:solidFill>
                <a:latin typeface="Arial" panose="020B0604020202020204" pitchFamily="34" charset="0"/>
                <a:cs typeface="Nirmala UI" panose="020B0502040204020203" pitchFamily="34" charset="0"/>
              </a:rPr>
              <a:t>💬 WhatsApp bot: forward any document to Vaachak</a:t>
            </a:r>
          </a:p>
          <a:p>
            <a:pPr>
              <a:spcAft>
                <a:spcPts val="1400"/>
              </a:spcAft>
            </a:pPr>
            <a:r>
              <a:rPr lang="en-US">
                <a:solidFill>
                  <a:srgbClr val="FFFFFF"/>
                </a:solidFill>
                <a:latin typeface="Arial" panose="020B0604020202020204" pitchFamily="34" charset="0"/>
                <a:cs typeface="Nirmala UI" panose="020B0502040204020203" pitchFamily="34" charset="0"/>
              </a:rPr>
              <a:t>👨‍👩‍👦 Caregiver app: family sees alerts and due bills</a:t>
            </a:r>
          </a:p>
          <a:p>
            <a:pPr>
              <a:spcAft>
                <a:spcPts val="1400"/>
              </a:spcAft>
            </a:pPr>
            <a:r>
              <a:rPr lang="en-US">
                <a:solidFill>
                  <a:srgbClr val="FFFFFF"/>
                </a:solidFill>
                <a:latin typeface="Arial" panose="020B0604020202020204" pitchFamily="34" charset="0"/>
                <a:cs typeface="Nirmala UI" panose="020B0502040204020203" pitchFamily="34" charset="0"/>
              </a:rPr>
              <a:t>💳 BBPS bill payment with verified billers</a:t>
            </a:r>
          </a:p>
          <a:p>
            <a:pPr>
              <a:spcAft>
                <a:spcPts val="1400"/>
              </a:spcAft>
            </a:pPr>
            <a:r>
              <a:rPr lang="en-US">
                <a:solidFill>
                  <a:srgbClr val="FFFFFF"/>
                </a:solidFill>
                <a:latin typeface="Arial" panose="020B0604020202020204" pitchFamily="34" charset="0"/>
                <a:cs typeface="Nirmala UI" panose="020B0502040204020203" pitchFamily="34" charset="0"/>
              </a:rPr>
              <a:t>🏛️ Help with government schemes from notices</a:t>
            </a:r>
          </a:p>
          <a:p>
            <a:pPr>
              <a:spcAft>
                <a:spcPts val="1400"/>
              </a:spcAft>
            </a:pPr>
            <a:r>
              <a:rPr lang="en-US">
                <a:solidFill>
                  <a:srgbClr val="FFFFFF"/>
                </a:solidFill>
                <a:latin typeface="Arial" panose="020B0604020202020204" pitchFamily="34" charset="0"/>
                <a:cs typeface="Nirmala UI" panose="020B0502040204020203" pitchFamily="34" charset="0"/>
              </a:rPr>
              <a:t>📴 On-device AI model for fully offline reading</a:t>
            </a:r>
          </a:p>
        </p:txBody>
      </p:sp>
      <p:sp>
        <p:nvSpPr>
          <p:cNvPr id="10" name="Rectangle: Rounded Corners 9">
            <a:extLst>
              <a:ext uri="{FF2B5EF4-FFF2-40B4-BE49-F238E27FC236}">
                <a16:creationId xmlns:a16="http://schemas.microsoft.com/office/drawing/2014/main" id="{EE9EB774-E3F9-6D4E-4B94-BCE34D5B7977}"/>
              </a:ext>
            </a:extLst>
          </p:cNvPr>
          <p:cNvSpPr/>
          <p:nvPr/>
        </p:nvSpPr>
        <p:spPr>
          <a:xfrm>
            <a:off x="3108960" y="7315200"/>
            <a:ext cx="10789920" cy="1143000"/>
          </a:xfrm>
          <a:prstGeom prst="roundRect">
            <a:avLst>
              <a:gd name="adj" fmla="val 8000"/>
            </a:avLst>
          </a:prstGeom>
          <a:solidFill>
            <a:srgbClr val="0E1A24"/>
          </a:solidFill>
          <a:ln w="15875">
            <a:solidFill>
              <a:srgbClr val="2EC4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F6EC5CA-8BF3-D11E-5A12-3852779B70C5}"/>
              </a:ext>
            </a:extLst>
          </p:cNvPr>
          <p:cNvSpPr txBox="1"/>
          <p:nvPr/>
        </p:nvSpPr>
        <p:spPr>
          <a:xfrm>
            <a:off x="3337560" y="7424928"/>
            <a:ext cx="10332720" cy="369332"/>
          </a:xfrm>
          <a:prstGeom prst="rect">
            <a:avLst/>
          </a:prstGeom>
          <a:noFill/>
        </p:spPr>
        <p:txBody>
          <a:bodyPr vert="horz" wrap="square" lIns="0" tIns="0" rIns="0" bIns="0" rtlCol="0">
            <a:noAutofit/>
          </a:bodyPr>
          <a:lstStyle/>
          <a:p>
            <a:pPr>
              <a:spcAft>
                <a:spcPts val="200"/>
              </a:spcAft>
            </a:pPr>
            <a:r>
              <a:rPr lang="en-US" sz="2200" b="1">
                <a:solidFill>
                  <a:srgbClr val="2EC4F1"/>
                </a:solidFill>
                <a:latin typeface="Arial" panose="020B0604020202020204" pitchFamily="34" charset="0"/>
                <a:cs typeface="Nirmala UI" panose="020B0502040204020203" pitchFamily="34" charset="0"/>
              </a:rPr>
              <a:t>🌐 https://vaachak-zeta.vercel.app</a:t>
            </a:r>
          </a:p>
          <a:p>
            <a:pPr>
              <a:spcAft>
                <a:spcPts val="400"/>
              </a:spcAft>
            </a:pPr>
            <a:r>
              <a:rPr lang="en-US" sz="1400">
                <a:solidFill>
                  <a:srgbClr val="FFFFFF"/>
                </a:solidFill>
                <a:latin typeface="Arial" panose="020B0604020202020204" pitchFamily="34" charset="0"/>
                <a:cs typeface="Nirmala UI" panose="020B0502040204020203" pitchFamily="34" charset="0"/>
              </a:rPr>
              <a:t>💻 github.com/anveshchafle-cmd/vaachak  ·  tap a sample to try it, even offline</a:t>
            </a:r>
          </a:p>
        </p:txBody>
      </p:sp>
      <p:pic>
        <p:nvPicPr>
          <p:cNvPr id="12" name="QR live app" descr="qr.png"/>
          <p:cNvPicPr>
            <a:picLocks noChangeAspect="1"/>
          </p:cNvPicPr>
          <p:nvPr/>
        </p:nvPicPr>
        <p:blipFill>
          <a:blip r:embed="rId4"/>
          <a:stretch>
            <a:fillRect/>
          </a:stretch>
        </p:blipFill>
        <p:spPr>
          <a:xfrm>
            <a:off x="14630400" y="6903720"/>
            <a:ext cx="1783080" cy="17830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317497"/>
            <a:ext cx="18288000" cy="9978390"/>
            <a:chOff x="0" y="0"/>
            <a:chExt cx="24384000" cy="13304520"/>
          </a:xfrm>
        </p:grpSpPr>
        <p:sp>
          <p:nvSpPr>
            <p:cNvPr id="3" name="Freeform 3"/>
            <p:cNvSpPr/>
            <p:nvPr/>
          </p:nvSpPr>
          <p:spPr>
            <a:xfrm>
              <a:off x="0" y="0"/>
              <a:ext cx="24384000" cy="13304520"/>
            </a:xfrm>
            <a:custGeom>
              <a:avLst/>
              <a:gdLst/>
              <a:ahLst/>
              <a:cxnLst/>
              <a:rect l="l" t="t" r="r" b="b"/>
              <a:pathLst>
                <a:path w="24384000" h="13304520">
                  <a:moveTo>
                    <a:pt x="0" y="0"/>
                  </a:moveTo>
                  <a:lnTo>
                    <a:pt x="24384000" y="0"/>
                  </a:lnTo>
                  <a:lnTo>
                    <a:pt x="24384000" y="13304520"/>
                  </a:lnTo>
                  <a:lnTo>
                    <a:pt x="0" y="13304520"/>
                  </a:lnTo>
                  <a:lnTo>
                    <a:pt x="0" y="0"/>
                  </a:lnTo>
                  <a:close/>
                </a:path>
              </a:pathLst>
            </a:custGeom>
            <a:blipFill>
              <a:blip r:embed="rId2"/>
              <a:stretch>
                <a:fillRect t="-84536" r="-3713" b="-84536"/>
              </a:stretch>
            </a:blipFill>
          </p:spPr>
        </p:sp>
      </p:grpSp>
      <p:sp>
        <p:nvSpPr>
          <p:cNvPr id="4" name="TextBox 4"/>
          <p:cNvSpPr txBox="1"/>
          <p:nvPr/>
        </p:nvSpPr>
        <p:spPr>
          <a:xfrm>
            <a:off x="3174945" y="4058200"/>
            <a:ext cx="10829040" cy="3446084"/>
          </a:xfrm>
          <a:prstGeom prst="rect">
            <a:avLst/>
          </a:prstGeom>
        </p:spPr>
        <p:txBody>
          <a:bodyPr lIns="0" tIns="0" rIns="0" bIns="0" rtlCol="0" anchor="t">
            <a:spAutoFit/>
          </a:bodyPr>
          <a:lstStyle/>
          <a:p>
            <a:pPr algn="ctr">
              <a:lnSpc>
                <a:spcPts val="28448"/>
              </a:lnSpc>
            </a:pPr>
            <a:r>
              <a:rPr lang="en-US" sz="19756">
                <a:solidFill>
                  <a:srgbClr val="8CB3E3"/>
                </a:solidFill>
                <a:latin typeface="Lobster"/>
                <a:ea typeface="Lobster"/>
                <a:cs typeface="Lobster"/>
                <a:sym typeface="Lobster"/>
              </a:rPr>
              <a:t>Thank You</a:t>
            </a:r>
          </a:p>
        </p:txBody>
      </p:sp>
      <p:sp>
        <p:nvSpPr>
          <p:cNvPr id="5" name="Freeform 5"/>
          <p:cNvSpPr/>
          <p:nvPr/>
        </p:nvSpPr>
        <p:spPr>
          <a:xfrm>
            <a:off x="151330" y="1331330"/>
            <a:ext cx="1369119" cy="1472232"/>
          </a:xfrm>
          <a:custGeom>
            <a:avLst/>
            <a:gdLst/>
            <a:ahLst/>
            <a:cxnLst/>
            <a:rect l="l" t="t" r="r" b="b"/>
            <a:pathLst>
              <a:path w="1369119" h="1472232">
                <a:moveTo>
                  <a:pt x="0" y="0"/>
                </a:moveTo>
                <a:lnTo>
                  <a:pt x="1369118" y="0"/>
                </a:lnTo>
                <a:lnTo>
                  <a:pt x="1369118" y="1472232"/>
                </a:lnTo>
                <a:lnTo>
                  <a:pt x="0" y="1472232"/>
                </a:lnTo>
                <a:lnTo>
                  <a:pt x="0" y="0"/>
                </a:lnTo>
                <a:close/>
              </a:path>
            </a:pathLst>
          </a:custGeom>
          <a:blipFill>
            <a:blip r:embed="rId3"/>
            <a:stretch>
              <a:fillRect/>
            </a:stretch>
          </a:blipFill>
        </p:spPr>
      </p:sp>
      <p:sp>
        <p:nvSpPr>
          <p:cNvPr id="6" name="Freeform 6"/>
          <p:cNvSpPr/>
          <p:nvPr/>
        </p:nvSpPr>
        <p:spPr>
          <a:xfrm>
            <a:off x="3445594" y="1343972"/>
            <a:ext cx="1729895" cy="1397301"/>
          </a:xfrm>
          <a:custGeom>
            <a:avLst/>
            <a:gdLst/>
            <a:ahLst/>
            <a:cxnLst/>
            <a:rect l="l" t="t" r="r" b="b"/>
            <a:pathLst>
              <a:path w="1729895" h="1397301">
                <a:moveTo>
                  <a:pt x="0" y="0"/>
                </a:moveTo>
                <a:lnTo>
                  <a:pt x="1729896" y="0"/>
                </a:lnTo>
                <a:lnTo>
                  <a:pt x="1729896" y="1397301"/>
                </a:lnTo>
                <a:lnTo>
                  <a:pt x="0" y="1397301"/>
                </a:lnTo>
                <a:lnTo>
                  <a:pt x="0" y="0"/>
                </a:lnTo>
                <a:close/>
              </a:path>
            </a:pathLst>
          </a:custGeom>
          <a:blipFill>
            <a:blip r:embed="rId4"/>
            <a:stretch>
              <a:fillRect t="-5420" b="-18382"/>
            </a:stretch>
          </a:blipFill>
        </p:spPr>
      </p:sp>
      <p:sp>
        <p:nvSpPr>
          <p:cNvPr id="7" name="Freeform 7"/>
          <p:cNvSpPr/>
          <p:nvPr/>
        </p:nvSpPr>
        <p:spPr>
          <a:xfrm>
            <a:off x="5267568" y="1377129"/>
            <a:ext cx="1916697" cy="1264093"/>
          </a:xfrm>
          <a:custGeom>
            <a:avLst/>
            <a:gdLst/>
            <a:ahLst/>
            <a:cxnLst/>
            <a:rect l="l" t="t" r="r" b="b"/>
            <a:pathLst>
              <a:path w="1916697" h="1264093">
                <a:moveTo>
                  <a:pt x="0" y="0"/>
                </a:moveTo>
                <a:lnTo>
                  <a:pt x="1916697" y="0"/>
                </a:lnTo>
                <a:lnTo>
                  <a:pt x="1916697" y="1264094"/>
                </a:lnTo>
                <a:lnTo>
                  <a:pt x="0" y="1264094"/>
                </a:lnTo>
                <a:lnTo>
                  <a:pt x="0" y="0"/>
                </a:lnTo>
                <a:close/>
              </a:path>
            </a:pathLst>
          </a:custGeom>
          <a:blipFill>
            <a:blip r:embed="rId5"/>
            <a:stretch>
              <a:fillRect b="-4874"/>
            </a:stretch>
          </a:blipFill>
        </p:spPr>
      </p:sp>
      <p:sp>
        <p:nvSpPr>
          <p:cNvPr id="8" name="Freeform 8"/>
          <p:cNvSpPr/>
          <p:nvPr/>
        </p:nvSpPr>
        <p:spPr>
          <a:xfrm>
            <a:off x="1612874" y="1331330"/>
            <a:ext cx="1740642" cy="1355692"/>
          </a:xfrm>
          <a:custGeom>
            <a:avLst/>
            <a:gdLst/>
            <a:ahLst/>
            <a:cxnLst/>
            <a:rect l="l" t="t" r="r" b="b"/>
            <a:pathLst>
              <a:path w="1740642" h="1355692">
                <a:moveTo>
                  <a:pt x="0" y="0"/>
                </a:moveTo>
                <a:lnTo>
                  <a:pt x="1740642" y="0"/>
                </a:lnTo>
                <a:lnTo>
                  <a:pt x="1740642" y="1355692"/>
                </a:lnTo>
                <a:lnTo>
                  <a:pt x="0" y="1355692"/>
                </a:lnTo>
                <a:lnTo>
                  <a:pt x="0" y="0"/>
                </a:lnTo>
                <a:close/>
              </a:path>
            </a:pathLst>
          </a:custGeom>
          <a:blipFill>
            <a:blip r:embed="rId6"/>
            <a:stretch>
              <a:fillRect/>
            </a:stretch>
          </a:blipFill>
        </p:spPr>
      </p:sp>
      <p:grpSp>
        <p:nvGrpSpPr>
          <p:cNvPr id="9" name="Group 9"/>
          <p:cNvGrpSpPr/>
          <p:nvPr/>
        </p:nvGrpSpPr>
        <p:grpSpPr>
          <a:xfrm>
            <a:off x="7276344" y="1469966"/>
            <a:ext cx="2626242" cy="1136971"/>
            <a:chOff x="0" y="0"/>
            <a:chExt cx="532452" cy="230513"/>
          </a:xfrm>
        </p:grpSpPr>
        <p:sp>
          <p:nvSpPr>
            <p:cNvPr id="10" name="Freeform 10"/>
            <p:cNvSpPr/>
            <p:nvPr/>
          </p:nvSpPr>
          <p:spPr>
            <a:xfrm>
              <a:off x="0" y="0"/>
              <a:ext cx="532452" cy="230513"/>
            </a:xfrm>
            <a:custGeom>
              <a:avLst/>
              <a:gdLst/>
              <a:ahLst/>
              <a:cxnLst/>
              <a:rect l="l" t="t" r="r" b="b"/>
              <a:pathLst>
                <a:path w="532452" h="230513">
                  <a:moveTo>
                    <a:pt x="0" y="0"/>
                  </a:moveTo>
                  <a:lnTo>
                    <a:pt x="532452" y="0"/>
                  </a:lnTo>
                  <a:lnTo>
                    <a:pt x="532452" y="230513"/>
                  </a:lnTo>
                  <a:lnTo>
                    <a:pt x="0" y="230513"/>
                  </a:lnTo>
                  <a:close/>
                </a:path>
              </a:pathLst>
            </a:custGeom>
            <a:solidFill>
              <a:srgbClr val="FFFFFF"/>
            </a:solidFill>
          </p:spPr>
        </p:sp>
        <p:sp>
          <p:nvSpPr>
            <p:cNvPr id="11" name="TextBox 11"/>
            <p:cNvSpPr txBox="1"/>
            <p:nvPr/>
          </p:nvSpPr>
          <p:spPr>
            <a:xfrm>
              <a:off x="0" y="38100"/>
              <a:ext cx="532452" cy="192413"/>
            </a:xfrm>
            <a:prstGeom prst="rect">
              <a:avLst/>
            </a:prstGeom>
          </p:spPr>
          <p:txBody>
            <a:bodyPr lIns="71271" tIns="71271" rIns="71271" bIns="71271" rtlCol="0" anchor="ctr"/>
            <a:lstStyle/>
            <a:p>
              <a:pPr algn="ctr">
                <a:lnSpc>
                  <a:spcPts val="2000"/>
                </a:lnSpc>
              </a:pPr>
              <a:endParaRPr/>
            </a:p>
          </p:txBody>
        </p:sp>
      </p:grpSp>
      <p:sp>
        <p:nvSpPr>
          <p:cNvPr id="12" name="Freeform 12"/>
          <p:cNvSpPr/>
          <p:nvPr/>
        </p:nvSpPr>
        <p:spPr>
          <a:xfrm>
            <a:off x="7304312" y="952500"/>
            <a:ext cx="2452815" cy="2026354"/>
          </a:xfrm>
          <a:custGeom>
            <a:avLst/>
            <a:gdLst/>
            <a:ahLst/>
            <a:cxnLst/>
            <a:rect l="l" t="t" r="r" b="b"/>
            <a:pathLst>
              <a:path w="2452815" h="2026354">
                <a:moveTo>
                  <a:pt x="0" y="0"/>
                </a:moveTo>
                <a:lnTo>
                  <a:pt x="2452815" y="0"/>
                </a:lnTo>
                <a:lnTo>
                  <a:pt x="2452815" y="2026354"/>
                </a:lnTo>
                <a:lnTo>
                  <a:pt x="0" y="2026354"/>
                </a:lnTo>
                <a:lnTo>
                  <a:pt x="0" y="0"/>
                </a:lnTo>
                <a:close/>
              </a:path>
            </a:pathLst>
          </a:custGeom>
          <a:blipFill>
            <a:blip r:embed="rId7"/>
            <a:stretch>
              <a:fillRect t="-10522" b="-10522"/>
            </a:stretch>
          </a:blipFill>
        </p:spPr>
      </p:sp>
      <p:sp>
        <p:nvSpPr>
          <p:cNvPr id="13" name="Freeform 13"/>
          <p:cNvSpPr/>
          <p:nvPr/>
        </p:nvSpPr>
        <p:spPr>
          <a:xfrm>
            <a:off x="11509328" y="1377129"/>
            <a:ext cx="2287542" cy="1143771"/>
          </a:xfrm>
          <a:custGeom>
            <a:avLst/>
            <a:gdLst/>
            <a:ahLst/>
            <a:cxnLst/>
            <a:rect l="l" t="t" r="r" b="b"/>
            <a:pathLst>
              <a:path w="2287542" h="1143771">
                <a:moveTo>
                  <a:pt x="0" y="0"/>
                </a:moveTo>
                <a:lnTo>
                  <a:pt x="2287542" y="0"/>
                </a:lnTo>
                <a:lnTo>
                  <a:pt x="2287542" y="1143771"/>
                </a:lnTo>
                <a:lnTo>
                  <a:pt x="0" y="1143771"/>
                </a:lnTo>
                <a:lnTo>
                  <a:pt x="0" y="0"/>
                </a:lnTo>
                <a:close/>
              </a:path>
            </a:pathLst>
          </a:custGeom>
          <a:blipFill>
            <a:blip r:embed="rId8"/>
            <a:stretch>
              <a:fillRect/>
            </a:stretch>
          </a:blipFill>
        </p:spPr>
      </p:sp>
      <p:sp>
        <p:nvSpPr>
          <p:cNvPr id="14" name="Freeform 14"/>
          <p:cNvSpPr/>
          <p:nvPr/>
        </p:nvSpPr>
        <p:spPr>
          <a:xfrm>
            <a:off x="9994664" y="1377129"/>
            <a:ext cx="1422585" cy="1422585"/>
          </a:xfrm>
          <a:custGeom>
            <a:avLst/>
            <a:gdLst/>
            <a:ahLst/>
            <a:cxnLst/>
            <a:rect l="l" t="t" r="r" b="b"/>
            <a:pathLst>
              <a:path w="1422585" h="1422585">
                <a:moveTo>
                  <a:pt x="0" y="0"/>
                </a:moveTo>
                <a:lnTo>
                  <a:pt x="1422586" y="0"/>
                </a:lnTo>
                <a:lnTo>
                  <a:pt x="1422586" y="1422585"/>
                </a:lnTo>
                <a:lnTo>
                  <a:pt x="0" y="1422585"/>
                </a:lnTo>
                <a:lnTo>
                  <a:pt x="0" y="0"/>
                </a:lnTo>
                <a:close/>
              </a:path>
            </a:pathLst>
          </a:custGeom>
          <a:blipFill>
            <a:blip r:embed="rId9"/>
            <a:stretch>
              <a:fillRect/>
            </a:stretch>
          </a:blipFill>
        </p:spPr>
      </p:sp>
      <p:sp>
        <p:nvSpPr>
          <p:cNvPr id="15" name="Freeform 15"/>
          <p:cNvSpPr/>
          <p:nvPr/>
        </p:nvSpPr>
        <p:spPr>
          <a:xfrm>
            <a:off x="13888949" y="1277602"/>
            <a:ext cx="1995824" cy="1315129"/>
          </a:xfrm>
          <a:custGeom>
            <a:avLst/>
            <a:gdLst/>
            <a:ahLst/>
            <a:cxnLst/>
            <a:rect l="l" t="t" r="r" b="b"/>
            <a:pathLst>
              <a:path w="1995824" h="1315129">
                <a:moveTo>
                  <a:pt x="0" y="0"/>
                </a:moveTo>
                <a:lnTo>
                  <a:pt x="1995824" y="0"/>
                </a:lnTo>
                <a:lnTo>
                  <a:pt x="1995824" y="1315129"/>
                </a:lnTo>
                <a:lnTo>
                  <a:pt x="0" y="1315129"/>
                </a:lnTo>
                <a:lnTo>
                  <a:pt x="0" y="0"/>
                </a:lnTo>
                <a:close/>
              </a:path>
            </a:pathLst>
          </a:custGeom>
          <a:blipFill>
            <a:blip r:embed="rId10"/>
            <a:stretch>
              <a:fillRect/>
            </a:stretch>
          </a:blipFill>
        </p:spPr>
      </p:sp>
      <p:sp>
        <p:nvSpPr>
          <p:cNvPr id="16" name="Freeform 16"/>
          <p:cNvSpPr/>
          <p:nvPr/>
        </p:nvSpPr>
        <p:spPr>
          <a:xfrm>
            <a:off x="15976851" y="1258923"/>
            <a:ext cx="2005020" cy="1333808"/>
          </a:xfrm>
          <a:custGeom>
            <a:avLst/>
            <a:gdLst/>
            <a:ahLst/>
            <a:cxnLst/>
            <a:rect l="l" t="t" r="r" b="b"/>
            <a:pathLst>
              <a:path w="2005020" h="1333808">
                <a:moveTo>
                  <a:pt x="0" y="0"/>
                </a:moveTo>
                <a:lnTo>
                  <a:pt x="2005021" y="0"/>
                </a:lnTo>
                <a:lnTo>
                  <a:pt x="2005021" y="1333808"/>
                </a:lnTo>
                <a:lnTo>
                  <a:pt x="0" y="1333808"/>
                </a:lnTo>
                <a:lnTo>
                  <a:pt x="0" y="0"/>
                </a:lnTo>
                <a:close/>
              </a:path>
            </a:pathLst>
          </a:custGeom>
          <a:blipFill>
            <a:blip r:embed="rId11"/>
            <a:stretch>
              <a:fillRect t="-53008" b="-72475"/>
            </a:stretch>
          </a:blipFill>
        </p:spPr>
      </p:sp>
      <p:sp>
        <p:nvSpPr>
          <p:cNvPr id="17" name="TextBox 16">
            <a:extLst>
              <a:ext uri="{FF2B5EF4-FFF2-40B4-BE49-F238E27FC236}">
                <a16:creationId xmlns:a16="http://schemas.microsoft.com/office/drawing/2014/main" id="{DDF98929-350A-3B61-4193-FCCD0ABBFC18}"/>
              </a:ext>
            </a:extLst>
          </p:cNvPr>
          <p:cNvSpPr txBox="1"/>
          <p:nvPr/>
        </p:nvSpPr>
        <p:spPr>
          <a:xfrm>
            <a:off x="2286000" y="7680960"/>
            <a:ext cx="13716000" cy="369332"/>
          </a:xfrm>
          <a:prstGeom prst="rect">
            <a:avLst/>
          </a:prstGeom>
          <a:noFill/>
        </p:spPr>
        <p:txBody>
          <a:bodyPr vert="horz" wrap="square" lIns="0" tIns="0" rIns="0" bIns="0" rtlCol="0">
            <a:noAutofit/>
          </a:bodyPr>
          <a:lstStyle/>
          <a:p>
            <a:pPr algn="ctr">
              <a:spcAft>
                <a:spcPts val="400"/>
              </a:spcAft>
            </a:pPr>
            <a:r>
              <a:rPr lang="en-US" sz="3000">
                <a:solidFill>
                  <a:srgbClr val="8CB3E3"/>
                </a:solidFill>
                <a:latin typeface="Lobster" panose="00000500000000000000" pitchFamily="2" charset="0"/>
                <a:cs typeface="Nirmala UI" panose="020B0502040204020203" pitchFamily="34" charset="0"/>
              </a:rPr>
              <a:t>Gemini answers questions. Vaachak never needs one.</a:t>
            </a:r>
          </a:p>
        </p:txBody>
      </p:sp>
      <p:sp>
        <p:nvSpPr>
          <p:cNvPr id="18" name="TextBox 17">
            <a:extLst>
              <a:ext uri="{FF2B5EF4-FFF2-40B4-BE49-F238E27FC236}">
                <a16:creationId xmlns:a16="http://schemas.microsoft.com/office/drawing/2014/main" id="{C6BAF4F7-EFEA-E09B-E257-0790D2EB7A1D}"/>
              </a:ext>
            </a:extLst>
          </p:cNvPr>
          <p:cNvSpPr txBox="1"/>
          <p:nvPr/>
        </p:nvSpPr>
        <p:spPr>
          <a:xfrm>
            <a:off x="2286000" y="8458200"/>
            <a:ext cx="13716000" cy="369332"/>
          </a:xfrm>
          <a:prstGeom prst="rect">
            <a:avLst/>
          </a:prstGeom>
          <a:noFill/>
        </p:spPr>
        <p:txBody>
          <a:bodyPr vert="horz" wrap="square" lIns="0" tIns="0" rIns="0" bIns="0" rtlCol="0">
            <a:noAutofit/>
          </a:bodyPr>
          <a:lstStyle/>
          <a:p>
            <a:pPr algn="ctr">
              <a:spcAft>
                <a:spcPts val="400"/>
              </a:spcAft>
            </a:pPr>
            <a:r>
              <a:rPr lang="en-US" sz="1600">
                <a:solidFill>
                  <a:srgbClr val="D9D5D5"/>
                </a:solidFill>
                <a:latin typeface="Arial" panose="020B0604020202020204" pitchFamily="34" charset="0"/>
                <a:cs typeface="Nirmala UI" panose="020B0502040204020203" pitchFamily="34" charset="0"/>
              </a:rPr>
              <a:t>vaachak-zeta.vercel.app</a:t>
            </a:r>
          </a:p>
        </p:txBody>
      </p:sp>
      <p:pic>
        <p:nvPicPr>
          <p:cNvPr id="19" name="QR live app" descr="qr.png"/>
          <p:cNvPicPr>
            <a:picLocks noChangeAspect="1"/>
          </p:cNvPicPr>
          <p:nvPr/>
        </p:nvPicPr>
        <p:blipFill>
          <a:blip r:embed="rId12"/>
          <a:stretch>
            <a:fillRect/>
          </a:stretch>
        </p:blipFill>
        <p:spPr>
          <a:xfrm>
            <a:off x="14950440" y="4297680"/>
            <a:ext cx="2194560" cy="2194560"/>
          </a:xfrm>
          <a:prstGeom prst="rect">
            <a:avLst/>
          </a:prstGeom>
        </p:spPr>
      </p:pic>
      <p:sp>
        <p:nvSpPr>
          <p:cNvPr id="20" name="QR caption"/>
          <p:cNvSpPr txBox="1"/>
          <p:nvPr/>
        </p:nvSpPr>
        <p:spPr>
          <a:xfrm>
            <a:off x="14584680" y="6583680"/>
            <a:ext cx="2926080" cy="457200"/>
          </a:xfrm>
          <a:prstGeom prst="rect">
            <a:avLst/>
          </a:prstGeom>
          <a:noFill/>
        </p:spPr>
        <p:txBody>
          <a:bodyPr wrap="square" lIns="0" tIns="0" rIns="0" bIns="0" anchor="t">
            <a:spAutoFit/>
          </a:bodyPr>
          <a:lstStyle/>
          <a:p>
            <a:pPr algn="ctr"/>
            <a:r>
              <a:rPr sz="1600" b="1">
                <a:solidFill>
                  <a:srgbClr val="FFFFFF"/>
                </a:solidFill>
                <a:latin typeface="Arial"/>
                <a:cs typeface="Nirmala UI"/>
              </a:rPr>
              <a:t>Try Vaachak now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1289</Words>
  <Application>Microsoft Office PowerPoint</Application>
  <PresentationFormat>Custom</PresentationFormat>
  <Paragraphs>124</Paragraphs>
  <Slides>8</Slides>
  <Notes>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Calibri</vt:lpstr>
      <vt:lpstr>Lobster</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THINK AI 4.0</dc:title>
  <cp:lastModifiedBy>laxmi prasad</cp:lastModifiedBy>
  <cp:revision>2</cp:revision>
  <dcterms:created xsi:type="dcterms:W3CDTF">2006-08-16T00:00:00Z</dcterms:created>
  <dcterms:modified xsi:type="dcterms:W3CDTF">2026-10-07T20:02:27Z</dcterms:modified>
  <dc:identifier>DAHXQHYOtDM</dc:identifier>
</cp:coreProperties>
</file>