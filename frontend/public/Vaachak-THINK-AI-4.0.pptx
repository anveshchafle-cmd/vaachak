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3" r:id="rId15"/>
    <p:sldId id="260" r:id="rId10"/>
    <p:sldId id="261" r:id="rId11"/>
    <p:sldId id="262" r:id="rId12"/>
  </p:sldIdLst>
  <p:sldSz cx="18288000" cy="10287000"/>
  <p:notesSz cx="6858000" cy="9144000"/>
  <p:embeddedFontLst>
    <p:embeddedFont>
      <p:font typeface="Lobster" charset="1" panose="00000500000000000000"/>
      <p:regular r:id="rId13"/>
    </p:embeddedFont>
    <p:embeddedFont>
      <p:font typeface="Arial" charset="1" panose="020B0604020202020204"/>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font" Target="fonts/font13.fntdata"/><Relationship Id="rId14" Type="http://schemas.openxmlformats.org/officeDocument/2006/relationships/font" Target="fonts/font14.fntdata"/><Relationship Id="rId15" Type="http://schemas.openxmlformats.org/officeDocument/2006/relationships/slide" Target="slides/slide5.xml"/><Relationship Id="rId1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NIMISHA: Good morning. We are Team Vaachak, problem statement 10, the AI-powered accessibility assistant. Vaachak means 'the reader': it reads any bill, medicine strip or message and tells an elderly person, in their own language, exactly what to do.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NIMISHA: Anvesh built the backend: the Gemini pipeline and the rule engine that checks every answer. Maulik designed the large, high-contrast interface for weak eyes. Jiya and I researched the problem, tested with elderly users, and will run the live demo. (To add photos: right-click a circle &gt; Format Shape &gt; Fill &gt; Picture.)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NIMISHA: Meet Prakash-kaka, 68, from Thane. Cataract, reads only Marathi. Bills, medicine strips and bank SMSes arrive while his children are at work. He is one of 149 million Indians over 60; two in three elderly women cannot read; one in seven over 50 has a vision problem; and fraudsters target exactly them. Existing tools read the text aloud. Nobody tells him what to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NIMISHA: Vaachak works in four steps. Any input: a photo, a screenshot or PDF, a link or a pasted message. Gemini reads it into five fields. Then a rule engine with no AI checks those answers against the printed text, with a second OCR engine, a scam score and an expiry check. Finally it speaks in an Indian voice and gives one-tap actions: pay, remind, call 1930 on a scam, or ask family. And when it is not sure, it says so. Over to Jiya for the live proof.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JIYA: This is the live app, not a mock-up; scan the QR and try it. A fake 'power will be cut tonight' SMS becomes a red scam card in about two seconds, with reasons in Marathi and one tap to call 1930. An MSEDCL bill becomes 'pay 840 rupees by 10 October', both checked against the print. A three-medicine prescription gets one schedule per medicine and every dose goes into the calendar. And the home screen remembers what is due. We measured all of this on the live app. LIVE DEMO: paste the scam SMS and let the judges hear the voice.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JIYA (Anvesh takes technical questions): AI reads, rules decide. Gemini 3.8 Flash turns the document into a structured card, with a seven-model fallback if it is busy. Then a rule engine with no AI checks the amount and date against the printed text, compares with on-phone Tesseract OCR, scores scam signals and checks expiry. The same rules run in the browser, so it works offline. Sarvam's Indian voice speaks the card, and every action is one tap.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JIYA: Six things make Vaachak different: it acts, it never guesses, it knows Indian scams, it keeps looking after you, it works offline, and it speaks your language. Today it is live in three languages. Next: 22 Indian languages and a WhatsApp bot, then family alerts and verified BBPS payments, and finally a fully offline model. Scan the code and try it now. Back to Nimisha.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NIMISHA: Gemini answers questions. Vaachak never needs one, because Prakash-kaka should not have to know what to ask. Thank you; we are happy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jpeg"/><Relationship Id="rId11" Type="http://schemas.openxmlformats.org/officeDocument/2006/relationships/image" Target="../media/image10.png"/><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sv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hyperlink" Target="https://vaachak-zeta.vercel.app" TargetMode="Externa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15.png"/><Relationship Id="rId8" Type="http://schemas.openxmlformats.org/officeDocument/2006/relationships/image" Target="../media/image14.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30.png"/><Relationship Id="rId13" Type="http://schemas.openxmlformats.org/officeDocument/2006/relationships/image" Target="../media/image31.png"/><Relationship Id="rId14" Type="http://schemas.openxmlformats.org/officeDocument/2006/relationships/image" Target="../media/image32.png"/><Relationship Id="rId15" Type="http://schemas.openxmlformats.org/officeDocument/2006/relationships/image" Target="../media/image33.png"/><Relationship Id="rId16" Type="http://schemas.openxmlformats.org/officeDocument/2006/relationships/image" Target="../media/image34.png"/><Relationship Id="rId17" Type="http://schemas.openxmlformats.org/officeDocument/2006/relationships/image" Target="../media/image35.png"/><Relationship Id="rId18" Type="http://schemas.openxmlformats.org/officeDocument/2006/relationships/image" Target="../media/image36.png"/><Relationship Id="rId19" Type="http://schemas.openxmlformats.org/officeDocument/2006/relationships/image" Target="../media/image37.png"/><Relationship Id="rId20" Type="http://schemas.openxmlformats.org/officeDocument/2006/relationships/image" Target="../media/image38.png"/><Relationship Id="rId21" Type="http://schemas.openxmlformats.org/officeDocument/2006/relationships/image" Target="../media/image16.png"/><Relationship Id="rId22" Type="http://schemas.openxmlformats.org/officeDocument/2006/relationships/image" Target="../media/image39.png"/><Relationship Id="rId23" Type="http://schemas.openxmlformats.org/officeDocument/2006/relationships/image" Target="../media/image40.png"/><Relationship Id="rId24" Type="http://schemas.openxmlformats.org/officeDocument/2006/relationships/image" Target="../media/image41.png"/><Relationship Id="rId25" Type="http://schemas.openxmlformats.org/officeDocument/2006/relationships/image" Target="../media/image42.png"/><Relationship Id="rId2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27.png"/><Relationship Id="rId6" Type="http://schemas.openxmlformats.org/officeDocument/2006/relationships/image" Target="../media/image40.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hyperlink" Target="https://vaachak-zeta.vercel.app" TargetMode="External"/><Relationship Id="rId11" Type="http://schemas.openxmlformats.org/officeDocument/2006/relationships/image" Target="../media/image22.png"/><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jpeg"/><Relationship Id="rId11" Type="http://schemas.openxmlformats.org/officeDocument/2006/relationships/image" Target="../media/image10.png"/><Relationship Id="rId12" Type="http://schemas.openxmlformats.org/officeDocument/2006/relationships/hyperlink" Target="https://vaachak-zeta.vercel.app" TargetMode="External"/><Relationship Id="rId13" Type="http://schemas.openxmlformats.org/officeDocument/2006/relationships/notesSlide" Target="../notesSlides/notesSlide8.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17497"/>
            <a:ext cx="18288000" cy="9978390"/>
            <a:chOff x="0" y="0"/>
            <a:chExt cx="24384000" cy="13304520"/>
          </a:xfrm>
        </p:grpSpPr>
        <p:sp>
          <p:nvSpPr>
            <p:cNvPr name="Freeform 3" id="3"/>
            <p:cNvSpPr/>
            <p:nvPr/>
          </p:nvSpPr>
          <p:spPr>
            <a:xfrm flipH="false" flipV="false" rot="0">
              <a:off x="0" y="0"/>
              <a:ext cx="24384000" cy="13304520"/>
            </a:xfrm>
            <a:custGeom>
              <a:avLst/>
              <a:gdLst/>
              <a:ahLst/>
              <a:cxnLst/>
              <a:rect r="r" b="b" t="t" l="l"/>
              <a:pathLst>
                <a:path h="13304520" w="24384000">
                  <a:moveTo>
                    <a:pt x="0" y="0"/>
                  </a:moveTo>
                  <a:lnTo>
                    <a:pt x="24384000" y="0"/>
                  </a:lnTo>
                  <a:lnTo>
                    <a:pt x="24384000" y="13304520"/>
                  </a:lnTo>
                  <a:lnTo>
                    <a:pt x="0" y="13304520"/>
                  </a:lnTo>
                  <a:lnTo>
                    <a:pt x="0" y="0"/>
                  </a:lnTo>
                  <a:close/>
                </a:path>
              </a:pathLst>
            </a:custGeom>
            <a:blipFill>
              <a:blip r:embed="rId2"/>
              <a:stretch>
                <a:fillRect l="0" t="-84536" r="-3713" b="-84536"/>
              </a:stretch>
            </a:blipFill>
          </p:spPr>
        </p:sp>
      </p:grpSp>
      <p:sp>
        <p:nvSpPr>
          <p:cNvPr name="TextBox 4" id="4"/>
          <p:cNvSpPr txBox="true"/>
          <p:nvPr/>
        </p:nvSpPr>
        <p:spPr>
          <a:xfrm rot="0">
            <a:off x="-898127" y="7942117"/>
            <a:ext cx="20084101" cy="1188825"/>
          </a:xfrm>
          <a:prstGeom prst="rect">
            <a:avLst/>
          </a:prstGeom>
        </p:spPr>
        <p:txBody>
          <a:bodyPr anchor="t" rtlCol="false" tIns="0" lIns="0" bIns="0" rIns="0">
            <a:spAutoFit/>
          </a:bodyPr>
          <a:lstStyle/>
          <a:p>
            <a:pPr algn="ctr">
              <a:lnSpc>
                <a:spcPts val="9605"/>
              </a:lnSpc>
            </a:pPr>
            <a:r>
              <a:rPr lang="en-US" sz="6671">
                <a:solidFill>
                  <a:srgbClr val="D9D5D5"/>
                </a:solidFill>
                <a:latin typeface="Lobster"/>
                <a:ea typeface="Lobster"/>
                <a:cs typeface="Lobster"/>
                <a:sym typeface="Lobster"/>
              </a:rPr>
              <a:t>Team Name: Team Vaachak</a:t>
            </a:r>
          </a:p>
        </p:txBody>
      </p:sp>
      <p:sp>
        <p:nvSpPr>
          <p:cNvPr name="TextBox 5" id="5"/>
          <p:cNvSpPr txBox="true"/>
          <p:nvPr/>
        </p:nvSpPr>
        <p:spPr>
          <a:xfrm rot="0">
            <a:off x="914400" y="6830720"/>
            <a:ext cx="16459200" cy="1055370"/>
          </a:xfrm>
          <a:prstGeom prst="rect">
            <a:avLst/>
          </a:prstGeom>
        </p:spPr>
        <p:txBody>
          <a:bodyPr anchor="t" rtlCol="false" tIns="0" lIns="0" bIns="0" rIns="0">
            <a:spAutoFit/>
          </a:bodyPr>
          <a:lstStyle/>
          <a:p>
            <a:pPr algn="ctr">
              <a:lnSpc>
                <a:spcPts val="8638"/>
              </a:lnSpc>
            </a:pPr>
            <a:r>
              <a:rPr lang="en-US" sz="5999">
                <a:solidFill>
                  <a:srgbClr val="D9D5D5"/>
                </a:solidFill>
                <a:latin typeface="Lobster"/>
                <a:ea typeface="Lobster"/>
                <a:cs typeface="Lobster"/>
                <a:sym typeface="Lobster"/>
              </a:rPr>
              <a:t>PS 10:  AI-Powered Accessibility Assistant</a:t>
            </a:r>
          </a:p>
        </p:txBody>
      </p:sp>
      <p:sp>
        <p:nvSpPr>
          <p:cNvPr name="TextBox 6" id="6"/>
          <p:cNvSpPr txBox="true"/>
          <p:nvPr/>
        </p:nvSpPr>
        <p:spPr>
          <a:xfrm rot="0">
            <a:off x="3648951" y="3385784"/>
            <a:ext cx="10989945" cy="2609926"/>
          </a:xfrm>
          <a:prstGeom prst="rect">
            <a:avLst/>
          </a:prstGeom>
        </p:spPr>
        <p:txBody>
          <a:bodyPr anchor="t" rtlCol="false" tIns="0" lIns="0" bIns="0" rIns="0">
            <a:spAutoFit/>
          </a:bodyPr>
          <a:lstStyle/>
          <a:p>
            <a:pPr algn="ctr">
              <a:lnSpc>
                <a:spcPts val="21599"/>
              </a:lnSpc>
            </a:pPr>
            <a:r>
              <a:rPr lang="en-US" sz="15000">
                <a:solidFill>
                  <a:srgbClr val="8CB3E3"/>
                </a:solidFill>
                <a:latin typeface="Lobster"/>
                <a:ea typeface="Lobster"/>
                <a:cs typeface="Lobster"/>
                <a:sym typeface="Lobster"/>
              </a:rPr>
              <a:t>THINK AI  4.0</a:t>
            </a:r>
          </a:p>
        </p:txBody>
      </p:sp>
      <p:sp>
        <p:nvSpPr>
          <p:cNvPr name="Freeform 7" id="7"/>
          <p:cNvSpPr/>
          <p:nvPr/>
        </p:nvSpPr>
        <p:spPr>
          <a:xfrm flipH="false" flipV="false" rot="0">
            <a:off x="151330" y="1331330"/>
            <a:ext cx="1369119" cy="1472232"/>
          </a:xfrm>
          <a:custGeom>
            <a:avLst/>
            <a:gdLst/>
            <a:ahLst/>
            <a:cxnLst/>
            <a:rect r="r" b="b" t="t" l="l"/>
            <a:pathLst>
              <a:path h="1472232" w="1369119">
                <a:moveTo>
                  <a:pt x="0" y="0"/>
                </a:moveTo>
                <a:lnTo>
                  <a:pt x="1369118" y="0"/>
                </a:lnTo>
                <a:lnTo>
                  <a:pt x="1369118" y="1472232"/>
                </a:lnTo>
                <a:lnTo>
                  <a:pt x="0" y="1472232"/>
                </a:lnTo>
                <a:lnTo>
                  <a:pt x="0" y="0"/>
                </a:lnTo>
                <a:close/>
              </a:path>
            </a:pathLst>
          </a:custGeom>
          <a:blipFill>
            <a:blip r:embed="rId3"/>
            <a:stretch>
              <a:fillRect l="0" t="0" r="0" b="0"/>
            </a:stretch>
          </a:blipFill>
        </p:spPr>
        <p:txBody>
          <a:bodyPr/>
          <a:p/>
        </p:txBody>
      </p:sp>
      <p:sp>
        <p:nvSpPr>
          <p:cNvPr name="Freeform 8" id="8"/>
          <p:cNvSpPr/>
          <p:nvPr/>
        </p:nvSpPr>
        <p:spPr>
          <a:xfrm flipH="false" flipV="false" rot="0">
            <a:off x="3445594" y="1343972"/>
            <a:ext cx="1729895" cy="1397301"/>
          </a:xfrm>
          <a:custGeom>
            <a:avLst/>
            <a:gdLst/>
            <a:ahLst/>
            <a:cxnLst/>
            <a:rect r="r" b="b" t="t" l="l"/>
            <a:pathLst>
              <a:path h="1397301" w="1729895">
                <a:moveTo>
                  <a:pt x="0" y="0"/>
                </a:moveTo>
                <a:lnTo>
                  <a:pt x="1729896" y="0"/>
                </a:lnTo>
                <a:lnTo>
                  <a:pt x="1729896" y="1397301"/>
                </a:lnTo>
                <a:lnTo>
                  <a:pt x="0" y="1397301"/>
                </a:lnTo>
                <a:lnTo>
                  <a:pt x="0" y="0"/>
                </a:lnTo>
                <a:close/>
              </a:path>
            </a:pathLst>
          </a:custGeom>
          <a:blipFill>
            <a:blip r:embed="rId4"/>
            <a:stretch>
              <a:fillRect l="0" t="-5420" r="0" b="-18382"/>
            </a:stretch>
          </a:blipFill>
        </p:spPr>
        <p:txBody>
          <a:bodyPr/>
          <a:p/>
        </p:txBody>
      </p:sp>
      <p:sp>
        <p:nvSpPr>
          <p:cNvPr name="Freeform 9" id="9"/>
          <p:cNvSpPr/>
          <p:nvPr/>
        </p:nvSpPr>
        <p:spPr>
          <a:xfrm flipH="false" flipV="false" rot="0">
            <a:off x="5267568" y="1377129"/>
            <a:ext cx="1916697" cy="1264093"/>
          </a:xfrm>
          <a:custGeom>
            <a:avLst/>
            <a:gdLst/>
            <a:ahLst/>
            <a:cxnLst/>
            <a:rect r="r" b="b" t="t" l="l"/>
            <a:pathLst>
              <a:path h="1264093" w="1916697">
                <a:moveTo>
                  <a:pt x="0" y="0"/>
                </a:moveTo>
                <a:lnTo>
                  <a:pt x="1916697" y="0"/>
                </a:lnTo>
                <a:lnTo>
                  <a:pt x="1916697" y="1264094"/>
                </a:lnTo>
                <a:lnTo>
                  <a:pt x="0" y="1264094"/>
                </a:lnTo>
                <a:lnTo>
                  <a:pt x="0" y="0"/>
                </a:lnTo>
                <a:close/>
              </a:path>
            </a:pathLst>
          </a:custGeom>
          <a:blipFill>
            <a:blip r:embed="rId5"/>
            <a:stretch>
              <a:fillRect l="0" t="0" r="0" b="-4874"/>
            </a:stretch>
          </a:blipFill>
        </p:spPr>
        <p:txBody>
          <a:bodyPr/>
          <a:p/>
        </p:txBody>
      </p:sp>
      <p:sp>
        <p:nvSpPr>
          <p:cNvPr name="Freeform 10" id="10"/>
          <p:cNvSpPr/>
          <p:nvPr/>
        </p:nvSpPr>
        <p:spPr>
          <a:xfrm flipH="false" flipV="false" rot="0">
            <a:off x="1612874" y="1331330"/>
            <a:ext cx="1740642" cy="1355692"/>
          </a:xfrm>
          <a:custGeom>
            <a:avLst/>
            <a:gdLst/>
            <a:ahLst/>
            <a:cxnLst/>
            <a:rect r="r" b="b" t="t" l="l"/>
            <a:pathLst>
              <a:path h="1355692" w="1740642">
                <a:moveTo>
                  <a:pt x="0" y="0"/>
                </a:moveTo>
                <a:lnTo>
                  <a:pt x="1740642" y="0"/>
                </a:lnTo>
                <a:lnTo>
                  <a:pt x="1740642" y="1355692"/>
                </a:lnTo>
                <a:lnTo>
                  <a:pt x="0" y="1355692"/>
                </a:lnTo>
                <a:lnTo>
                  <a:pt x="0" y="0"/>
                </a:lnTo>
                <a:close/>
              </a:path>
            </a:pathLst>
          </a:custGeom>
          <a:blipFill>
            <a:blip r:embed="rId6"/>
            <a:stretch>
              <a:fillRect l="0" t="0" r="0" b="0"/>
            </a:stretch>
          </a:blipFill>
        </p:spPr>
        <p:txBody>
          <a:bodyPr/>
          <a:p/>
        </p:txBody>
      </p:sp>
      <p:grpSp>
        <p:nvGrpSpPr>
          <p:cNvPr name="Group 11" id="11"/>
          <p:cNvGrpSpPr/>
          <p:nvPr/>
        </p:nvGrpSpPr>
        <p:grpSpPr>
          <a:xfrm rot="0">
            <a:off x="7276344" y="1469966"/>
            <a:ext cx="2626242" cy="1136971"/>
            <a:chOff x="0" y="0"/>
            <a:chExt cx="532452" cy="230513"/>
          </a:xfrm>
        </p:grpSpPr>
        <p:sp>
          <p:nvSpPr>
            <p:cNvPr name="Freeform 12" id="12"/>
            <p:cNvSpPr/>
            <p:nvPr/>
          </p:nvSpPr>
          <p:spPr>
            <a:xfrm flipH="false" flipV="false" rot="0">
              <a:off x="0" y="0"/>
              <a:ext cx="532452" cy="230513"/>
            </a:xfrm>
            <a:custGeom>
              <a:avLst/>
              <a:gdLst/>
              <a:ahLst/>
              <a:cxnLst/>
              <a:rect r="r" b="b" t="t" l="l"/>
              <a:pathLst>
                <a:path h="230513" w="532452">
                  <a:moveTo>
                    <a:pt x="0" y="0"/>
                  </a:moveTo>
                  <a:lnTo>
                    <a:pt x="532452" y="0"/>
                  </a:lnTo>
                  <a:lnTo>
                    <a:pt x="532452" y="230513"/>
                  </a:lnTo>
                  <a:lnTo>
                    <a:pt x="0" y="230513"/>
                  </a:lnTo>
                  <a:close/>
                </a:path>
              </a:pathLst>
            </a:custGeom>
            <a:solidFill>
              <a:srgbClr val="FFFFFF"/>
            </a:solidFill>
          </p:spPr>
        </p:sp>
        <p:sp>
          <p:nvSpPr>
            <p:cNvPr name="TextBox 13" id="13"/>
            <p:cNvSpPr txBox="true"/>
            <p:nvPr/>
          </p:nvSpPr>
          <p:spPr>
            <a:xfrm>
              <a:off x="0" y="38100"/>
              <a:ext cx="532452" cy="192413"/>
            </a:xfrm>
            <a:prstGeom prst="rect">
              <a:avLst/>
            </a:prstGeom>
          </p:spPr>
          <p:txBody>
            <a:bodyPr anchor="ctr" rtlCol="false" tIns="71271" lIns="71271" bIns="71271" rIns="71271"/>
            <a:lstStyle/>
            <a:p>
              <a:pPr algn="ctr">
                <a:lnSpc>
                  <a:spcPts val="2000"/>
                </a:lnSpc>
              </a:pPr>
            </a:p>
          </p:txBody>
        </p:sp>
      </p:grpSp>
      <p:sp>
        <p:nvSpPr>
          <p:cNvPr name="Freeform 14" id="14"/>
          <p:cNvSpPr/>
          <p:nvPr/>
        </p:nvSpPr>
        <p:spPr>
          <a:xfrm flipH="false" flipV="false" rot="0">
            <a:off x="7304312" y="952500"/>
            <a:ext cx="2452815" cy="2026354"/>
          </a:xfrm>
          <a:custGeom>
            <a:avLst/>
            <a:gdLst/>
            <a:ahLst/>
            <a:cxnLst/>
            <a:rect r="r" b="b" t="t" l="l"/>
            <a:pathLst>
              <a:path h="2026354" w="2452815">
                <a:moveTo>
                  <a:pt x="0" y="0"/>
                </a:moveTo>
                <a:lnTo>
                  <a:pt x="2452815" y="0"/>
                </a:lnTo>
                <a:lnTo>
                  <a:pt x="2452815" y="2026354"/>
                </a:lnTo>
                <a:lnTo>
                  <a:pt x="0" y="2026354"/>
                </a:lnTo>
                <a:lnTo>
                  <a:pt x="0" y="0"/>
                </a:lnTo>
                <a:close/>
              </a:path>
            </a:pathLst>
          </a:custGeom>
          <a:blipFill>
            <a:blip r:embed="rId7"/>
            <a:stretch>
              <a:fillRect l="0" t="-10522" r="0" b="-10522"/>
            </a:stretch>
          </a:blipFill>
        </p:spPr>
        <p:txBody>
          <a:bodyPr/>
          <a:p/>
        </p:txBody>
      </p:sp>
      <p:sp>
        <p:nvSpPr>
          <p:cNvPr name="Freeform 15" id="15"/>
          <p:cNvSpPr/>
          <p:nvPr/>
        </p:nvSpPr>
        <p:spPr>
          <a:xfrm flipH="false" flipV="false" rot="0">
            <a:off x="11509328" y="1377129"/>
            <a:ext cx="2287542" cy="1143771"/>
          </a:xfrm>
          <a:custGeom>
            <a:avLst/>
            <a:gdLst/>
            <a:ahLst/>
            <a:cxnLst/>
            <a:rect r="r" b="b" t="t" l="l"/>
            <a:pathLst>
              <a:path h="1143771" w="2287542">
                <a:moveTo>
                  <a:pt x="0" y="0"/>
                </a:moveTo>
                <a:lnTo>
                  <a:pt x="2287542" y="0"/>
                </a:lnTo>
                <a:lnTo>
                  <a:pt x="2287542" y="1143771"/>
                </a:lnTo>
                <a:lnTo>
                  <a:pt x="0" y="1143771"/>
                </a:lnTo>
                <a:lnTo>
                  <a:pt x="0" y="0"/>
                </a:lnTo>
                <a:close/>
              </a:path>
            </a:pathLst>
          </a:custGeom>
          <a:blipFill>
            <a:blip r:embed="rId8"/>
            <a:stretch>
              <a:fillRect l="0" t="0" r="0" b="0"/>
            </a:stretch>
          </a:blipFill>
        </p:spPr>
        <p:txBody>
          <a:bodyPr/>
          <a:p/>
        </p:txBody>
      </p:sp>
      <p:sp>
        <p:nvSpPr>
          <p:cNvPr name="Freeform 16" id="16"/>
          <p:cNvSpPr/>
          <p:nvPr/>
        </p:nvSpPr>
        <p:spPr>
          <a:xfrm flipH="false" flipV="false" rot="0">
            <a:off x="9994664" y="1377129"/>
            <a:ext cx="1422585" cy="1422585"/>
          </a:xfrm>
          <a:custGeom>
            <a:avLst/>
            <a:gdLst/>
            <a:ahLst/>
            <a:cxnLst/>
            <a:rect r="r" b="b" t="t" l="l"/>
            <a:pathLst>
              <a:path h="1422585" w="1422585">
                <a:moveTo>
                  <a:pt x="0" y="0"/>
                </a:moveTo>
                <a:lnTo>
                  <a:pt x="1422586" y="0"/>
                </a:lnTo>
                <a:lnTo>
                  <a:pt x="1422586" y="1422585"/>
                </a:lnTo>
                <a:lnTo>
                  <a:pt x="0" y="1422585"/>
                </a:lnTo>
                <a:lnTo>
                  <a:pt x="0" y="0"/>
                </a:lnTo>
                <a:close/>
              </a:path>
            </a:pathLst>
          </a:custGeom>
          <a:blipFill>
            <a:blip r:embed="rId9"/>
            <a:stretch>
              <a:fillRect l="0" t="0" r="0" b="0"/>
            </a:stretch>
          </a:blipFill>
        </p:spPr>
        <p:txBody>
          <a:bodyPr/>
          <a:p/>
        </p:txBody>
      </p:sp>
      <p:sp>
        <p:nvSpPr>
          <p:cNvPr name="Freeform 17" id="17"/>
          <p:cNvSpPr/>
          <p:nvPr/>
        </p:nvSpPr>
        <p:spPr>
          <a:xfrm flipH="false" flipV="false" rot="0">
            <a:off x="13888949" y="1277602"/>
            <a:ext cx="1995824" cy="1315129"/>
          </a:xfrm>
          <a:custGeom>
            <a:avLst/>
            <a:gdLst/>
            <a:ahLst/>
            <a:cxnLst/>
            <a:rect r="r" b="b" t="t" l="l"/>
            <a:pathLst>
              <a:path h="1315129" w="1995824">
                <a:moveTo>
                  <a:pt x="0" y="0"/>
                </a:moveTo>
                <a:lnTo>
                  <a:pt x="1995824" y="0"/>
                </a:lnTo>
                <a:lnTo>
                  <a:pt x="1995824" y="1315129"/>
                </a:lnTo>
                <a:lnTo>
                  <a:pt x="0" y="1315129"/>
                </a:lnTo>
                <a:lnTo>
                  <a:pt x="0" y="0"/>
                </a:lnTo>
                <a:close/>
              </a:path>
            </a:pathLst>
          </a:custGeom>
          <a:blipFill>
            <a:blip r:embed="rId10"/>
            <a:stretch>
              <a:fillRect l="0" t="0" r="0" b="0"/>
            </a:stretch>
          </a:blipFill>
        </p:spPr>
        <p:txBody>
          <a:bodyPr/>
          <a:p/>
        </p:txBody>
      </p:sp>
      <p:sp>
        <p:nvSpPr>
          <p:cNvPr name="Freeform 18" id="18"/>
          <p:cNvSpPr/>
          <p:nvPr/>
        </p:nvSpPr>
        <p:spPr>
          <a:xfrm flipH="false" flipV="false" rot="0">
            <a:off x="15976851" y="1258923"/>
            <a:ext cx="2005020" cy="1333808"/>
          </a:xfrm>
          <a:custGeom>
            <a:avLst/>
            <a:gdLst/>
            <a:ahLst/>
            <a:cxnLst/>
            <a:rect r="r" b="b" t="t" l="l"/>
            <a:pathLst>
              <a:path h="1333808" w="2005020">
                <a:moveTo>
                  <a:pt x="0" y="0"/>
                </a:moveTo>
                <a:lnTo>
                  <a:pt x="2005021" y="0"/>
                </a:lnTo>
                <a:lnTo>
                  <a:pt x="2005021" y="1333808"/>
                </a:lnTo>
                <a:lnTo>
                  <a:pt x="0" y="1333808"/>
                </a:lnTo>
                <a:lnTo>
                  <a:pt x="0" y="0"/>
                </a:lnTo>
                <a:close/>
              </a:path>
            </a:pathLst>
          </a:custGeom>
          <a:blipFill>
            <a:blip r:embed="rId11"/>
            <a:stretch>
              <a:fillRect l="0" t="-53008" r="0" b="-72475"/>
            </a:stretch>
          </a:blipFill>
        </p:spPr>
        <p:txBody>
          <a:body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80500" r="-3713" b="-80500"/>
              </a:stretch>
            </a:blipFill>
          </p:spPr>
        </p:sp>
      </p:grpSp>
      <p:sp>
        <p:nvSpPr>
          <p:cNvPr name="TextBox 4" id="4"/>
          <p:cNvSpPr txBox="true"/>
          <p:nvPr/>
        </p:nvSpPr>
        <p:spPr>
          <a:xfrm rot="0">
            <a:off x="714823" y="1652702"/>
            <a:ext cx="16858355" cy="1114949"/>
          </a:xfrm>
          <a:prstGeom prst="rect">
            <a:avLst/>
          </a:prstGeom>
        </p:spPr>
        <p:txBody>
          <a:bodyPr anchor="t" rtlCol="false" tIns="0" lIns="0" bIns="0" rIns="0">
            <a:spAutoFit/>
          </a:bodyPr>
          <a:lstStyle/>
          <a:p>
            <a:pPr algn="ctr">
              <a:lnSpc>
                <a:spcPts val="10425"/>
              </a:lnSpc>
            </a:pPr>
            <a:r>
              <a:rPr lang="en-US" sz="7239">
                <a:solidFill>
                  <a:srgbClr val="FFFFFF"/>
                </a:solidFill>
                <a:latin typeface="Lobster"/>
                <a:ea typeface="Lobster"/>
                <a:cs typeface="Lobster"/>
                <a:sym typeface="Lobster"/>
              </a:rPr>
              <a:t>Meet The Team</a:t>
            </a:r>
          </a:p>
        </p:txBody>
      </p:sp>
      <p:sp>
        <p:nvSpPr>
          <p:cNvPr id="5" name="Member 1 photo"/>
          <p:cNvSpPr/>
          <p:nvPr/>
        </p:nvSpPr>
        <p:spPr>
          <a:xfrm>
            <a:off x="2354580" y="3520440"/>
            <a:ext cx="2331720" cy="2331720"/>
          </a:xfrm>
          <a:prstGeom prst="ellipse">
            <a:avLst/>
          </a:prstGeom>
          <a:solidFill>
            <a:srgbClr val="0F2433"/>
          </a:solidFill>
          <a:ln w="38100">
            <a:solidFill>
              <a:srgbClr val="2EC4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354580" y="3520440"/>
            <a:ext cx="2331720" cy="2331720"/>
          </a:xfrm>
          <a:prstGeom prst="rect">
            <a:avLst/>
          </a:prstGeom>
          <a:noFill/>
        </p:spPr>
        <p:txBody>
          <a:bodyPr wrap="square" lIns="0" rIns="0" tIns="0" bIns="0" anchor="ctr">
            <a:spAutoFit/>
          </a:bodyPr>
          <a:lstStyle/>
          <a:p>
            <a:pPr algn="ctr"/>
            <a:r>
              <a:rPr sz="6600" b="1">
                <a:solidFill>
                  <a:srgbClr val="FFFFFF"/>
                </a:solidFill>
                <a:latin typeface="Segoe UI Black"/>
                <a:cs typeface="Nirmala UI"/>
              </a:rPr>
              <a:t>A</a:t>
            </a:r>
          </a:p>
        </p:txBody>
      </p:sp>
      <p:sp>
        <p:nvSpPr>
          <p:cNvPr id="7" name="TextBox 6"/>
          <p:cNvSpPr txBox="1"/>
          <p:nvPr/>
        </p:nvSpPr>
        <p:spPr>
          <a:xfrm>
            <a:off x="1691640" y="6080760"/>
            <a:ext cx="3657600" cy="457200"/>
          </a:xfrm>
          <a:prstGeom prst="rect">
            <a:avLst/>
          </a:prstGeom>
          <a:noFill/>
        </p:spPr>
        <p:txBody>
          <a:bodyPr wrap="square" lIns="0" rIns="0" tIns="0" bIns="0" anchor="t">
            <a:spAutoFit/>
          </a:bodyPr>
          <a:lstStyle/>
          <a:p>
            <a:pPr algn="ctr"/>
            <a:r>
              <a:rPr sz="2400" b="1">
                <a:solidFill>
                  <a:srgbClr val="FFFFFF"/>
                </a:solidFill>
                <a:latin typeface="Segoe UI Semibold"/>
                <a:cs typeface="Nirmala UI"/>
              </a:rPr>
              <a:t>Anvesh Chafle</a:t>
            </a:r>
          </a:p>
        </p:txBody>
      </p:sp>
      <p:sp>
        <p:nvSpPr>
          <p:cNvPr id="8" name="TextBox 7"/>
          <p:cNvSpPr txBox="1"/>
          <p:nvPr/>
        </p:nvSpPr>
        <p:spPr>
          <a:xfrm>
            <a:off x="1691640" y="6629400"/>
            <a:ext cx="3657600" cy="731520"/>
          </a:xfrm>
          <a:prstGeom prst="rect">
            <a:avLst/>
          </a:prstGeom>
          <a:noFill/>
        </p:spPr>
        <p:txBody>
          <a:bodyPr wrap="square" lIns="0" rIns="0" tIns="0" bIns="0" anchor="t">
            <a:spAutoFit/>
          </a:bodyPr>
          <a:lstStyle/>
          <a:p>
            <a:pPr algn="ctr"/>
            <a:r>
              <a:rPr sz="1600" b="0">
                <a:solidFill>
                  <a:srgbClr val="B8C7D6"/>
                </a:solidFill>
                <a:latin typeface="Segoe UI"/>
                <a:cs typeface="Nirmala UI"/>
              </a:rPr>
              <a:t>Backend, AI Pipeline &amp;</a:t>
            </a:r>
          </a:p>
          <a:p>
            <a:pPr algn="ctr"/>
            <a:r>
              <a:rPr sz="1600" b="0">
                <a:solidFill>
                  <a:srgbClr val="B8C7D6"/>
                </a:solidFill>
                <a:latin typeface="Segoe UI"/>
                <a:cs typeface="Nirmala UI"/>
              </a:rPr>
              <a:t>Safety Rule Engine</a:t>
            </a:r>
          </a:p>
        </p:txBody>
      </p:sp>
      <p:sp>
        <p:nvSpPr>
          <p:cNvPr id="9" name="Member 2 photo"/>
          <p:cNvSpPr/>
          <p:nvPr/>
        </p:nvSpPr>
        <p:spPr>
          <a:xfrm>
            <a:off x="6103620" y="3520440"/>
            <a:ext cx="2331720" cy="2331720"/>
          </a:xfrm>
          <a:prstGeom prst="ellipse">
            <a:avLst/>
          </a:prstGeom>
          <a:solidFill>
            <a:srgbClr val="0F2433"/>
          </a:solidFill>
          <a:ln w="38100">
            <a:solidFill>
              <a:srgbClr val="2EC4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03620" y="3520440"/>
            <a:ext cx="2331720" cy="2331720"/>
          </a:xfrm>
          <a:prstGeom prst="rect">
            <a:avLst/>
          </a:prstGeom>
          <a:noFill/>
        </p:spPr>
        <p:txBody>
          <a:bodyPr wrap="square" lIns="0" rIns="0" tIns="0" bIns="0" anchor="ctr">
            <a:spAutoFit/>
          </a:bodyPr>
          <a:lstStyle/>
          <a:p>
            <a:pPr algn="ctr"/>
            <a:r>
              <a:rPr sz="6600" b="1">
                <a:solidFill>
                  <a:srgbClr val="FFFFFF"/>
                </a:solidFill>
                <a:latin typeface="Segoe UI Black"/>
                <a:cs typeface="Nirmala UI"/>
              </a:rPr>
              <a:t>M</a:t>
            </a:r>
          </a:p>
        </p:txBody>
      </p:sp>
      <p:sp>
        <p:nvSpPr>
          <p:cNvPr id="11" name="TextBox 10"/>
          <p:cNvSpPr txBox="1"/>
          <p:nvPr/>
        </p:nvSpPr>
        <p:spPr>
          <a:xfrm>
            <a:off x="5440680" y="6080760"/>
            <a:ext cx="3657600" cy="457200"/>
          </a:xfrm>
          <a:prstGeom prst="rect">
            <a:avLst/>
          </a:prstGeom>
          <a:noFill/>
        </p:spPr>
        <p:txBody>
          <a:bodyPr wrap="square" lIns="0" rIns="0" tIns="0" bIns="0" anchor="t">
            <a:spAutoFit/>
          </a:bodyPr>
          <a:lstStyle/>
          <a:p>
            <a:pPr algn="ctr"/>
            <a:r>
              <a:rPr sz="2400" b="1">
                <a:solidFill>
                  <a:srgbClr val="FFFFFF"/>
                </a:solidFill>
                <a:latin typeface="Segoe UI Semibold"/>
                <a:cs typeface="Nirmala UI"/>
              </a:rPr>
              <a:t>Maulik Parshionikar</a:t>
            </a:r>
          </a:p>
        </p:txBody>
      </p:sp>
      <p:sp>
        <p:nvSpPr>
          <p:cNvPr id="12" name="TextBox 11"/>
          <p:cNvSpPr txBox="1"/>
          <p:nvPr/>
        </p:nvSpPr>
        <p:spPr>
          <a:xfrm>
            <a:off x="5440680" y="6629400"/>
            <a:ext cx="3657600" cy="731520"/>
          </a:xfrm>
          <a:prstGeom prst="rect">
            <a:avLst/>
          </a:prstGeom>
          <a:noFill/>
        </p:spPr>
        <p:txBody>
          <a:bodyPr wrap="square" lIns="0" rIns="0" tIns="0" bIns="0" anchor="t">
            <a:spAutoFit/>
          </a:bodyPr>
          <a:lstStyle/>
          <a:p>
            <a:pPr algn="ctr"/>
            <a:r>
              <a:rPr sz="1600" b="0">
                <a:solidFill>
                  <a:srgbClr val="B8C7D6"/>
                </a:solidFill>
                <a:latin typeface="Segoe UI"/>
                <a:cs typeface="Nirmala UI"/>
              </a:rPr>
              <a:t>Frontend, UI/UX &amp;</a:t>
            </a:r>
          </a:p>
          <a:p>
            <a:pPr algn="ctr"/>
            <a:r>
              <a:rPr sz="1600" b="0">
                <a:solidFill>
                  <a:srgbClr val="B8C7D6"/>
                </a:solidFill>
                <a:latin typeface="Segoe UI"/>
                <a:cs typeface="Nirmala UI"/>
              </a:rPr>
              <a:t>Accessibility</a:t>
            </a:r>
          </a:p>
        </p:txBody>
      </p:sp>
      <p:sp>
        <p:nvSpPr>
          <p:cNvPr id="13" name="Member 3 photo"/>
          <p:cNvSpPr/>
          <p:nvPr/>
        </p:nvSpPr>
        <p:spPr>
          <a:xfrm>
            <a:off x="9852660" y="3520440"/>
            <a:ext cx="2331720" cy="2331720"/>
          </a:xfrm>
          <a:prstGeom prst="ellipse">
            <a:avLst/>
          </a:prstGeom>
          <a:solidFill>
            <a:srgbClr val="0F2433"/>
          </a:solidFill>
          <a:ln w="38100">
            <a:solidFill>
              <a:srgbClr val="2EC4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52660" y="3520440"/>
            <a:ext cx="2331720" cy="2331720"/>
          </a:xfrm>
          <a:prstGeom prst="rect">
            <a:avLst/>
          </a:prstGeom>
          <a:noFill/>
        </p:spPr>
        <p:txBody>
          <a:bodyPr wrap="square" lIns="0" rIns="0" tIns="0" bIns="0" anchor="ctr">
            <a:spAutoFit/>
          </a:bodyPr>
          <a:lstStyle/>
          <a:p>
            <a:pPr algn="ctr"/>
            <a:r>
              <a:rPr sz="6600" b="1">
                <a:solidFill>
                  <a:srgbClr val="FFFFFF"/>
                </a:solidFill>
                <a:latin typeface="Segoe UI Black"/>
                <a:cs typeface="Nirmala UI"/>
              </a:rPr>
              <a:t>N</a:t>
            </a:r>
          </a:p>
        </p:txBody>
      </p:sp>
      <p:sp>
        <p:nvSpPr>
          <p:cNvPr id="15" name="TextBox 14"/>
          <p:cNvSpPr txBox="1"/>
          <p:nvPr/>
        </p:nvSpPr>
        <p:spPr>
          <a:xfrm>
            <a:off x="9189720" y="6080760"/>
            <a:ext cx="3657600" cy="457200"/>
          </a:xfrm>
          <a:prstGeom prst="rect">
            <a:avLst/>
          </a:prstGeom>
          <a:noFill/>
        </p:spPr>
        <p:txBody>
          <a:bodyPr wrap="square" lIns="0" rIns="0" tIns="0" bIns="0" anchor="t">
            <a:spAutoFit/>
          </a:bodyPr>
          <a:lstStyle/>
          <a:p>
            <a:pPr algn="ctr"/>
            <a:r>
              <a:rPr sz="2400" b="1">
                <a:solidFill>
                  <a:srgbClr val="FFFFFF"/>
                </a:solidFill>
                <a:latin typeface="Segoe UI Semibold"/>
                <a:cs typeface="Nirmala UI"/>
              </a:rPr>
              <a:t>Nimisha Jain</a:t>
            </a:r>
          </a:p>
        </p:txBody>
      </p:sp>
      <p:sp>
        <p:nvSpPr>
          <p:cNvPr id="16" name="TextBox 15"/>
          <p:cNvSpPr txBox="1"/>
          <p:nvPr/>
        </p:nvSpPr>
        <p:spPr>
          <a:xfrm>
            <a:off x="9189720" y="6629400"/>
            <a:ext cx="3657600" cy="731520"/>
          </a:xfrm>
          <a:prstGeom prst="rect">
            <a:avLst/>
          </a:prstGeom>
          <a:noFill/>
        </p:spPr>
        <p:txBody>
          <a:bodyPr wrap="square" lIns="0" rIns="0" tIns="0" bIns="0" anchor="t">
            <a:spAutoFit/>
          </a:bodyPr>
          <a:lstStyle/>
          <a:p>
            <a:pPr algn="ctr"/>
            <a:r>
              <a:rPr sz="1600" b="0">
                <a:solidFill>
                  <a:srgbClr val="B8C7D6"/>
                </a:solidFill>
                <a:latin typeface="Segoe UI"/>
                <a:cs typeface="Nirmala UI"/>
              </a:rPr>
              <a:t>Presenter · Research</a:t>
            </a:r>
          </a:p>
          <a:p>
            <a:pPr algn="ctr"/>
            <a:r>
              <a:rPr sz="1600" b="0">
                <a:solidFill>
                  <a:srgbClr val="B8C7D6"/>
                </a:solidFill>
                <a:latin typeface="Segoe UI"/>
                <a:cs typeface="Nirmala UI"/>
              </a:rPr>
              <a:t>&amp; Live Demo</a:t>
            </a:r>
          </a:p>
        </p:txBody>
      </p:sp>
      <p:sp>
        <p:nvSpPr>
          <p:cNvPr id="17" name="Member 4 photo"/>
          <p:cNvSpPr/>
          <p:nvPr/>
        </p:nvSpPr>
        <p:spPr>
          <a:xfrm>
            <a:off x="13601699" y="3520440"/>
            <a:ext cx="2331720" cy="2331720"/>
          </a:xfrm>
          <a:prstGeom prst="ellipse">
            <a:avLst/>
          </a:prstGeom>
          <a:solidFill>
            <a:srgbClr val="0F2433"/>
          </a:solidFill>
          <a:ln w="38100">
            <a:solidFill>
              <a:srgbClr val="2EC4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601699" y="3520440"/>
            <a:ext cx="2331720" cy="2331720"/>
          </a:xfrm>
          <a:prstGeom prst="rect">
            <a:avLst/>
          </a:prstGeom>
          <a:noFill/>
        </p:spPr>
        <p:txBody>
          <a:bodyPr wrap="square" lIns="0" rIns="0" tIns="0" bIns="0" anchor="ctr">
            <a:spAutoFit/>
          </a:bodyPr>
          <a:lstStyle/>
          <a:p>
            <a:pPr algn="ctr"/>
            <a:r>
              <a:rPr sz="6600" b="1">
                <a:solidFill>
                  <a:srgbClr val="FFFFFF"/>
                </a:solidFill>
                <a:latin typeface="Segoe UI Black"/>
                <a:cs typeface="Nirmala UI"/>
              </a:rPr>
              <a:t>J</a:t>
            </a:r>
          </a:p>
        </p:txBody>
      </p:sp>
      <p:sp>
        <p:nvSpPr>
          <p:cNvPr id="19" name="TextBox 18"/>
          <p:cNvSpPr txBox="1"/>
          <p:nvPr/>
        </p:nvSpPr>
        <p:spPr>
          <a:xfrm>
            <a:off x="12938759" y="6080760"/>
            <a:ext cx="3657600" cy="457200"/>
          </a:xfrm>
          <a:prstGeom prst="rect">
            <a:avLst/>
          </a:prstGeom>
          <a:noFill/>
        </p:spPr>
        <p:txBody>
          <a:bodyPr wrap="square" lIns="0" rIns="0" tIns="0" bIns="0" anchor="t">
            <a:spAutoFit/>
          </a:bodyPr>
          <a:lstStyle/>
          <a:p>
            <a:pPr algn="ctr"/>
            <a:r>
              <a:rPr sz="2400" b="1">
                <a:solidFill>
                  <a:srgbClr val="FFFFFF"/>
                </a:solidFill>
                <a:latin typeface="Segoe UI Semibold"/>
                <a:cs typeface="Nirmala UI"/>
              </a:rPr>
              <a:t>Jiya Khut</a:t>
            </a:r>
          </a:p>
        </p:txBody>
      </p:sp>
      <p:sp>
        <p:nvSpPr>
          <p:cNvPr id="20" name="TextBox 19"/>
          <p:cNvSpPr txBox="1"/>
          <p:nvPr/>
        </p:nvSpPr>
        <p:spPr>
          <a:xfrm>
            <a:off x="12938759" y="6629400"/>
            <a:ext cx="3657600" cy="731520"/>
          </a:xfrm>
          <a:prstGeom prst="rect">
            <a:avLst/>
          </a:prstGeom>
          <a:noFill/>
        </p:spPr>
        <p:txBody>
          <a:bodyPr wrap="square" lIns="0" rIns="0" tIns="0" bIns="0" anchor="t">
            <a:spAutoFit/>
          </a:bodyPr>
          <a:lstStyle/>
          <a:p>
            <a:pPr algn="ctr"/>
            <a:r>
              <a:rPr sz="1600" b="0">
                <a:solidFill>
                  <a:srgbClr val="B8C7D6"/>
                </a:solidFill>
                <a:latin typeface="Segoe UI"/>
                <a:cs typeface="Nirmala UI"/>
              </a:rPr>
              <a:t>Presenter · Pitch</a:t>
            </a:r>
          </a:p>
          <a:p>
            <a:pPr algn="ctr"/>
            <a:r>
              <a:rPr sz="1600" b="0">
                <a:solidFill>
                  <a:srgbClr val="B8C7D6"/>
                </a:solidFill>
                <a:latin typeface="Segoe UI"/>
                <a:cs typeface="Nirmala UI"/>
              </a:rPr>
              <a:t>&amp; User Testing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6"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80500" r="-3713" b="-80500"/>
              </a:stretch>
            </a:blipFill>
          </p:spPr>
        </p:sp>
      </p:grpSp>
      <p:sp>
        <p:nvSpPr>
          <p:cNvPr id="4" name="TextBox 3"/>
          <p:cNvSpPr txBox="1"/>
          <p:nvPr/>
        </p:nvSpPr>
        <p:spPr>
          <a:xfrm>
            <a:off x="2103120" y="1417320"/>
            <a:ext cx="9144000" cy="320040"/>
          </a:xfrm>
          <a:prstGeom prst="rect">
            <a:avLst/>
          </a:prstGeom>
          <a:noFill/>
        </p:spPr>
        <p:txBody>
          <a:bodyPr wrap="square" lIns="0" rIns="0" tIns="0" bIns="0" anchor="t">
            <a:spAutoFit/>
          </a:bodyPr>
          <a:lstStyle/>
          <a:p>
            <a:pPr algn="l"/>
            <a:r>
              <a:rPr sz="1300" b="1" spc="200">
                <a:solidFill>
                  <a:srgbClr val="FFFFFF"/>
                </a:solidFill>
                <a:latin typeface="Segoe UI Semibold"/>
                <a:cs typeface="Nirmala UI"/>
              </a:rPr>
              <a:t>DOMAIN  |  </a:t>
            </a:r>
            <a:r>
              <a:rPr sz="1300" b="1" spc="200">
                <a:solidFill>
                  <a:srgbClr val="2EC4F1"/>
                </a:solidFill>
                <a:latin typeface="Segoe UI Semibold"/>
                <a:cs typeface="Nirmala UI"/>
              </a:rPr>
              <a:t>ACCESSIBILITY · ELDER SAFETY</a:t>
            </a:r>
          </a:p>
        </p:txBody>
      </p:sp>
      <p:sp>
        <p:nvSpPr>
          <p:cNvPr id="5" name="TextBox 4"/>
          <p:cNvSpPr txBox="1"/>
          <p:nvPr/>
        </p:nvSpPr>
        <p:spPr>
          <a:xfrm>
            <a:off x="2103120" y="1783080"/>
            <a:ext cx="9144000" cy="731520"/>
          </a:xfrm>
          <a:prstGeom prst="rect">
            <a:avLst/>
          </a:prstGeom>
          <a:noFill/>
        </p:spPr>
        <p:txBody>
          <a:bodyPr wrap="square" lIns="0" rIns="0" tIns="0" bIns="0" anchor="t">
            <a:spAutoFit/>
          </a:bodyPr>
          <a:lstStyle/>
          <a:p>
            <a:pPr algn="l"/>
            <a:r>
              <a:rPr sz="2800" b="1" spc="100">
                <a:solidFill>
                  <a:srgbClr val="FFFFFF"/>
                </a:solidFill>
                <a:latin typeface="Segoe UI Black"/>
                <a:cs typeface="Nirmala UI"/>
              </a:rPr>
              <a:t>PROBLEM </a:t>
            </a:r>
            <a:r>
              <a:rPr sz="2800" b="1" spc="100">
                <a:solidFill>
                  <a:srgbClr val="2EC4F1"/>
                </a:solidFill>
                <a:latin typeface="Segoe UI Black"/>
                <a:cs typeface="Nirmala UI"/>
              </a:rPr>
              <a:t>STATEMENT</a:t>
            </a:r>
          </a:p>
        </p:txBody>
      </p:sp>
      <p:sp>
        <p:nvSpPr>
          <p:cNvPr id="6" name="Rectangle 5"/>
          <p:cNvSpPr/>
          <p:nvPr/>
        </p:nvSpPr>
        <p:spPr>
          <a:xfrm>
            <a:off x="2103120" y="2532888"/>
            <a:ext cx="777240" cy="64008"/>
          </a:xfrm>
          <a:prstGeom prst="rect">
            <a:avLst/>
          </a:prstGeom>
          <a:solidFill>
            <a:srgbClr val="2EC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03120" y="3063240"/>
            <a:ext cx="10972800" cy="2011680"/>
          </a:xfrm>
          <a:prstGeom prst="rect">
            <a:avLst/>
          </a:prstGeom>
          <a:noFill/>
        </p:spPr>
        <p:txBody>
          <a:bodyPr wrap="square" lIns="0" rIns="0" tIns="0" bIns="0" anchor="t">
            <a:spAutoFit/>
          </a:bodyPr>
          <a:lstStyle/>
          <a:p>
            <a:pPr algn="l">
              <a:lnSpc>
                <a:spcPct val="95000"/>
              </a:lnSpc>
            </a:pPr>
            <a:r>
              <a:rPr sz="4600" b="1">
                <a:solidFill>
                  <a:srgbClr val="FFFFFF"/>
                </a:solidFill>
                <a:latin typeface="Segoe UI Semibold"/>
                <a:cs typeface="Nirmala UI"/>
              </a:rPr>
              <a:t>Prakash-kaka can hear the bill.</a:t>
            </a:r>
          </a:p>
          <a:p>
            <a:pPr algn="l">
              <a:lnSpc>
                <a:spcPct val="95000"/>
              </a:lnSpc>
            </a:pPr>
            <a:r>
              <a:rPr sz="4600" b="1">
                <a:solidFill>
                  <a:srgbClr val="2EC4F1"/>
                </a:solidFill>
                <a:latin typeface="Segoe UI Semibold"/>
                <a:cs typeface="Nirmala UI"/>
              </a:rPr>
              <a:t>Nobody tells him what to do.</a:t>
            </a:r>
          </a:p>
        </p:txBody>
      </p:sp>
      <p:sp>
        <p:nvSpPr>
          <p:cNvPr id="8" name="TextBox 7"/>
          <p:cNvSpPr txBox="1"/>
          <p:nvPr/>
        </p:nvSpPr>
        <p:spPr>
          <a:xfrm>
            <a:off x="2103120" y="5257800"/>
            <a:ext cx="10607040" cy="1463040"/>
          </a:xfrm>
          <a:prstGeom prst="rect">
            <a:avLst/>
          </a:prstGeom>
          <a:noFill/>
        </p:spPr>
        <p:txBody>
          <a:bodyPr wrap="square" lIns="0" rIns="0" tIns="0" bIns="0" anchor="t">
            <a:spAutoFit/>
          </a:bodyPr>
          <a:lstStyle/>
          <a:p>
            <a:pPr algn="l">
              <a:lnSpc>
                <a:spcPct val="110000"/>
              </a:lnSpc>
            </a:pPr>
            <a:r>
              <a:rPr sz="1800" b="0">
                <a:solidFill>
                  <a:srgbClr val="B8C7D6"/>
                </a:solidFill>
                <a:latin typeface="Segoe UI"/>
                <a:cs typeface="Nirmala UI"/>
              </a:rPr>
              <a:t>68, cataract, reads only Marathi. The MSEDCL bill, a new medicine strip and bank SMSes arrive in English jargon and small print while his children are at work. He guesses, misses due dates, takes expired medicine, or trusts a fake 'power will be cut tonight' SMS. Google Lens reads the text aloud, but only if he knows what to ask.</a:t>
            </a:r>
          </a:p>
        </p:txBody>
      </p:sp>
      <p:sp>
        <p:nvSpPr>
          <p:cNvPr id="9" name="Rectangle 8"/>
          <p:cNvSpPr/>
          <p:nvPr/>
        </p:nvSpPr>
        <p:spPr>
          <a:xfrm>
            <a:off x="2103120" y="7178040"/>
            <a:ext cx="73152" cy="566928"/>
          </a:xfrm>
          <a:prstGeom prst="rect">
            <a:avLst/>
          </a:prstGeom>
          <a:solidFill>
            <a:srgbClr val="2EC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7150608"/>
            <a:ext cx="10515600" cy="640080"/>
          </a:xfrm>
          <a:prstGeom prst="rect">
            <a:avLst/>
          </a:prstGeom>
          <a:noFill/>
        </p:spPr>
        <p:txBody>
          <a:bodyPr wrap="square" lIns="0" rIns="0" tIns="0" bIns="0" anchor="ctr">
            <a:spAutoFit/>
          </a:bodyPr>
          <a:lstStyle/>
          <a:p>
            <a:pPr algn="l"/>
            <a:r>
              <a:rPr sz="2100" b="1">
                <a:solidFill>
                  <a:srgbClr val="FFFFFF"/>
                </a:solidFill>
                <a:latin typeface="Segoe UI Semibold"/>
                <a:cs typeface="Nirmala UI"/>
              </a:rPr>
              <a:t>Elders need </a:t>
            </a:r>
            <a:r>
              <a:rPr sz="2100" b="1">
                <a:solidFill>
                  <a:srgbClr val="2EC4F1"/>
                </a:solidFill>
                <a:latin typeface="Segoe UI Semibold"/>
                <a:cs typeface="Nirmala UI"/>
              </a:rPr>
              <a:t>a decision they can trust, not text read aloud.</a:t>
            </a:r>
          </a:p>
        </p:txBody>
      </p:sp>
      <p:sp>
        <p:nvSpPr>
          <p:cNvPr id="11" name="Rounded Rectangle 10"/>
          <p:cNvSpPr/>
          <p:nvPr/>
        </p:nvSpPr>
        <p:spPr>
          <a:xfrm>
            <a:off x="13487400" y="1600200"/>
            <a:ext cx="3291840" cy="1417320"/>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0" y="1709928"/>
            <a:ext cx="2926080" cy="1280160"/>
          </a:xfrm>
          <a:prstGeom prst="rect">
            <a:avLst/>
          </a:prstGeom>
          <a:noFill/>
        </p:spPr>
        <p:txBody>
          <a:bodyPr wrap="square" lIns="0" rIns="0" tIns="0" bIns="0" anchor="t">
            <a:spAutoFit/>
          </a:bodyPr>
          <a:lstStyle/>
          <a:p>
            <a:pPr algn="l">
              <a:spcAft>
                <a:spcPts val="100"/>
              </a:spcAft>
            </a:pPr>
            <a:r>
              <a:rPr sz="3000" b="1">
                <a:solidFill>
                  <a:srgbClr val="2EC4F1"/>
                </a:solidFill>
                <a:latin typeface="Segoe UI Black"/>
                <a:cs typeface="Nirmala UI"/>
              </a:rPr>
              <a:t>149 M</a:t>
            </a:r>
          </a:p>
          <a:p>
            <a:pPr algn="l">
              <a:spcAft>
                <a:spcPts val="100"/>
              </a:spcAft>
            </a:pPr>
            <a:r>
              <a:rPr sz="1250" b="0">
                <a:solidFill>
                  <a:srgbClr val="FFFFFF"/>
                </a:solidFill>
                <a:latin typeface="Segoe UI"/>
                <a:cs typeface="Nirmala UI"/>
              </a:rPr>
              <a:t>Indians aged 60+ today, 347 M by 2050</a:t>
            </a:r>
          </a:p>
          <a:p>
            <a:pPr algn="l"/>
            <a:r>
              <a:rPr sz="1000" b="0">
                <a:solidFill>
                  <a:srgbClr val="7F93A8"/>
                </a:solidFill>
                <a:latin typeface="Segoe UI"/>
                <a:cs typeface="Nirmala UI"/>
              </a:rPr>
              <a:t>UNFPA India Ageing Report 2023</a:t>
            </a:r>
          </a:p>
        </p:txBody>
      </p:sp>
      <p:sp>
        <p:nvSpPr>
          <p:cNvPr id="13" name="Rounded Rectangle 12"/>
          <p:cNvSpPr/>
          <p:nvPr/>
        </p:nvSpPr>
        <p:spPr>
          <a:xfrm>
            <a:off x="13487400" y="3172968"/>
            <a:ext cx="3291840" cy="1417320"/>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0" y="3282696"/>
            <a:ext cx="2926080" cy="1280160"/>
          </a:xfrm>
          <a:prstGeom prst="rect">
            <a:avLst/>
          </a:prstGeom>
          <a:noFill/>
        </p:spPr>
        <p:txBody>
          <a:bodyPr wrap="square" lIns="0" rIns="0" tIns="0" bIns="0" anchor="t">
            <a:spAutoFit/>
          </a:bodyPr>
          <a:lstStyle/>
          <a:p>
            <a:pPr algn="l">
              <a:spcAft>
                <a:spcPts val="100"/>
              </a:spcAft>
            </a:pPr>
            <a:r>
              <a:rPr sz="3000" b="1">
                <a:solidFill>
                  <a:srgbClr val="2EC4F1"/>
                </a:solidFill>
                <a:latin typeface="Segoe UI Black"/>
                <a:cs typeface="Nirmala UI"/>
              </a:rPr>
              <a:t>68%</a:t>
            </a:r>
          </a:p>
          <a:p>
            <a:pPr algn="l">
              <a:spcAft>
                <a:spcPts val="100"/>
              </a:spcAft>
            </a:pPr>
            <a:r>
              <a:rPr sz="1250" b="0">
                <a:solidFill>
                  <a:srgbClr val="FFFFFF"/>
                </a:solidFill>
                <a:latin typeface="Segoe UI"/>
                <a:cs typeface="Nirmala UI"/>
              </a:rPr>
              <a:t>of women aged 60–75 cannot read</a:t>
            </a:r>
          </a:p>
          <a:p>
            <a:pPr algn="l"/>
            <a:r>
              <a:rPr sz="1000" b="0">
                <a:solidFill>
                  <a:srgbClr val="7F93A8"/>
                </a:solidFill>
                <a:latin typeface="Segoe UI"/>
                <a:cs typeface="Nirmala UI"/>
              </a:rPr>
              <a:t>UNFPA India Ageing Report 2023</a:t>
            </a:r>
          </a:p>
        </p:txBody>
      </p:sp>
      <p:sp>
        <p:nvSpPr>
          <p:cNvPr id="15" name="Rounded Rectangle 14"/>
          <p:cNvSpPr/>
          <p:nvPr/>
        </p:nvSpPr>
        <p:spPr>
          <a:xfrm>
            <a:off x="13487400" y="4745736"/>
            <a:ext cx="3291840" cy="1417320"/>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16000" y="4855464"/>
            <a:ext cx="2926080" cy="1280160"/>
          </a:xfrm>
          <a:prstGeom prst="rect">
            <a:avLst/>
          </a:prstGeom>
          <a:noFill/>
        </p:spPr>
        <p:txBody>
          <a:bodyPr wrap="square" lIns="0" rIns="0" tIns="0" bIns="0" anchor="t">
            <a:spAutoFit/>
          </a:bodyPr>
          <a:lstStyle/>
          <a:p>
            <a:pPr algn="l">
              <a:spcAft>
                <a:spcPts val="100"/>
              </a:spcAft>
            </a:pPr>
            <a:r>
              <a:rPr sz="3000" b="1">
                <a:solidFill>
                  <a:srgbClr val="2EC4F1"/>
                </a:solidFill>
                <a:latin typeface="Segoe UI Black"/>
                <a:cs typeface="Nirmala UI"/>
              </a:rPr>
              <a:t>13.8%</a:t>
            </a:r>
          </a:p>
          <a:p>
            <a:pPr algn="l">
              <a:spcAft>
                <a:spcPts val="100"/>
              </a:spcAft>
            </a:pPr>
            <a:r>
              <a:rPr sz="1250" b="0">
                <a:solidFill>
                  <a:srgbClr val="FFFFFF"/>
                </a:solidFill>
                <a:latin typeface="Segoe UI"/>
                <a:cs typeface="Nirmala UI"/>
              </a:rPr>
              <a:t>of Indians aged 50+ have visual impairment</a:t>
            </a:r>
          </a:p>
          <a:p>
            <a:pPr algn="l"/>
            <a:r>
              <a:rPr sz="1000" b="0">
                <a:solidFill>
                  <a:srgbClr val="7F93A8"/>
                </a:solidFill>
                <a:latin typeface="Segoe UI"/>
                <a:cs typeface="Nirmala UI"/>
              </a:rPr>
              <a:t>National Blindness &amp; VI Survey 2015–19</a:t>
            </a:r>
          </a:p>
        </p:txBody>
      </p:sp>
      <p:sp>
        <p:nvSpPr>
          <p:cNvPr id="17" name="Rounded Rectangle 16"/>
          <p:cNvSpPr/>
          <p:nvPr/>
        </p:nvSpPr>
        <p:spPr>
          <a:xfrm>
            <a:off x="13487400" y="6318504"/>
            <a:ext cx="3291840" cy="1417320"/>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0" y="6428232"/>
            <a:ext cx="2926080" cy="1280160"/>
          </a:xfrm>
          <a:prstGeom prst="rect">
            <a:avLst/>
          </a:prstGeom>
          <a:noFill/>
        </p:spPr>
        <p:txBody>
          <a:bodyPr wrap="square" lIns="0" rIns="0" tIns="0" bIns="0" anchor="t">
            <a:spAutoFit/>
          </a:bodyPr>
          <a:lstStyle/>
          <a:p>
            <a:pPr algn="l">
              <a:spcAft>
                <a:spcPts val="100"/>
              </a:spcAft>
            </a:pPr>
            <a:r>
              <a:rPr sz="3000" b="1">
                <a:solidFill>
                  <a:srgbClr val="FF5A6E"/>
                </a:solidFill>
                <a:latin typeface="Segoe UI Black"/>
                <a:cs typeface="Nirmala UI"/>
              </a:rPr>
              <a:t>₹22,495 Cr</a:t>
            </a:r>
          </a:p>
          <a:p>
            <a:pPr algn="l">
              <a:spcAft>
                <a:spcPts val="100"/>
              </a:spcAft>
            </a:pPr>
            <a:r>
              <a:rPr sz="1250" b="0">
                <a:solidFill>
                  <a:srgbClr val="FFFFFF"/>
                </a:solidFill>
                <a:latin typeface="Segoe UI"/>
                <a:cs typeface="Nirmala UI"/>
              </a:rPr>
              <a:t>lost to cyber fraud in 2025; fake bill SMS target elders</a:t>
            </a:r>
          </a:p>
          <a:p>
            <a:pPr algn="l"/>
            <a:r>
              <a:rPr sz="1000" b="0">
                <a:solidFill>
                  <a:srgbClr val="7F93A8"/>
                </a:solidFill>
                <a:latin typeface="Segoe UI"/>
                <a:cs typeface="Nirmala UI"/>
              </a:rPr>
              <a:t>I4C data, via Moneylife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9671"/>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80500" r="-3713" b="-80500"/>
              </a:stretch>
            </a:blipFill>
          </p:spPr>
        </p:sp>
      </p:grpSp>
      <p:sp>
        <p:nvSpPr>
          <p:cNvPr id="4" name="TextBox 3"/>
          <p:cNvSpPr txBox="1"/>
          <p:nvPr/>
        </p:nvSpPr>
        <p:spPr>
          <a:xfrm>
            <a:off x="2103120" y="1051560"/>
            <a:ext cx="9144000" cy="320040"/>
          </a:xfrm>
          <a:prstGeom prst="rect">
            <a:avLst/>
          </a:prstGeom>
          <a:noFill/>
        </p:spPr>
        <p:txBody>
          <a:bodyPr wrap="square" lIns="0" rIns="0" tIns="0" bIns="0" anchor="t">
            <a:spAutoFit/>
          </a:bodyPr>
          <a:lstStyle/>
          <a:p>
            <a:pPr algn="l"/>
            <a:r>
              <a:rPr sz="1300" b="1" spc="200">
                <a:solidFill>
                  <a:srgbClr val="FFFFFF"/>
                </a:solidFill>
                <a:latin typeface="Segoe UI Semibold"/>
                <a:cs typeface="Nirmala UI"/>
              </a:rPr>
              <a:t>PROPOSED  </a:t>
            </a:r>
            <a:r>
              <a:rPr sz="1300" b="1" spc="200">
                <a:solidFill>
                  <a:srgbClr val="2EC4F1"/>
                </a:solidFill>
                <a:latin typeface="Segoe UI Semibold"/>
                <a:cs typeface="Nirmala UI"/>
              </a:rPr>
              <a:t>SOLUTION</a:t>
            </a:r>
          </a:p>
        </p:txBody>
      </p:sp>
      <p:sp>
        <p:nvSpPr>
          <p:cNvPr id="5" name="TextBox 4"/>
          <p:cNvSpPr txBox="1"/>
          <p:nvPr/>
        </p:nvSpPr>
        <p:spPr>
          <a:xfrm>
            <a:off x="2103120" y="1325880"/>
            <a:ext cx="8686800" cy="1188720"/>
          </a:xfrm>
          <a:prstGeom prst="rect">
            <a:avLst/>
          </a:prstGeom>
          <a:noFill/>
        </p:spPr>
        <p:txBody>
          <a:bodyPr wrap="square" lIns="0" rIns="0" tIns="0" bIns="0" anchor="t">
            <a:spAutoFit/>
          </a:bodyPr>
          <a:lstStyle/>
          <a:p>
            <a:pPr algn="l"/>
            <a:r>
              <a:rPr sz="6400" b="1" spc="200">
                <a:solidFill>
                  <a:srgbClr val="FFFFFF"/>
                </a:solidFill>
                <a:latin typeface="Segoe UI Black"/>
                <a:cs typeface="Nirmala UI"/>
              </a:rPr>
              <a:t>VAA</a:t>
            </a:r>
            <a:r>
              <a:rPr sz="6400" b="1" spc="200">
                <a:solidFill>
                  <a:srgbClr val="2EC4F1"/>
                </a:solidFill>
                <a:latin typeface="Segoe UI Black"/>
                <a:cs typeface="Nirmala UI"/>
              </a:rPr>
              <a:t>CHAK</a:t>
            </a:r>
            <a:r>
              <a:rPr sz="4000" b="1">
                <a:solidFill>
                  <a:srgbClr val="2EC4F1"/>
                </a:solidFill>
                <a:latin typeface="Nirmala UI"/>
                <a:cs typeface="Nirmala UI"/>
              </a:rPr>
              <a:t>  वाचक</a:t>
            </a:r>
          </a:p>
        </p:txBody>
      </p:sp>
      <p:sp>
        <p:nvSpPr>
          <p:cNvPr id="6" name="TextBox 5"/>
          <p:cNvSpPr txBox="1"/>
          <p:nvPr/>
        </p:nvSpPr>
        <p:spPr>
          <a:xfrm>
            <a:off x="2103120" y="2514600"/>
            <a:ext cx="14173200" cy="502920"/>
          </a:xfrm>
          <a:prstGeom prst="rect">
            <a:avLst/>
          </a:prstGeom>
          <a:noFill/>
        </p:spPr>
        <p:txBody>
          <a:bodyPr wrap="square" lIns="0" rIns="0" tIns="0" bIns="0" anchor="t">
            <a:spAutoFit/>
          </a:bodyPr>
          <a:lstStyle/>
          <a:p>
            <a:pPr algn="l"/>
            <a:r>
              <a:rPr sz="2200" b="1">
                <a:solidFill>
                  <a:srgbClr val="FFFFFF"/>
                </a:solidFill>
                <a:latin typeface="Segoe UI Semibold"/>
                <a:cs typeface="Nirmala UI"/>
              </a:rPr>
              <a:t>A voice-first reader that tells elders what to do, and keeps them safe.</a:t>
            </a:r>
          </a:p>
        </p:txBody>
      </p:sp>
      <p:sp>
        <p:nvSpPr>
          <p:cNvPr id="7" name="TextBox 6"/>
          <p:cNvSpPr txBox="1"/>
          <p:nvPr/>
        </p:nvSpPr>
        <p:spPr>
          <a:xfrm>
            <a:off x="2103120" y="2999232"/>
            <a:ext cx="13258800" cy="731520"/>
          </a:xfrm>
          <a:prstGeom prst="rect">
            <a:avLst/>
          </a:prstGeom>
          <a:noFill/>
        </p:spPr>
        <p:txBody>
          <a:bodyPr wrap="square" lIns="0" rIns="0" tIns="0" bIns="0" anchor="t">
            <a:spAutoFit/>
          </a:bodyPr>
          <a:lstStyle/>
          <a:p>
            <a:pPr algn="l">
              <a:lnSpc>
                <a:spcPct val="105000"/>
              </a:lnSpc>
            </a:pPr>
            <a:r>
              <a:rPr sz="1500" b="0">
                <a:solidFill>
                  <a:srgbClr val="B8C7D6"/>
                </a:solidFill>
                <a:latin typeface="Segoe UI"/>
                <a:cs typeface="Nirmala UI"/>
              </a:rPr>
              <a:t>Instead of reading text aloud and waiting for the right question, Vaachak turns any bill, medicine strip, notice or message into one spoken action card: what it is, what to do, by when, how much, and the danger.</a:t>
            </a:r>
          </a:p>
        </p:txBody>
      </p:sp>
      <p:sp>
        <p:nvSpPr>
          <p:cNvPr id="8" name="Rounded Rectangle 7"/>
          <p:cNvSpPr/>
          <p:nvPr/>
        </p:nvSpPr>
        <p:spPr>
          <a:xfrm>
            <a:off x="2103120" y="3931920"/>
            <a:ext cx="3310128" cy="3063240"/>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304288" y="4133087"/>
            <a:ext cx="566928" cy="502920"/>
          </a:xfrm>
          <a:prstGeom prst="roundRect">
            <a:avLst>
              <a:gd name="adj" fmla="val 12000"/>
            </a:avLst>
          </a:prstGeom>
          <a:solidFill>
            <a:srgbClr val="2EC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04288" y="4133087"/>
            <a:ext cx="566928" cy="502920"/>
          </a:xfrm>
          <a:prstGeom prst="rect">
            <a:avLst/>
          </a:prstGeom>
          <a:noFill/>
        </p:spPr>
        <p:txBody>
          <a:bodyPr wrap="square" lIns="0" rIns="0" tIns="0" bIns="0" anchor="ctr">
            <a:spAutoFit/>
          </a:bodyPr>
          <a:lstStyle/>
          <a:p>
            <a:pPr algn="ctr"/>
            <a:r>
              <a:rPr sz="1800" b="1">
                <a:solidFill>
                  <a:srgbClr val="04121C"/>
                </a:solidFill>
                <a:latin typeface="Segoe UI Black"/>
                <a:cs typeface="Nirmala UI"/>
              </a:rPr>
              <a:t>01</a:t>
            </a:r>
          </a:p>
        </p:txBody>
      </p:sp>
      <p:sp>
        <p:nvSpPr>
          <p:cNvPr id="11" name="TextBox 10"/>
          <p:cNvSpPr txBox="1"/>
          <p:nvPr/>
        </p:nvSpPr>
        <p:spPr>
          <a:xfrm>
            <a:off x="3017520" y="4114800"/>
            <a:ext cx="2304288" cy="594360"/>
          </a:xfrm>
          <a:prstGeom prst="rect">
            <a:avLst/>
          </a:prstGeom>
          <a:noFill/>
        </p:spPr>
        <p:txBody>
          <a:bodyPr wrap="square" lIns="0" rIns="0" tIns="0" bIns="0" anchor="ctr">
            <a:spAutoFit/>
          </a:bodyPr>
          <a:lstStyle/>
          <a:p>
            <a:pPr algn="l"/>
            <a:r>
              <a:rPr sz="1300" b="1" spc="100">
                <a:solidFill>
                  <a:srgbClr val="FFFFFF"/>
                </a:solidFill>
                <a:latin typeface="Segoe UI Semibold"/>
                <a:cs typeface="Nirmala UI"/>
              </a:rPr>
              <a:t>ANY</a:t>
            </a:r>
          </a:p>
          <a:p>
            <a:pPr algn="l"/>
            <a:r>
              <a:rPr sz="1300" b="1" spc="100">
                <a:solidFill>
                  <a:srgbClr val="FFFFFF"/>
                </a:solidFill>
                <a:latin typeface="Segoe UI Semibold"/>
                <a:cs typeface="Nirmala UI"/>
              </a:rPr>
              <a:t>INPUT</a:t>
            </a:r>
          </a:p>
        </p:txBody>
      </p:sp>
      <p:pic>
        <p:nvPicPr>
          <p:cNvPr id="12" name="Picture 11" descr="camera.png"/>
          <p:cNvPicPr>
            <a:picLocks noChangeAspect="1"/>
          </p:cNvPicPr>
          <p:nvPr/>
        </p:nvPicPr>
        <p:blipFill>
          <a:blip r:embed="rId3"/>
          <a:stretch>
            <a:fillRect/>
          </a:stretch>
        </p:blipFill>
        <p:spPr>
          <a:xfrm>
            <a:off x="3255263" y="4846320"/>
            <a:ext cx="1005840" cy="1005840"/>
          </a:xfrm>
          <a:prstGeom prst="rect">
            <a:avLst/>
          </a:prstGeom>
        </p:spPr>
      </p:pic>
      <p:sp>
        <p:nvSpPr>
          <p:cNvPr id="13" name="TextBox 12"/>
          <p:cNvSpPr txBox="1"/>
          <p:nvPr/>
        </p:nvSpPr>
        <p:spPr>
          <a:xfrm>
            <a:off x="2331720" y="5943600"/>
            <a:ext cx="2852928" cy="1005840"/>
          </a:xfrm>
          <a:prstGeom prst="rect">
            <a:avLst/>
          </a:prstGeom>
          <a:noFill/>
        </p:spPr>
        <p:txBody>
          <a:bodyPr wrap="square" lIns="0" rIns="0" tIns="0" bIns="0" anchor="t">
            <a:spAutoFit/>
          </a:bodyPr>
          <a:lstStyle/>
          <a:p>
            <a:pPr algn="l">
              <a:lnSpc>
                <a:spcPct val="105000"/>
              </a:lnSpc>
            </a:pPr>
            <a:r>
              <a:rPr sz="1250" b="0">
                <a:solidFill>
                  <a:srgbClr val="B8C7D6"/>
                </a:solidFill>
                <a:latin typeface="Segoe UI"/>
                <a:cs typeface="Nirmala UI"/>
              </a:rPr>
              <a:t>Photo with a voice-guided camera, screenshot, PDF, link, pasted SMS or a spoken question.</a:t>
            </a:r>
          </a:p>
        </p:txBody>
      </p:sp>
      <p:cxnSp>
        <p:nvCxnSpPr>
          <p:cNvPr id="14" name="Connector 13"/>
          <p:cNvCxnSpPr/>
          <p:nvPr/>
        </p:nvCxnSpPr>
        <p:spPr>
          <a:xfrm>
            <a:off x="5458968" y="5463540"/>
            <a:ext cx="365760" cy="0"/>
          </a:xfrm>
          <a:prstGeom prst="line">
            <a:avLst/>
          </a:prstGeom>
          <a:ln w="28575">
            <a:solidFill>
              <a:srgbClr val="2EC4F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870448" y="3931920"/>
            <a:ext cx="3310128" cy="3063240"/>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071616" y="4133087"/>
            <a:ext cx="566928" cy="502920"/>
          </a:xfrm>
          <a:prstGeom prst="roundRect">
            <a:avLst>
              <a:gd name="adj" fmla="val 12000"/>
            </a:avLst>
          </a:prstGeom>
          <a:solidFill>
            <a:srgbClr val="2EC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71616" y="4133087"/>
            <a:ext cx="566928" cy="502920"/>
          </a:xfrm>
          <a:prstGeom prst="rect">
            <a:avLst/>
          </a:prstGeom>
          <a:noFill/>
        </p:spPr>
        <p:txBody>
          <a:bodyPr wrap="square" lIns="0" rIns="0" tIns="0" bIns="0" anchor="ctr">
            <a:spAutoFit/>
          </a:bodyPr>
          <a:lstStyle/>
          <a:p>
            <a:pPr algn="ctr"/>
            <a:r>
              <a:rPr sz="1800" b="1">
                <a:solidFill>
                  <a:srgbClr val="04121C"/>
                </a:solidFill>
                <a:latin typeface="Segoe UI Black"/>
                <a:cs typeface="Nirmala UI"/>
              </a:rPr>
              <a:t>02</a:t>
            </a:r>
          </a:p>
        </p:txBody>
      </p:sp>
      <p:sp>
        <p:nvSpPr>
          <p:cNvPr id="18" name="TextBox 17"/>
          <p:cNvSpPr txBox="1"/>
          <p:nvPr/>
        </p:nvSpPr>
        <p:spPr>
          <a:xfrm>
            <a:off x="6784848" y="4114800"/>
            <a:ext cx="2304288" cy="594360"/>
          </a:xfrm>
          <a:prstGeom prst="rect">
            <a:avLst/>
          </a:prstGeom>
          <a:noFill/>
        </p:spPr>
        <p:txBody>
          <a:bodyPr wrap="square" lIns="0" rIns="0" tIns="0" bIns="0" anchor="ctr">
            <a:spAutoFit/>
          </a:bodyPr>
          <a:lstStyle/>
          <a:p>
            <a:pPr algn="l"/>
            <a:r>
              <a:rPr sz="1300" b="1" spc="100">
                <a:solidFill>
                  <a:srgbClr val="FFFFFF"/>
                </a:solidFill>
                <a:latin typeface="Segoe UI Semibold"/>
                <a:cs typeface="Nirmala UI"/>
              </a:rPr>
              <a:t>AI</a:t>
            </a:r>
          </a:p>
          <a:p>
            <a:pPr algn="l"/>
            <a:r>
              <a:rPr sz="1300" b="1" spc="100">
                <a:solidFill>
                  <a:srgbClr val="FFFFFF"/>
                </a:solidFill>
                <a:latin typeface="Segoe UI Semibold"/>
                <a:cs typeface="Nirmala UI"/>
              </a:rPr>
              <a:t>READS</a:t>
            </a:r>
          </a:p>
        </p:txBody>
      </p:sp>
      <p:pic>
        <p:nvPicPr>
          <p:cNvPr id="19" name="Picture 18" descr="scan-search.png"/>
          <p:cNvPicPr>
            <a:picLocks noChangeAspect="1"/>
          </p:cNvPicPr>
          <p:nvPr/>
        </p:nvPicPr>
        <p:blipFill>
          <a:blip r:embed="rId4"/>
          <a:stretch>
            <a:fillRect/>
          </a:stretch>
        </p:blipFill>
        <p:spPr>
          <a:xfrm>
            <a:off x="7022592" y="4846320"/>
            <a:ext cx="1005840" cy="1005840"/>
          </a:xfrm>
          <a:prstGeom prst="rect">
            <a:avLst/>
          </a:prstGeom>
        </p:spPr>
      </p:pic>
      <p:sp>
        <p:nvSpPr>
          <p:cNvPr id="20" name="TextBox 19"/>
          <p:cNvSpPr txBox="1"/>
          <p:nvPr/>
        </p:nvSpPr>
        <p:spPr>
          <a:xfrm>
            <a:off x="6099048" y="5943600"/>
            <a:ext cx="2852928" cy="1005840"/>
          </a:xfrm>
          <a:prstGeom prst="rect">
            <a:avLst/>
          </a:prstGeom>
          <a:noFill/>
        </p:spPr>
        <p:txBody>
          <a:bodyPr wrap="square" lIns="0" rIns="0" tIns="0" bIns="0" anchor="t">
            <a:spAutoFit/>
          </a:bodyPr>
          <a:lstStyle/>
          <a:p>
            <a:pPr algn="l">
              <a:lnSpc>
                <a:spcPct val="105000"/>
              </a:lnSpc>
            </a:pPr>
            <a:r>
              <a:rPr sz="1250" b="0">
                <a:solidFill>
                  <a:srgbClr val="B8C7D6"/>
                </a:solidFill>
                <a:latin typeface="Segoe UI"/>
                <a:cs typeface="Nirmala UI"/>
              </a:rPr>
              <a:t>Gemini fills a 5-field card: what it is, what to do, by when, how much, warning.</a:t>
            </a:r>
          </a:p>
        </p:txBody>
      </p:sp>
      <p:cxnSp>
        <p:nvCxnSpPr>
          <p:cNvPr id="21" name="Connector 20"/>
          <p:cNvCxnSpPr/>
          <p:nvPr/>
        </p:nvCxnSpPr>
        <p:spPr>
          <a:xfrm>
            <a:off x="9226296" y="5463540"/>
            <a:ext cx="365759" cy="0"/>
          </a:xfrm>
          <a:prstGeom prst="line">
            <a:avLst/>
          </a:prstGeom>
          <a:ln w="28575">
            <a:solidFill>
              <a:srgbClr val="2EC4F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637776" y="3931920"/>
            <a:ext cx="3310128" cy="3063240"/>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38944" y="4133087"/>
            <a:ext cx="566928" cy="502920"/>
          </a:xfrm>
          <a:prstGeom prst="roundRect">
            <a:avLst>
              <a:gd name="adj" fmla="val 12000"/>
            </a:avLst>
          </a:prstGeom>
          <a:solidFill>
            <a:srgbClr val="2EC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38944" y="4133087"/>
            <a:ext cx="566928" cy="502920"/>
          </a:xfrm>
          <a:prstGeom prst="rect">
            <a:avLst/>
          </a:prstGeom>
          <a:noFill/>
        </p:spPr>
        <p:txBody>
          <a:bodyPr wrap="square" lIns="0" rIns="0" tIns="0" bIns="0" anchor="ctr">
            <a:spAutoFit/>
          </a:bodyPr>
          <a:lstStyle/>
          <a:p>
            <a:pPr algn="ctr"/>
            <a:r>
              <a:rPr sz="1800" b="1">
                <a:solidFill>
                  <a:srgbClr val="04121C"/>
                </a:solidFill>
                <a:latin typeface="Segoe UI Black"/>
                <a:cs typeface="Nirmala UI"/>
              </a:rPr>
              <a:t>03</a:t>
            </a:r>
          </a:p>
        </p:txBody>
      </p:sp>
      <p:sp>
        <p:nvSpPr>
          <p:cNvPr id="25" name="TextBox 24"/>
          <p:cNvSpPr txBox="1"/>
          <p:nvPr/>
        </p:nvSpPr>
        <p:spPr>
          <a:xfrm>
            <a:off x="10552176" y="4114800"/>
            <a:ext cx="2304288" cy="594360"/>
          </a:xfrm>
          <a:prstGeom prst="rect">
            <a:avLst/>
          </a:prstGeom>
          <a:noFill/>
        </p:spPr>
        <p:txBody>
          <a:bodyPr wrap="square" lIns="0" rIns="0" tIns="0" bIns="0" anchor="ctr">
            <a:spAutoFit/>
          </a:bodyPr>
          <a:lstStyle/>
          <a:p>
            <a:pPr algn="l"/>
            <a:r>
              <a:rPr sz="1300" b="1" spc="100">
                <a:solidFill>
                  <a:srgbClr val="FFFFFF"/>
                </a:solidFill>
                <a:latin typeface="Segoe UI Semibold"/>
                <a:cs typeface="Nirmala UI"/>
              </a:rPr>
              <a:t>RULES</a:t>
            </a:r>
          </a:p>
          <a:p>
            <a:pPr algn="l"/>
            <a:r>
              <a:rPr sz="1300" b="1" spc="100">
                <a:solidFill>
                  <a:srgbClr val="FFFFFF"/>
                </a:solidFill>
                <a:latin typeface="Segoe UI Semibold"/>
                <a:cs typeface="Nirmala UI"/>
              </a:rPr>
              <a:t>VERIFY</a:t>
            </a:r>
          </a:p>
        </p:txBody>
      </p:sp>
      <p:pic>
        <p:nvPicPr>
          <p:cNvPr id="26" name="Picture 25" descr="shield-check.png"/>
          <p:cNvPicPr>
            <a:picLocks noChangeAspect="1"/>
          </p:cNvPicPr>
          <p:nvPr/>
        </p:nvPicPr>
        <p:blipFill>
          <a:blip r:embed="rId5"/>
          <a:stretch>
            <a:fillRect/>
          </a:stretch>
        </p:blipFill>
        <p:spPr>
          <a:xfrm>
            <a:off x="10789919" y="4846320"/>
            <a:ext cx="1005840" cy="1005840"/>
          </a:xfrm>
          <a:prstGeom prst="rect">
            <a:avLst/>
          </a:prstGeom>
        </p:spPr>
      </p:pic>
      <p:sp>
        <p:nvSpPr>
          <p:cNvPr id="27" name="TextBox 26"/>
          <p:cNvSpPr txBox="1"/>
          <p:nvPr/>
        </p:nvSpPr>
        <p:spPr>
          <a:xfrm>
            <a:off x="9866376" y="5943600"/>
            <a:ext cx="2852928" cy="1005840"/>
          </a:xfrm>
          <a:prstGeom prst="rect">
            <a:avLst/>
          </a:prstGeom>
          <a:noFill/>
        </p:spPr>
        <p:txBody>
          <a:bodyPr wrap="square" lIns="0" rIns="0" tIns="0" bIns="0" anchor="t">
            <a:spAutoFit/>
          </a:bodyPr>
          <a:lstStyle/>
          <a:p>
            <a:pPr algn="l">
              <a:lnSpc>
                <a:spcPct val="105000"/>
              </a:lnSpc>
            </a:pPr>
            <a:r>
              <a:rPr sz="1250" b="0">
                <a:solidFill>
                  <a:srgbClr val="B8C7D6"/>
                </a:solidFill>
                <a:latin typeface="Segoe UI"/>
                <a:cs typeface="Nirmala UI"/>
              </a:rPr>
              <a:t>No AI here: ₹ and date must be in the print, a 2nd OCR must agree, scam and expiry checks.</a:t>
            </a:r>
          </a:p>
        </p:txBody>
      </p:sp>
      <p:cxnSp>
        <p:nvCxnSpPr>
          <p:cNvPr id="28" name="Connector 27"/>
          <p:cNvCxnSpPr/>
          <p:nvPr/>
        </p:nvCxnSpPr>
        <p:spPr>
          <a:xfrm>
            <a:off x="12993624" y="5463540"/>
            <a:ext cx="365760" cy="0"/>
          </a:xfrm>
          <a:prstGeom prst="line">
            <a:avLst/>
          </a:prstGeom>
          <a:ln w="28575">
            <a:solidFill>
              <a:srgbClr val="2EC4F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3405104" y="3931920"/>
            <a:ext cx="3310128" cy="3063240"/>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3606272" y="4133087"/>
            <a:ext cx="566928" cy="502920"/>
          </a:xfrm>
          <a:prstGeom prst="roundRect">
            <a:avLst>
              <a:gd name="adj" fmla="val 12000"/>
            </a:avLst>
          </a:prstGeom>
          <a:solidFill>
            <a:srgbClr val="2EC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606272" y="4133087"/>
            <a:ext cx="566928" cy="502920"/>
          </a:xfrm>
          <a:prstGeom prst="rect">
            <a:avLst/>
          </a:prstGeom>
          <a:noFill/>
        </p:spPr>
        <p:txBody>
          <a:bodyPr wrap="square" lIns="0" rIns="0" tIns="0" bIns="0" anchor="ctr">
            <a:spAutoFit/>
          </a:bodyPr>
          <a:lstStyle/>
          <a:p>
            <a:pPr algn="ctr"/>
            <a:r>
              <a:rPr sz="1800" b="1">
                <a:solidFill>
                  <a:srgbClr val="04121C"/>
                </a:solidFill>
                <a:latin typeface="Segoe UI Black"/>
                <a:cs typeface="Nirmala UI"/>
              </a:rPr>
              <a:t>04</a:t>
            </a:r>
          </a:p>
        </p:txBody>
      </p:sp>
      <p:sp>
        <p:nvSpPr>
          <p:cNvPr id="32" name="TextBox 31"/>
          <p:cNvSpPr txBox="1"/>
          <p:nvPr/>
        </p:nvSpPr>
        <p:spPr>
          <a:xfrm>
            <a:off x="14319504" y="4114800"/>
            <a:ext cx="2304288" cy="594360"/>
          </a:xfrm>
          <a:prstGeom prst="rect">
            <a:avLst/>
          </a:prstGeom>
          <a:noFill/>
        </p:spPr>
        <p:txBody>
          <a:bodyPr wrap="square" lIns="0" rIns="0" tIns="0" bIns="0" anchor="ctr">
            <a:spAutoFit/>
          </a:bodyPr>
          <a:lstStyle/>
          <a:p>
            <a:pPr algn="l"/>
            <a:r>
              <a:rPr sz="1300" b="1" spc="100">
                <a:solidFill>
                  <a:srgbClr val="FFFFFF"/>
                </a:solidFill>
                <a:latin typeface="Segoe UI Semibold"/>
                <a:cs typeface="Nirmala UI"/>
              </a:rPr>
              <a:t>SPEAKS</a:t>
            </a:r>
          </a:p>
          <a:p>
            <a:pPr algn="l"/>
            <a:r>
              <a:rPr sz="1300" b="1" spc="100">
                <a:solidFill>
                  <a:srgbClr val="FFFFFF"/>
                </a:solidFill>
                <a:latin typeface="Segoe UI Semibold"/>
                <a:cs typeface="Nirmala UI"/>
              </a:rPr>
              <a:t>&amp; ACTS</a:t>
            </a:r>
          </a:p>
        </p:txBody>
      </p:sp>
      <p:pic>
        <p:nvPicPr>
          <p:cNvPr id="33" name="Picture 32" descr="volume-2.png"/>
          <p:cNvPicPr>
            <a:picLocks noChangeAspect="1"/>
          </p:cNvPicPr>
          <p:nvPr/>
        </p:nvPicPr>
        <p:blipFill>
          <a:blip r:embed="rId6"/>
          <a:stretch>
            <a:fillRect/>
          </a:stretch>
        </p:blipFill>
        <p:spPr>
          <a:xfrm>
            <a:off x="14557247" y="4846320"/>
            <a:ext cx="1005840" cy="1005840"/>
          </a:xfrm>
          <a:prstGeom prst="rect">
            <a:avLst/>
          </a:prstGeom>
        </p:spPr>
      </p:pic>
      <p:sp>
        <p:nvSpPr>
          <p:cNvPr id="34" name="TextBox 33"/>
          <p:cNvSpPr txBox="1"/>
          <p:nvPr/>
        </p:nvSpPr>
        <p:spPr>
          <a:xfrm>
            <a:off x="13633704" y="5943600"/>
            <a:ext cx="2852928" cy="1005840"/>
          </a:xfrm>
          <a:prstGeom prst="rect">
            <a:avLst/>
          </a:prstGeom>
          <a:noFill/>
        </p:spPr>
        <p:txBody>
          <a:bodyPr wrap="square" lIns="0" rIns="0" tIns="0" bIns="0" anchor="t">
            <a:spAutoFit/>
          </a:bodyPr>
          <a:lstStyle/>
          <a:p>
            <a:pPr algn="l">
              <a:lnSpc>
                <a:spcPct val="105000"/>
              </a:lnSpc>
            </a:pPr>
            <a:r>
              <a:rPr sz="1250" b="0">
                <a:solidFill>
                  <a:srgbClr val="B8C7D6"/>
                </a:solidFill>
                <a:latin typeface="Segoe UI"/>
                <a:cs typeface="Nirmala UI"/>
              </a:rPr>
              <a:t>Indian voice in ~1.5 s in Marathi, Hindi or English. Pay, remind, call 1930, ask family.</a:t>
            </a:r>
          </a:p>
        </p:txBody>
      </p:sp>
      <p:cxnSp>
        <p:nvCxnSpPr>
          <p:cNvPr id="35" name="Connector 34"/>
          <p:cNvCxnSpPr/>
          <p:nvPr/>
        </p:nvCxnSpPr>
        <p:spPr>
          <a:xfrm>
            <a:off x="3758183" y="6995160"/>
            <a:ext cx="0" cy="384048"/>
          </a:xfrm>
          <a:prstGeom prst="line">
            <a:avLst/>
          </a:prstGeom>
          <a:ln w="15875">
            <a:solidFill>
              <a:srgbClr val="2EC4F1"/>
            </a:solidFill>
            <a:prstDash val="dash"/>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5060167" y="6995160"/>
            <a:ext cx="0" cy="384048"/>
          </a:xfrm>
          <a:prstGeom prst="line">
            <a:avLst/>
          </a:prstGeom>
          <a:ln w="15875">
            <a:solidFill>
              <a:srgbClr val="2EC4F1"/>
            </a:solidFill>
            <a:prstDash val="dash"/>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758183" y="7379208"/>
            <a:ext cx="2642617" cy="0"/>
          </a:xfrm>
          <a:prstGeom prst="line">
            <a:avLst/>
          </a:prstGeom>
          <a:ln w="15875">
            <a:solidFill>
              <a:srgbClr val="2EC4F1"/>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2252960" y="7379208"/>
            <a:ext cx="2807207" cy="0"/>
          </a:xfrm>
          <a:prstGeom prst="line">
            <a:avLst/>
          </a:prstGeom>
          <a:ln w="15875">
            <a:solidFill>
              <a:srgbClr val="2EC4F1"/>
            </a:solidFill>
            <a:prstDash val="dash"/>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6492240" y="7159752"/>
            <a:ext cx="5669280" cy="438912"/>
          </a:xfrm>
          <a:prstGeom prst="roundRect">
            <a:avLst>
              <a:gd name="adj" fmla="val 20000"/>
            </a:avLst>
          </a:prstGeom>
          <a:solidFill>
            <a:srgbClr val="0B2A3A"/>
          </a:solidFill>
          <a:ln w="12700">
            <a:solidFill>
              <a:srgbClr val="2EC4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92240" y="7159752"/>
            <a:ext cx="5669280" cy="438912"/>
          </a:xfrm>
          <a:prstGeom prst="rect">
            <a:avLst/>
          </a:prstGeom>
          <a:noFill/>
        </p:spPr>
        <p:txBody>
          <a:bodyPr wrap="square" lIns="0" rIns="0" tIns="0" bIns="0" anchor="ctr">
            <a:spAutoFit/>
          </a:bodyPr>
          <a:lstStyle/>
          <a:p>
            <a:pPr algn="ctr"/>
            <a:r>
              <a:rPr sz="1200" b="1" spc="100">
                <a:solidFill>
                  <a:srgbClr val="2EC4F1"/>
                </a:solidFill>
                <a:latin typeface="Segoe UI Semibold"/>
                <a:cs typeface="Nirmala UI"/>
              </a:rPr>
              <a:t>NEVER GUESSES:  UNSURE → "PLEASE ASK SOMEONE"</a:t>
            </a:r>
          </a:p>
        </p:txBody>
      </p:sp>
      <p:sp>
        <p:nvSpPr>
          <p:cNvPr id="41" name="Rounded Rectangle 40"/>
          <p:cNvSpPr/>
          <p:nvPr/>
        </p:nvSpPr>
        <p:spPr>
          <a:xfrm>
            <a:off x="3931920" y="8001000"/>
            <a:ext cx="10424160" cy="1051560"/>
          </a:xfrm>
          <a:prstGeom prst="roundRect">
            <a:avLst>
              <a:gd name="adj" fmla="val 8000"/>
            </a:avLst>
          </a:prstGeom>
          <a:solidFill>
            <a:srgbClr val="0A1621">
              <a:alpha val="92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lightbulb.png"/>
          <p:cNvPicPr>
            <a:picLocks noChangeAspect="1"/>
          </p:cNvPicPr>
          <p:nvPr/>
        </p:nvPicPr>
        <p:blipFill>
          <a:blip r:embed="rId7"/>
          <a:stretch>
            <a:fillRect/>
          </a:stretch>
        </p:blipFill>
        <p:spPr>
          <a:xfrm>
            <a:off x="4206240" y="8206740"/>
            <a:ext cx="640080" cy="640080"/>
          </a:xfrm>
          <a:prstGeom prst="rect">
            <a:avLst/>
          </a:prstGeom>
        </p:spPr>
      </p:pic>
      <p:cxnSp>
        <p:nvCxnSpPr>
          <p:cNvPr id="43" name="Connector 42"/>
          <p:cNvCxnSpPr/>
          <p:nvPr/>
        </p:nvCxnSpPr>
        <p:spPr>
          <a:xfrm>
            <a:off x="5047488" y="8183879"/>
            <a:ext cx="0" cy="685801"/>
          </a:xfrm>
          <a:prstGeom prst="line">
            <a:avLst/>
          </a:prstGeom>
          <a:ln w="12700">
            <a:solidFill>
              <a:srgbClr val="1E6A8F"/>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257800" y="8138160"/>
            <a:ext cx="8869680" cy="777239"/>
          </a:xfrm>
          <a:prstGeom prst="rect">
            <a:avLst/>
          </a:prstGeom>
          <a:noFill/>
        </p:spPr>
        <p:txBody>
          <a:bodyPr wrap="square" lIns="0" rIns="0" tIns="0" bIns="0" anchor="ctr">
            <a:spAutoFit/>
          </a:bodyPr>
          <a:lstStyle/>
          <a:p>
            <a:pPr algn="l">
              <a:spcAft>
                <a:spcPts val="300"/>
              </a:spcAft>
            </a:pPr>
            <a:r>
              <a:rPr sz="1100" b="1" spc="200">
                <a:solidFill>
                  <a:srgbClr val="2EC4F1"/>
                </a:solidFill>
                <a:latin typeface="Segoe UI Semibold"/>
                <a:cs typeface="Nirmala UI"/>
              </a:rPr>
              <a:t>KEY IDEA</a:t>
            </a:r>
          </a:p>
          <a:p>
            <a:pPr algn="l"/>
            <a:r>
              <a:rPr sz="1700" b="1">
                <a:solidFill>
                  <a:srgbClr val="FFFFFF"/>
                </a:solidFill>
                <a:latin typeface="Segoe UI Semibold"/>
                <a:cs typeface="Nirmala UI"/>
              </a:rPr>
              <a:t>Vaachak turns a document from text read aloud into a decision: </a:t>
            </a:r>
            <a:r>
              <a:rPr sz="1700" b="1">
                <a:solidFill>
                  <a:srgbClr val="2EC4F1"/>
                </a:solidFill>
                <a:latin typeface="Segoe UI Semibold"/>
                <a:cs typeface="Nirmala UI"/>
              </a:rPr>
              <a:t>what to do, by when, and what is dangerous.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9671"/>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80500" r="-3713" b="-80500"/>
              </a:stretch>
            </a:blipFill>
          </p:spPr>
        </p:sp>
      </p:grpSp>
      <p:sp>
        <p:nvSpPr>
          <p:cNvPr id="4" name="TextBox 3"/>
          <p:cNvSpPr txBox="1"/>
          <p:nvPr/>
        </p:nvSpPr>
        <p:spPr>
          <a:xfrm>
            <a:off x="2103120" y="1051560"/>
            <a:ext cx="9144000" cy="320040"/>
          </a:xfrm>
          <a:prstGeom prst="rect">
            <a:avLst/>
          </a:prstGeom>
          <a:noFill/>
        </p:spPr>
        <p:txBody>
          <a:bodyPr wrap="square" lIns="0" rIns="0" tIns="0" bIns="0" anchor="t">
            <a:spAutoFit/>
          </a:bodyPr>
          <a:lstStyle/>
          <a:p>
            <a:pPr algn="l"/>
            <a:r>
              <a:rPr sz="1300" b="1" spc="200">
                <a:solidFill>
                  <a:srgbClr val="FFFFFF"/>
                </a:solidFill>
                <a:latin typeface="Segoe UI Semibold"/>
                <a:cs typeface="Nirmala UI"/>
              </a:rPr>
              <a:t>BUILT &amp;  </a:t>
            </a:r>
            <a:r>
              <a:rPr sz="1300" b="1" spc="200">
                <a:solidFill>
                  <a:srgbClr val="2EC4F1"/>
                </a:solidFill>
                <a:latin typeface="Segoe UI Semibold"/>
                <a:cs typeface="Nirmala UI"/>
              </a:rPr>
              <a:t>RUNNING TODAY</a:t>
            </a:r>
          </a:p>
        </p:txBody>
      </p:sp>
      <p:sp>
        <p:nvSpPr>
          <p:cNvPr id="5" name="TextBox 4"/>
          <p:cNvSpPr txBox="1"/>
          <p:nvPr/>
        </p:nvSpPr>
        <p:spPr>
          <a:xfrm>
            <a:off x="2103120" y="1371600"/>
            <a:ext cx="9144000" cy="731520"/>
          </a:xfrm>
          <a:prstGeom prst="rect">
            <a:avLst/>
          </a:prstGeom>
          <a:noFill/>
        </p:spPr>
        <p:txBody>
          <a:bodyPr wrap="square" lIns="0" rIns="0" tIns="0" bIns="0" anchor="t">
            <a:spAutoFit/>
          </a:bodyPr>
          <a:lstStyle/>
          <a:p>
            <a:pPr algn="l"/>
            <a:r>
              <a:rPr sz="2800" b="1" spc="100">
                <a:solidFill>
                  <a:srgbClr val="FFFFFF"/>
                </a:solidFill>
                <a:latin typeface="Segoe UI Black"/>
                <a:cs typeface="Nirmala UI"/>
              </a:rPr>
              <a:t>LIVE </a:t>
            </a:r>
            <a:r>
              <a:rPr sz="2800" b="1" spc="100">
                <a:solidFill>
                  <a:srgbClr val="2EC4F1"/>
                </a:solidFill>
                <a:latin typeface="Segoe UI Black"/>
                <a:cs typeface="Nirmala UI"/>
              </a:rPr>
              <a:t>PROTOTYPE</a:t>
            </a:r>
          </a:p>
        </p:txBody>
      </p:sp>
      <p:sp>
        <p:nvSpPr>
          <p:cNvPr id="6" name="Rectangle 5"/>
          <p:cNvSpPr/>
          <p:nvPr/>
        </p:nvSpPr>
        <p:spPr>
          <a:xfrm>
            <a:off x="2103120" y="2121408"/>
            <a:ext cx="777240" cy="64008"/>
          </a:xfrm>
          <a:prstGeom prst="rect">
            <a:avLst/>
          </a:prstGeom>
          <a:solidFill>
            <a:srgbClr val="2EC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121408" y="2441448"/>
            <a:ext cx="2112264" cy="4078224"/>
          </a:xfrm>
          <a:prstGeom prst="roundRect">
            <a:avLst>
              <a:gd name="adj" fmla="val 9000"/>
            </a:avLst>
          </a:prstGeom>
          <a:solidFill>
            <a:srgbClr val="050B10"/>
          </a:solidFill>
          <a:ln w="15875">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am.png"/>
          <p:cNvPicPr>
            <a:picLocks noChangeAspect="1"/>
          </p:cNvPicPr>
          <p:nvPr/>
        </p:nvPicPr>
        <p:blipFill>
          <a:blip r:embed="rId3"/>
          <a:stretch>
            <a:fillRect/>
          </a:stretch>
        </p:blipFill>
        <p:spPr>
          <a:xfrm>
            <a:off x="2194560" y="2514600"/>
            <a:ext cx="1965960" cy="3931920"/>
          </a:xfrm>
          <a:prstGeom prst="rect">
            <a:avLst/>
          </a:prstGeom>
        </p:spPr>
      </p:pic>
      <p:sp>
        <p:nvSpPr>
          <p:cNvPr id="9" name="TextBox 8"/>
          <p:cNvSpPr txBox="1"/>
          <p:nvPr/>
        </p:nvSpPr>
        <p:spPr>
          <a:xfrm>
            <a:off x="2103120" y="6601968"/>
            <a:ext cx="2148840" cy="1371600"/>
          </a:xfrm>
          <a:prstGeom prst="rect">
            <a:avLst/>
          </a:prstGeom>
          <a:noFill/>
        </p:spPr>
        <p:txBody>
          <a:bodyPr wrap="square" lIns="0" rIns="0" tIns="0" bIns="0" anchor="t">
            <a:spAutoFit/>
          </a:bodyPr>
          <a:lstStyle/>
          <a:p>
            <a:pPr algn="ctr">
              <a:spcAft>
                <a:spcPts val="100"/>
              </a:spcAft>
            </a:pPr>
            <a:r>
              <a:rPr sz="1100" b="1" spc="200">
                <a:solidFill>
                  <a:srgbClr val="FF5A6E"/>
                </a:solidFill>
                <a:latin typeface="Segoe UI Semibold"/>
                <a:cs typeface="Nirmala UI"/>
              </a:rPr>
              <a:t>PROTECT</a:t>
            </a:r>
          </a:p>
          <a:p>
            <a:pPr algn="ctr">
              <a:spcAft>
                <a:spcPts val="100"/>
              </a:spcAft>
            </a:pPr>
            <a:r>
              <a:rPr sz="1400" b="1">
                <a:solidFill>
                  <a:srgbClr val="FFFFFF"/>
                </a:solidFill>
                <a:latin typeface="Segoe UI Semibold"/>
                <a:cs typeface="Nirmala UI"/>
              </a:rPr>
              <a:t>Fake power-cut SMS</a:t>
            </a:r>
          </a:p>
          <a:p>
            <a:pPr algn="ctr"/>
            <a:r>
              <a:rPr sz="1150" b="0">
                <a:solidFill>
                  <a:srgbClr val="B8C7D6"/>
                </a:solidFill>
                <a:latin typeface="Segoe UI"/>
                <a:cs typeface="Nirmala UI"/>
              </a:rPr>
              <a:t>Red scam card, one tap to 1930</a:t>
            </a:r>
          </a:p>
        </p:txBody>
      </p:sp>
      <p:sp>
        <p:nvSpPr>
          <p:cNvPr id="10" name="Rounded Rectangle 9"/>
          <p:cNvSpPr/>
          <p:nvPr/>
        </p:nvSpPr>
        <p:spPr>
          <a:xfrm>
            <a:off x="4544568" y="2441448"/>
            <a:ext cx="2112264" cy="4078224"/>
          </a:xfrm>
          <a:prstGeom prst="roundRect">
            <a:avLst>
              <a:gd name="adj" fmla="val 9000"/>
            </a:avLst>
          </a:prstGeom>
          <a:solidFill>
            <a:srgbClr val="050B10"/>
          </a:solidFill>
          <a:ln w="15875">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ill.png"/>
          <p:cNvPicPr>
            <a:picLocks noChangeAspect="1"/>
          </p:cNvPicPr>
          <p:nvPr/>
        </p:nvPicPr>
        <p:blipFill>
          <a:blip r:embed="rId4"/>
          <a:stretch>
            <a:fillRect/>
          </a:stretch>
        </p:blipFill>
        <p:spPr>
          <a:xfrm>
            <a:off x="4617720" y="2514600"/>
            <a:ext cx="1965960" cy="3931920"/>
          </a:xfrm>
          <a:prstGeom prst="rect">
            <a:avLst/>
          </a:prstGeom>
        </p:spPr>
      </p:pic>
      <p:sp>
        <p:nvSpPr>
          <p:cNvPr id="12" name="TextBox 11"/>
          <p:cNvSpPr txBox="1"/>
          <p:nvPr/>
        </p:nvSpPr>
        <p:spPr>
          <a:xfrm>
            <a:off x="4526280" y="6601968"/>
            <a:ext cx="2148840" cy="1371600"/>
          </a:xfrm>
          <a:prstGeom prst="rect">
            <a:avLst/>
          </a:prstGeom>
          <a:noFill/>
        </p:spPr>
        <p:txBody>
          <a:bodyPr wrap="square" lIns="0" rIns="0" tIns="0" bIns="0" anchor="t">
            <a:spAutoFit/>
          </a:bodyPr>
          <a:lstStyle/>
          <a:p>
            <a:pPr algn="ctr">
              <a:spcAft>
                <a:spcPts val="100"/>
              </a:spcAft>
            </a:pPr>
            <a:r>
              <a:rPr sz="1100" b="1" spc="200">
                <a:solidFill>
                  <a:srgbClr val="F2B33D"/>
                </a:solidFill>
                <a:latin typeface="Segoe UI Semibold"/>
                <a:cs typeface="Nirmala UI"/>
              </a:rPr>
              <a:t>VERIFY</a:t>
            </a:r>
          </a:p>
          <a:p>
            <a:pPr algn="ctr">
              <a:spcAft>
                <a:spcPts val="100"/>
              </a:spcAft>
            </a:pPr>
            <a:r>
              <a:rPr sz="1400" b="1">
                <a:solidFill>
                  <a:srgbClr val="FFFFFF"/>
                </a:solidFill>
                <a:latin typeface="Segoe UI Semibold"/>
                <a:cs typeface="Nirmala UI"/>
              </a:rPr>
              <a:t>MSEDCL bill</a:t>
            </a:r>
          </a:p>
          <a:p>
            <a:pPr algn="ctr"/>
            <a:r>
              <a:rPr sz="1150" b="0">
                <a:solidFill>
                  <a:srgbClr val="B8C7D6"/>
                </a:solidFill>
                <a:latin typeface="Segoe UI"/>
                <a:cs typeface="Nirmala UI"/>
              </a:rPr>
              <a:t>₹840 by 10 Oct, found in the print</a:t>
            </a:r>
          </a:p>
        </p:txBody>
      </p:sp>
      <p:sp>
        <p:nvSpPr>
          <p:cNvPr id="13" name="Rounded Rectangle 12"/>
          <p:cNvSpPr/>
          <p:nvPr/>
        </p:nvSpPr>
        <p:spPr>
          <a:xfrm>
            <a:off x="6967727" y="2441448"/>
            <a:ext cx="2112264" cy="4078224"/>
          </a:xfrm>
          <a:prstGeom prst="roundRect">
            <a:avLst>
              <a:gd name="adj" fmla="val 9000"/>
            </a:avLst>
          </a:prstGeom>
          <a:solidFill>
            <a:srgbClr val="050B10"/>
          </a:solidFill>
          <a:ln w="15875">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rx-meds.png"/>
          <p:cNvPicPr>
            <a:picLocks noChangeAspect="1"/>
          </p:cNvPicPr>
          <p:nvPr/>
        </p:nvPicPr>
        <p:blipFill>
          <a:blip r:embed="rId5"/>
          <a:stretch>
            <a:fillRect/>
          </a:stretch>
        </p:blipFill>
        <p:spPr>
          <a:xfrm>
            <a:off x="7040879" y="2514600"/>
            <a:ext cx="1965960" cy="3931920"/>
          </a:xfrm>
          <a:prstGeom prst="rect">
            <a:avLst/>
          </a:prstGeom>
        </p:spPr>
      </p:pic>
      <p:sp>
        <p:nvSpPr>
          <p:cNvPr id="15" name="TextBox 14"/>
          <p:cNvSpPr txBox="1"/>
          <p:nvPr/>
        </p:nvSpPr>
        <p:spPr>
          <a:xfrm>
            <a:off x="6949440" y="6601968"/>
            <a:ext cx="2148840" cy="1371600"/>
          </a:xfrm>
          <a:prstGeom prst="rect">
            <a:avLst/>
          </a:prstGeom>
          <a:noFill/>
        </p:spPr>
        <p:txBody>
          <a:bodyPr wrap="square" lIns="0" rIns="0" tIns="0" bIns="0" anchor="t">
            <a:spAutoFit/>
          </a:bodyPr>
          <a:lstStyle/>
          <a:p>
            <a:pPr algn="ctr">
              <a:spcAft>
                <a:spcPts val="100"/>
              </a:spcAft>
            </a:pPr>
            <a:r>
              <a:rPr sz="1100" b="1" spc="200">
                <a:solidFill>
                  <a:srgbClr val="3DDC97"/>
                </a:solidFill>
                <a:latin typeface="Segoe UI Semibold"/>
                <a:cs typeface="Nirmala UI"/>
              </a:rPr>
              <a:t>REMIND</a:t>
            </a:r>
          </a:p>
          <a:p>
            <a:pPr algn="ctr">
              <a:spcAft>
                <a:spcPts val="100"/>
              </a:spcAft>
            </a:pPr>
            <a:r>
              <a:rPr sz="1400" b="1">
                <a:solidFill>
                  <a:srgbClr val="FFFFFF"/>
                </a:solidFill>
                <a:latin typeface="Segoe UI Semibold"/>
                <a:cs typeface="Nirmala UI"/>
              </a:rPr>
              <a:t>3 medicines</a:t>
            </a:r>
          </a:p>
          <a:p>
            <a:pPr algn="ctr"/>
            <a:r>
              <a:rPr sz="1150" b="0">
                <a:solidFill>
                  <a:srgbClr val="B8C7D6"/>
                </a:solidFill>
                <a:latin typeface="Segoe UI"/>
                <a:cs typeface="Nirmala UI"/>
              </a:rPr>
              <a:t>One schedule each, into the calendar</a:t>
            </a:r>
          </a:p>
        </p:txBody>
      </p:sp>
      <p:sp>
        <p:nvSpPr>
          <p:cNvPr id="16" name="Rounded Rectangle 15"/>
          <p:cNvSpPr/>
          <p:nvPr/>
        </p:nvSpPr>
        <p:spPr>
          <a:xfrm>
            <a:off x="9390888" y="2441448"/>
            <a:ext cx="2112264" cy="4078224"/>
          </a:xfrm>
          <a:prstGeom prst="roundRect">
            <a:avLst>
              <a:gd name="adj" fmla="val 9000"/>
            </a:avLst>
          </a:prstGeom>
          <a:solidFill>
            <a:srgbClr val="050B10"/>
          </a:solidFill>
          <a:ln w="15875">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apers.png"/>
          <p:cNvPicPr>
            <a:picLocks noChangeAspect="1"/>
          </p:cNvPicPr>
          <p:nvPr/>
        </p:nvPicPr>
        <p:blipFill>
          <a:blip r:embed="rId6"/>
          <a:stretch>
            <a:fillRect/>
          </a:stretch>
        </p:blipFill>
        <p:spPr>
          <a:xfrm>
            <a:off x="9464040" y="2514600"/>
            <a:ext cx="1965960" cy="3931920"/>
          </a:xfrm>
          <a:prstGeom prst="rect">
            <a:avLst/>
          </a:prstGeom>
        </p:spPr>
      </p:pic>
      <p:sp>
        <p:nvSpPr>
          <p:cNvPr id="18" name="TextBox 17"/>
          <p:cNvSpPr txBox="1"/>
          <p:nvPr/>
        </p:nvSpPr>
        <p:spPr>
          <a:xfrm>
            <a:off x="9372600" y="6601968"/>
            <a:ext cx="2148840" cy="1371600"/>
          </a:xfrm>
          <a:prstGeom prst="rect">
            <a:avLst/>
          </a:prstGeom>
          <a:noFill/>
        </p:spPr>
        <p:txBody>
          <a:bodyPr wrap="square" lIns="0" rIns="0" tIns="0" bIns="0" anchor="t">
            <a:spAutoFit/>
          </a:bodyPr>
          <a:lstStyle/>
          <a:p>
            <a:pPr algn="ctr">
              <a:spcAft>
                <a:spcPts val="100"/>
              </a:spcAft>
            </a:pPr>
            <a:r>
              <a:rPr sz="1100" b="1" spc="200">
                <a:solidFill>
                  <a:srgbClr val="2EC4F1"/>
                </a:solidFill>
                <a:latin typeface="Segoe UI Semibold"/>
                <a:cs typeface="Nirmala UI"/>
              </a:rPr>
              <a:t>REMEMBER</a:t>
            </a:r>
          </a:p>
          <a:p>
            <a:pPr algn="ctr">
              <a:spcAft>
                <a:spcPts val="100"/>
              </a:spcAft>
            </a:pPr>
            <a:r>
              <a:rPr sz="1400" b="1">
                <a:solidFill>
                  <a:srgbClr val="FFFFFF"/>
                </a:solidFill>
                <a:latin typeface="Segoe UI Semibold"/>
                <a:cs typeface="Nirmala UI"/>
              </a:rPr>
              <a:t>My papers</a:t>
            </a:r>
          </a:p>
          <a:p>
            <a:pPr algn="ctr"/>
            <a:r>
              <a:rPr sz="1150" b="0">
                <a:solidFill>
                  <a:srgbClr val="B8C7D6"/>
                </a:solidFill>
                <a:latin typeface="Segoe UI"/>
                <a:cs typeface="Nirmala UI"/>
              </a:rPr>
              <a:t>What is due, scams caught</a:t>
            </a:r>
          </a:p>
        </p:txBody>
      </p:sp>
      <p:sp>
        <p:nvSpPr>
          <p:cNvPr id="19" name="TextBox 18"/>
          <p:cNvSpPr txBox="1"/>
          <p:nvPr/>
        </p:nvSpPr>
        <p:spPr>
          <a:xfrm>
            <a:off x="12115800" y="2395728"/>
            <a:ext cx="4754880" cy="320040"/>
          </a:xfrm>
          <a:prstGeom prst="rect">
            <a:avLst/>
          </a:prstGeom>
          <a:noFill/>
        </p:spPr>
        <p:txBody>
          <a:bodyPr wrap="square" lIns="0" rIns="0" tIns="0" bIns="0" anchor="t">
            <a:spAutoFit/>
          </a:bodyPr>
          <a:lstStyle/>
          <a:p>
            <a:pPr algn="l"/>
            <a:r>
              <a:rPr sz="1100" b="1" spc="150">
                <a:solidFill>
                  <a:srgbClr val="2EC4F1"/>
                </a:solidFill>
                <a:latin typeface="Segoe UI Semibold"/>
                <a:cs typeface="Nirmala UI"/>
              </a:rPr>
              <a:t>MEASURED ON THE LIVE APP · 8 OCT 2026</a:t>
            </a:r>
          </a:p>
        </p:txBody>
      </p:sp>
      <p:sp>
        <p:nvSpPr>
          <p:cNvPr id="20" name="Rounded Rectangle 19"/>
          <p:cNvSpPr/>
          <p:nvPr/>
        </p:nvSpPr>
        <p:spPr>
          <a:xfrm>
            <a:off x="12115800" y="2788920"/>
            <a:ext cx="2240280" cy="1188720"/>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298680" y="2898648"/>
            <a:ext cx="1920240" cy="1005840"/>
          </a:xfrm>
          <a:prstGeom prst="rect">
            <a:avLst/>
          </a:prstGeom>
          <a:noFill/>
        </p:spPr>
        <p:txBody>
          <a:bodyPr wrap="square" lIns="0" rIns="0" tIns="0" bIns="0" anchor="t">
            <a:spAutoFit/>
          </a:bodyPr>
          <a:lstStyle/>
          <a:p>
            <a:pPr algn="l"/>
            <a:r>
              <a:rPr sz="2600" b="1">
                <a:solidFill>
                  <a:srgbClr val="2EC4F1"/>
                </a:solidFill>
                <a:latin typeface="Segoe UI Black"/>
                <a:cs typeface="Nirmala UI"/>
              </a:rPr>
              <a:t>≈ 2 s</a:t>
            </a:r>
          </a:p>
          <a:p>
            <a:pPr algn="l"/>
            <a:r>
              <a:rPr sz="1150" b="0">
                <a:solidFill>
                  <a:srgbClr val="B8C7D6"/>
                </a:solidFill>
                <a:latin typeface="Segoe UI"/>
                <a:cs typeface="Nirmala UI"/>
              </a:rPr>
              <a:t>pasted SMS → spoken card</a:t>
            </a:r>
          </a:p>
        </p:txBody>
      </p:sp>
      <p:sp>
        <p:nvSpPr>
          <p:cNvPr id="22" name="Rounded Rectangle 21"/>
          <p:cNvSpPr/>
          <p:nvPr/>
        </p:nvSpPr>
        <p:spPr>
          <a:xfrm>
            <a:off x="14493240" y="2788920"/>
            <a:ext cx="2240280" cy="1188720"/>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676120" y="2898648"/>
            <a:ext cx="1920240" cy="1005840"/>
          </a:xfrm>
          <a:prstGeom prst="rect">
            <a:avLst/>
          </a:prstGeom>
          <a:noFill/>
        </p:spPr>
        <p:txBody>
          <a:bodyPr wrap="square" lIns="0" rIns="0" tIns="0" bIns="0" anchor="t">
            <a:spAutoFit/>
          </a:bodyPr>
          <a:lstStyle/>
          <a:p>
            <a:pPr algn="l"/>
            <a:r>
              <a:rPr sz="2600" b="1">
                <a:solidFill>
                  <a:srgbClr val="2EC4F1"/>
                </a:solidFill>
                <a:latin typeface="Segoe UI Black"/>
                <a:cs typeface="Nirmala UI"/>
              </a:rPr>
              <a:t>≈ 4 s</a:t>
            </a:r>
          </a:p>
          <a:p>
            <a:pPr algn="l"/>
            <a:r>
              <a:rPr sz="1150" b="0">
                <a:solidFill>
                  <a:srgbClr val="B8C7D6"/>
                </a:solidFill>
                <a:latin typeface="Segoe UI"/>
                <a:cs typeface="Nirmala UI"/>
              </a:rPr>
              <a:t>bill photo → verified card</a:t>
            </a:r>
          </a:p>
        </p:txBody>
      </p:sp>
      <p:sp>
        <p:nvSpPr>
          <p:cNvPr id="24" name="Rounded Rectangle 23"/>
          <p:cNvSpPr/>
          <p:nvPr/>
        </p:nvSpPr>
        <p:spPr>
          <a:xfrm>
            <a:off x="12115800" y="4087368"/>
            <a:ext cx="2240280" cy="1188720"/>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98680" y="4197096"/>
            <a:ext cx="1920240" cy="1005840"/>
          </a:xfrm>
          <a:prstGeom prst="rect">
            <a:avLst/>
          </a:prstGeom>
          <a:noFill/>
        </p:spPr>
        <p:txBody>
          <a:bodyPr wrap="square" lIns="0" rIns="0" tIns="0" bIns="0" anchor="t">
            <a:spAutoFit/>
          </a:bodyPr>
          <a:lstStyle/>
          <a:p>
            <a:pPr algn="l"/>
            <a:r>
              <a:rPr sz="2600" b="1">
                <a:solidFill>
                  <a:srgbClr val="2EC4F1"/>
                </a:solidFill>
                <a:latin typeface="Segoe UI Black"/>
                <a:cs typeface="Nirmala UI"/>
              </a:rPr>
              <a:t>≈ 1.5 s</a:t>
            </a:r>
          </a:p>
          <a:p>
            <a:pPr algn="l"/>
            <a:r>
              <a:rPr sz="1150" b="0">
                <a:solidFill>
                  <a:srgbClr val="B8C7D6"/>
                </a:solidFill>
                <a:latin typeface="Segoe UI"/>
                <a:cs typeface="Nirmala UI"/>
              </a:rPr>
              <a:t>until the voice starts</a:t>
            </a:r>
          </a:p>
        </p:txBody>
      </p:sp>
      <p:sp>
        <p:nvSpPr>
          <p:cNvPr id="26" name="Rounded Rectangle 25"/>
          <p:cNvSpPr/>
          <p:nvPr/>
        </p:nvSpPr>
        <p:spPr>
          <a:xfrm>
            <a:off x="14493240" y="4087368"/>
            <a:ext cx="2240280" cy="1188720"/>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676120" y="4197096"/>
            <a:ext cx="1920240" cy="1005840"/>
          </a:xfrm>
          <a:prstGeom prst="rect">
            <a:avLst/>
          </a:prstGeom>
          <a:noFill/>
        </p:spPr>
        <p:txBody>
          <a:bodyPr wrap="square" lIns="0" rIns="0" tIns="0" bIns="0" anchor="t">
            <a:spAutoFit/>
          </a:bodyPr>
          <a:lstStyle/>
          <a:p>
            <a:pPr algn="l"/>
            <a:r>
              <a:rPr sz="2600" b="1">
                <a:solidFill>
                  <a:srgbClr val="FF5A6E"/>
                </a:solidFill>
                <a:latin typeface="Segoe UI Black"/>
                <a:cs typeface="Nirmala UI"/>
              </a:rPr>
              <a:t>4 / 4</a:t>
            </a:r>
          </a:p>
          <a:p>
            <a:pPr algn="l"/>
            <a:r>
              <a:rPr sz="1150" b="0">
                <a:solidFill>
                  <a:srgbClr val="B8C7D6"/>
                </a:solidFill>
                <a:latin typeface="Segoe UI"/>
                <a:cs typeface="Nirmala UI"/>
              </a:rPr>
              <a:t>test scams caught · 0 real SMS flagged</a:t>
            </a:r>
          </a:p>
        </p:txBody>
      </p:sp>
      <p:sp>
        <p:nvSpPr>
          <p:cNvPr id="28" name="Rounded Rectangle 27"/>
          <p:cNvSpPr/>
          <p:nvPr/>
        </p:nvSpPr>
        <p:spPr>
          <a:xfrm>
            <a:off x="12115800" y="5385816"/>
            <a:ext cx="2240280" cy="1188720"/>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298680" y="5495544"/>
            <a:ext cx="1920240" cy="1005840"/>
          </a:xfrm>
          <a:prstGeom prst="rect">
            <a:avLst/>
          </a:prstGeom>
          <a:noFill/>
        </p:spPr>
        <p:txBody>
          <a:bodyPr wrap="square" lIns="0" rIns="0" tIns="0" bIns="0" anchor="t">
            <a:spAutoFit/>
          </a:bodyPr>
          <a:lstStyle/>
          <a:p>
            <a:pPr algn="l"/>
            <a:r>
              <a:rPr sz="2600" b="1">
                <a:solidFill>
                  <a:srgbClr val="2EC4F1"/>
                </a:solidFill>
                <a:latin typeface="Segoe UI Black"/>
                <a:cs typeface="Nirmala UI"/>
              </a:rPr>
              <a:t>58</a:t>
            </a:r>
          </a:p>
          <a:p>
            <a:pPr algn="l"/>
            <a:r>
              <a:rPr sz="1150" b="0">
                <a:solidFill>
                  <a:srgbClr val="B8C7D6"/>
                </a:solidFill>
                <a:latin typeface="Segoe UI"/>
                <a:cs typeface="Nirmala UI"/>
              </a:rPr>
              <a:t>automated tests on the rules</a:t>
            </a:r>
          </a:p>
        </p:txBody>
      </p:sp>
      <p:sp>
        <p:nvSpPr>
          <p:cNvPr id="30" name="Rounded Rectangle 29"/>
          <p:cNvSpPr/>
          <p:nvPr/>
        </p:nvSpPr>
        <p:spPr>
          <a:xfrm>
            <a:off x="14493240" y="5385816"/>
            <a:ext cx="2240280" cy="1188720"/>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676120" y="5495544"/>
            <a:ext cx="1920240" cy="1005840"/>
          </a:xfrm>
          <a:prstGeom prst="rect">
            <a:avLst/>
          </a:prstGeom>
          <a:noFill/>
        </p:spPr>
        <p:txBody>
          <a:bodyPr wrap="square" lIns="0" rIns="0" tIns="0" bIns="0" anchor="t">
            <a:spAutoFit/>
          </a:bodyPr>
          <a:lstStyle/>
          <a:p>
            <a:pPr algn="l"/>
            <a:r>
              <a:rPr sz="2600" b="1">
                <a:solidFill>
                  <a:srgbClr val="2EC4F1"/>
                </a:solidFill>
                <a:latin typeface="Segoe UI Black"/>
                <a:cs typeface="Nirmala UI"/>
              </a:rPr>
              <a:t>3</a:t>
            </a:r>
          </a:p>
          <a:p>
            <a:pPr algn="l"/>
            <a:r>
              <a:rPr sz="1150" b="0">
                <a:solidFill>
                  <a:srgbClr val="B8C7D6"/>
                </a:solidFill>
                <a:latin typeface="Segoe UI"/>
                <a:cs typeface="Nirmala UI"/>
              </a:rPr>
              <a:t>languages: मराठी · हिंदी · English</a:t>
            </a:r>
          </a:p>
        </p:txBody>
      </p:sp>
      <p:sp>
        <p:nvSpPr>
          <p:cNvPr id="32" name="Rounded Rectangle 31"/>
          <p:cNvSpPr/>
          <p:nvPr/>
        </p:nvSpPr>
        <p:spPr>
          <a:xfrm>
            <a:off x="12115800" y="6784848"/>
            <a:ext cx="4617720" cy="1737360"/>
          </a:xfrm>
          <a:prstGeom prst="roundRect">
            <a:avLst>
              <a:gd name="adj" fmla="val 6000"/>
            </a:avLst>
          </a:prstGeom>
          <a:solidFill>
            <a:srgbClr val="0A1621">
              <a:alpha val="92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qr.png">
            <a:hlinkClick r:id="rId8"/>
          </p:cNvPr>
          <p:cNvPicPr>
            <a:picLocks noChangeAspect="1"/>
          </p:cNvPicPr>
          <p:nvPr/>
        </p:nvPicPr>
        <p:blipFill>
          <a:blip r:embed="rId7"/>
          <a:stretch>
            <a:fillRect/>
          </a:stretch>
        </p:blipFill>
        <p:spPr>
          <a:xfrm>
            <a:off x="12298680" y="6949440"/>
            <a:ext cx="1417320" cy="1417320"/>
          </a:xfrm>
          <a:prstGeom prst="rect">
            <a:avLst/>
          </a:prstGeom>
        </p:spPr>
      </p:pic>
      <p:sp>
        <p:nvSpPr>
          <p:cNvPr id="34" name="TextBox 33">
            <a:hlinkClick r:id="rId8"/>
          </p:cNvPr>
          <p:cNvSpPr txBox="1"/>
          <p:nvPr/>
        </p:nvSpPr>
        <p:spPr>
          <a:xfrm>
            <a:off x="13898880" y="6949440"/>
            <a:ext cx="2743200" cy="1417320"/>
          </a:xfrm>
          <a:prstGeom prst="rect">
            <a:avLst/>
          </a:prstGeom>
          <a:noFill/>
        </p:spPr>
        <p:txBody>
          <a:bodyPr wrap="square" lIns="0" rIns="0" tIns="0" bIns="0" anchor="ctr">
            <a:spAutoFit/>
          </a:bodyPr>
          <a:lstStyle/>
          <a:p>
            <a:pPr algn="l">
              <a:spcAft>
                <a:spcPts val="200"/>
              </a:spcAft>
            </a:pPr>
            <a:r>
              <a:rPr sz="1800" b="1">
                <a:solidFill>
                  <a:srgbClr val="FFFFFF"/>
                </a:solidFill>
                <a:latin typeface="Segoe UI Semibold"/>
                <a:cs typeface="Nirmala UI"/>
              </a:rPr>
              <a:t>Scan &amp; try it</a:t>
            </a:r>
          </a:p>
          <a:p>
            <a:pPr algn="l">
              <a:spcAft>
                <a:spcPts val="300"/>
              </a:spcAft>
            </a:pPr>
            <a:r>
              <a:rPr sz="1200" b="1">
                <a:solidFill>
                  <a:srgbClr val="2EC4F1"/>
                </a:solidFill>
                <a:latin typeface="Segoe UI Semibold"/>
                <a:cs typeface="Nirmala UI"/>
              </a:rPr>
              <a:t>vaachak-zeta.vercel.app</a:t>
            </a:r>
          </a:p>
          <a:p>
            <a:pPr algn="l"/>
            <a:r>
              <a:rPr sz="1100" b="0">
                <a:solidFill>
                  <a:srgbClr val="B8C7D6"/>
                </a:solidFill>
                <a:latin typeface="Segoe UI"/>
                <a:cs typeface="Nirmala UI"/>
              </a:rPr>
              <a:t>Tap a sample: works even with Wi-Fi off.</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9671"/>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80500" r="-3713" b="-80500"/>
              </a:stretch>
            </a:blipFill>
          </p:spPr>
        </p:sp>
      </p:grpSp>
      <p:sp>
        <p:nvSpPr>
          <p:cNvPr id="4" name="TextBox 3"/>
          <p:cNvSpPr txBox="1"/>
          <p:nvPr/>
        </p:nvSpPr>
        <p:spPr>
          <a:xfrm>
            <a:off x="1783080" y="960120"/>
            <a:ext cx="5486400" cy="731520"/>
          </a:xfrm>
          <a:prstGeom prst="rect">
            <a:avLst/>
          </a:prstGeom>
          <a:noFill/>
        </p:spPr>
        <p:txBody>
          <a:bodyPr wrap="square" lIns="0" rIns="0" tIns="0" bIns="0" anchor="t">
            <a:spAutoFit/>
          </a:bodyPr>
          <a:lstStyle/>
          <a:p>
            <a:pPr algn="l"/>
            <a:r>
              <a:rPr sz="2800" b="1" spc="100">
                <a:solidFill>
                  <a:srgbClr val="FFFFFF"/>
                </a:solidFill>
                <a:latin typeface="Segoe UI Black"/>
                <a:cs typeface="Nirmala UI"/>
              </a:rPr>
              <a:t>Tech </a:t>
            </a:r>
            <a:r>
              <a:rPr sz="2800" b="1" spc="100">
                <a:solidFill>
                  <a:srgbClr val="2EC4F1"/>
                </a:solidFill>
                <a:latin typeface="Segoe UI Black"/>
                <a:cs typeface="Nirmala UI"/>
              </a:rPr>
              <a:t>Stack</a:t>
            </a:r>
          </a:p>
        </p:txBody>
      </p:sp>
      <p:sp>
        <p:nvSpPr>
          <p:cNvPr id="5" name="Rectangle 4"/>
          <p:cNvSpPr/>
          <p:nvPr/>
        </p:nvSpPr>
        <p:spPr>
          <a:xfrm>
            <a:off x="1783080" y="1709928"/>
            <a:ext cx="777240" cy="64008"/>
          </a:xfrm>
          <a:prstGeom prst="rect">
            <a:avLst/>
          </a:prstGeom>
          <a:solidFill>
            <a:srgbClr val="2EC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0" y="960120"/>
            <a:ext cx="7315200" cy="731520"/>
          </a:xfrm>
          <a:prstGeom prst="rect">
            <a:avLst/>
          </a:prstGeom>
          <a:noFill/>
        </p:spPr>
        <p:txBody>
          <a:bodyPr wrap="square" lIns="0" rIns="0" tIns="0" bIns="0" anchor="t">
            <a:spAutoFit/>
          </a:bodyPr>
          <a:lstStyle/>
          <a:p>
            <a:pPr algn="l"/>
            <a:r>
              <a:rPr sz="2800" b="1" spc="100">
                <a:solidFill>
                  <a:srgbClr val="FFFFFF"/>
                </a:solidFill>
                <a:latin typeface="Segoe UI Black"/>
                <a:cs typeface="Nirmala UI"/>
              </a:rPr>
              <a:t>System </a:t>
            </a:r>
            <a:r>
              <a:rPr sz="2800" b="1" spc="100">
                <a:solidFill>
                  <a:srgbClr val="2EC4F1"/>
                </a:solidFill>
                <a:latin typeface="Segoe UI Black"/>
                <a:cs typeface="Nirmala UI"/>
              </a:rPr>
              <a:t>Diagram</a:t>
            </a:r>
          </a:p>
        </p:txBody>
      </p:sp>
      <p:sp>
        <p:nvSpPr>
          <p:cNvPr id="7" name="Rectangle 6"/>
          <p:cNvSpPr/>
          <p:nvPr/>
        </p:nvSpPr>
        <p:spPr>
          <a:xfrm>
            <a:off x="8595360" y="1709928"/>
            <a:ext cx="777240" cy="64008"/>
          </a:xfrm>
          <a:prstGeom prst="rect">
            <a:avLst/>
          </a:prstGeom>
          <a:solidFill>
            <a:srgbClr val="2EC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783080" y="2011680"/>
            <a:ext cx="6309360" cy="1737360"/>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2130552"/>
            <a:ext cx="5852160" cy="548640"/>
          </a:xfrm>
          <a:prstGeom prst="rect">
            <a:avLst/>
          </a:prstGeom>
          <a:noFill/>
        </p:spPr>
        <p:txBody>
          <a:bodyPr wrap="square" lIns="0" rIns="0" tIns="0" bIns="0" anchor="t">
            <a:spAutoFit/>
          </a:bodyPr>
          <a:lstStyle/>
          <a:p>
            <a:pPr algn="l"/>
            <a:r>
              <a:rPr sz="1300" b="1" spc="100">
                <a:solidFill>
                  <a:srgbClr val="FFFFFF"/>
                </a:solidFill>
                <a:latin typeface="Segoe UI Semibold"/>
                <a:cs typeface="Nirmala UI"/>
              </a:rPr>
              <a:t>AI / MODEL LAYER</a:t>
            </a:r>
          </a:p>
          <a:p>
            <a:pPr algn="l"/>
            <a:r>
              <a:rPr sz="1100" b="0">
                <a:solidFill>
                  <a:srgbClr val="B8C7D6"/>
                </a:solidFill>
                <a:latin typeface="Segoe UI"/>
                <a:cs typeface="Nirmala UI"/>
              </a:rPr>
              <a:t>Reads documents, answers questions, speaks.</a:t>
            </a:r>
          </a:p>
        </p:txBody>
      </p:sp>
      <p:pic>
        <p:nvPicPr>
          <p:cNvPr id="10" name="Picture 9" descr="brand-googlegemini.png"/>
          <p:cNvPicPr>
            <a:picLocks noChangeAspect="1"/>
          </p:cNvPicPr>
          <p:nvPr/>
        </p:nvPicPr>
        <p:blipFill>
          <a:blip r:embed="rId3"/>
          <a:stretch>
            <a:fillRect/>
          </a:stretch>
        </p:blipFill>
        <p:spPr>
          <a:xfrm>
            <a:off x="2404872" y="2761488"/>
            <a:ext cx="530352" cy="530352"/>
          </a:xfrm>
          <a:prstGeom prst="rect">
            <a:avLst/>
          </a:prstGeom>
        </p:spPr>
      </p:pic>
      <p:sp>
        <p:nvSpPr>
          <p:cNvPr id="11" name="TextBox 10"/>
          <p:cNvSpPr txBox="1"/>
          <p:nvPr/>
        </p:nvSpPr>
        <p:spPr>
          <a:xfrm>
            <a:off x="2011680" y="3337560"/>
            <a:ext cx="1481328" cy="292608"/>
          </a:xfrm>
          <a:prstGeom prst="rect">
            <a:avLst/>
          </a:prstGeom>
          <a:noFill/>
        </p:spPr>
        <p:txBody>
          <a:bodyPr wrap="square" lIns="0" rIns="0" tIns="0" bIns="0" anchor="t">
            <a:spAutoFit/>
          </a:bodyPr>
          <a:lstStyle/>
          <a:p>
            <a:pPr algn="ctr"/>
            <a:r>
              <a:rPr sz="1050" b="0">
                <a:solidFill>
                  <a:srgbClr val="FFFFFF"/>
                </a:solidFill>
                <a:latin typeface="Segoe UI"/>
                <a:cs typeface="Nirmala UI"/>
              </a:rPr>
              <a:t>Gemini 3.8</a:t>
            </a:r>
          </a:p>
        </p:txBody>
      </p:sp>
      <p:pic>
        <p:nvPicPr>
          <p:cNvPr id="12" name="Picture 11" descr="audio-lines.png"/>
          <p:cNvPicPr>
            <a:picLocks noChangeAspect="1"/>
          </p:cNvPicPr>
          <p:nvPr/>
        </p:nvPicPr>
        <p:blipFill>
          <a:blip r:embed="rId4"/>
          <a:stretch>
            <a:fillRect/>
          </a:stretch>
        </p:blipFill>
        <p:spPr>
          <a:xfrm>
            <a:off x="3886200" y="2761488"/>
            <a:ext cx="530352" cy="530352"/>
          </a:xfrm>
          <a:prstGeom prst="rect">
            <a:avLst/>
          </a:prstGeom>
        </p:spPr>
      </p:pic>
      <p:sp>
        <p:nvSpPr>
          <p:cNvPr id="13" name="TextBox 12"/>
          <p:cNvSpPr txBox="1"/>
          <p:nvPr/>
        </p:nvSpPr>
        <p:spPr>
          <a:xfrm>
            <a:off x="3493008" y="3337560"/>
            <a:ext cx="1481328" cy="292608"/>
          </a:xfrm>
          <a:prstGeom prst="rect">
            <a:avLst/>
          </a:prstGeom>
          <a:noFill/>
        </p:spPr>
        <p:txBody>
          <a:bodyPr wrap="square" lIns="0" rIns="0" tIns="0" bIns="0" anchor="t">
            <a:spAutoFit/>
          </a:bodyPr>
          <a:lstStyle/>
          <a:p>
            <a:pPr algn="ctr"/>
            <a:r>
              <a:rPr sz="1050" b="0">
                <a:solidFill>
                  <a:srgbClr val="FFFFFF"/>
                </a:solidFill>
                <a:latin typeface="Segoe UI"/>
                <a:cs typeface="Nirmala UI"/>
              </a:rPr>
              <a:t>Sarvam voice</a:t>
            </a:r>
          </a:p>
        </p:txBody>
      </p:sp>
      <p:pic>
        <p:nvPicPr>
          <p:cNvPr id="14" name="Picture 13" descr="repeat.png"/>
          <p:cNvPicPr>
            <a:picLocks noChangeAspect="1"/>
          </p:cNvPicPr>
          <p:nvPr/>
        </p:nvPicPr>
        <p:blipFill>
          <a:blip r:embed="rId5"/>
          <a:stretch>
            <a:fillRect/>
          </a:stretch>
        </p:blipFill>
        <p:spPr>
          <a:xfrm>
            <a:off x="5367528" y="2761488"/>
            <a:ext cx="530352" cy="530352"/>
          </a:xfrm>
          <a:prstGeom prst="rect">
            <a:avLst/>
          </a:prstGeom>
        </p:spPr>
      </p:pic>
      <p:sp>
        <p:nvSpPr>
          <p:cNvPr id="15" name="TextBox 14"/>
          <p:cNvSpPr txBox="1"/>
          <p:nvPr/>
        </p:nvSpPr>
        <p:spPr>
          <a:xfrm>
            <a:off x="4974336" y="3337560"/>
            <a:ext cx="1481328" cy="292608"/>
          </a:xfrm>
          <a:prstGeom prst="rect">
            <a:avLst/>
          </a:prstGeom>
          <a:noFill/>
        </p:spPr>
        <p:txBody>
          <a:bodyPr wrap="square" lIns="0" rIns="0" tIns="0" bIns="0" anchor="t">
            <a:spAutoFit/>
          </a:bodyPr>
          <a:lstStyle/>
          <a:p>
            <a:pPr algn="ctr"/>
            <a:r>
              <a:rPr sz="1050" b="0">
                <a:solidFill>
                  <a:srgbClr val="FFFFFF"/>
                </a:solidFill>
                <a:latin typeface="Segoe UI"/>
                <a:cs typeface="Nirmala UI"/>
              </a:rPr>
              <a:t>7-model fallback</a:t>
            </a:r>
          </a:p>
        </p:txBody>
      </p:sp>
      <p:pic>
        <p:nvPicPr>
          <p:cNvPr id="16" name="Picture 15" descr="mic.png"/>
          <p:cNvPicPr>
            <a:picLocks noChangeAspect="1"/>
          </p:cNvPicPr>
          <p:nvPr/>
        </p:nvPicPr>
        <p:blipFill>
          <a:blip r:embed="rId6"/>
          <a:stretch>
            <a:fillRect/>
          </a:stretch>
        </p:blipFill>
        <p:spPr>
          <a:xfrm>
            <a:off x="6848856" y="2761488"/>
            <a:ext cx="530352" cy="530352"/>
          </a:xfrm>
          <a:prstGeom prst="rect">
            <a:avLst/>
          </a:prstGeom>
        </p:spPr>
      </p:pic>
      <p:sp>
        <p:nvSpPr>
          <p:cNvPr id="17" name="TextBox 16"/>
          <p:cNvSpPr txBox="1"/>
          <p:nvPr/>
        </p:nvSpPr>
        <p:spPr>
          <a:xfrm>
            <a:off x="6455664" y="3337560"/>
            <a:ext cx="1481328" cy="292608"/>
          </a:xfrm>
          <a:prstGeom prst="rect">
            <a:avLst/>
          </a:prstGeom>
          <a:noFill/>
        </p:spPr>
        <p:txBody>
          <a:bodyPr wrap="square" lIns="0" rIns="0" tIns="0" bIns="0" anchor="t">
            <a:spAutoFit/>
          </a:bodyPr>
          <a:lstStyle/>
          <a:p>
            <a:pPr algn="ctr"/>
            <a:r>
              <a:rPr sz="1050" b="0">
                <a:solidFill>
                  <a:srgbClr val="FFFFFF"/>
                </a:solidFill>
                <a:latin typeface="Segoe UI"/>
                <a:cs typeface="Nirmala UI"/>
              </a:rPr>
              <a:t>Voice Q&amp;A</a:t>
            </a:r>
          </a:p>
        </p:txBody>
      </p:sp>
      <p:sp>
        <p:nvSpPr>
          <p:cNvPr id="18" name="Rounded Rectangle 17"/>
          <p:cNvSpPr/>
          <p:nvPr/>
        </p:nvSpPr>
        <p:spPr>
          <a:xfrm>
            <a:off x="1783080" y="3886200"/>
            <a:ext cx="6309360" cy="1737360"/>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11680" y="4005072"/>
            <a:ext cx="5852160" cy="548640"/>
          </a:xfrm>
          <a:prstGeom prst="rect">
            <a:avLst/>
          </a:prstGeom>
          <a:noFill/>
        </p:spPr>
        <p:txBody>
          <a:bodyPr wrap="square" lIns="0" rIns="0" tIns="0" bIns="0" anchor="t">
            <a:spAutoFit/>
          </a:bodyPr>
          <a:lstStyle/>
          <a:p>
            <a:pPr algn="l"/>
            <a:r>
              <a:rPr sz="1300" b="1" spc="100">
                <a:solidFill>
                  <a:srgbClr val="FFFFFF"/>
                </a:solidFill>
                <a:latin typeface="Segoe UI Semibold"/>
                <a:cs typeface="Nirmala UI"/>
              </a:rPr>
              <a:t>SAFETY LAYER  ·  NO AI</a:t>
            </a:r>
          </a:p>
          <a:p>
            <a:pPr algn="l"/>
            <a:r>
              <a:rPr sz="1100" b="0">
                <a:solidFill>
                  <a:srgbClr val="B8C7D6"/>
                </a:solidFill>
                <a:latin typeface="Segoe UI"/>
                <a:cs typeface="Nirmala UI"/>
              </a:rPr>
              <a:t>Checks every ₹, date and scam. Tested.</a:t>
            </a:r>
          </a:p>
        </p:txBody>
      </p:sp>
      <p:pic>
        <p:nvPicPr>
          <p:cNvPr id="20" name="Picture 19" descr="shield-check.png"/>
          <p:cNvPicPr>
            <a:picLocks noChangeAspect="1"/>
          </p:cNvPicPr>
          <p:nvPr/>
        </p:nvPicPr>
        <p:blipFill>
          <a:blip r:embed="rId7"/>
          <a:stretch>
            <a:fillRect/>
          </a:stretch>
        </p:blipFill>
        <p:spPr>
          <a:xfrm>
            <a:off x="2404872" y="4636008"/>
            <a:ext cx="530352" cy="530352"/>
          </a:xfrm>
          <a:prstGeom prst="rect">
            <a:avLst/>
          </a:prstGeom>
        </p:spPr>
      </p:pic>
      <p:sp>
        <p:nvSpPr>
          <p:cNvPr id="21" name="TextBox 20"/>
          <p:cNvSpPr txBox="1"/>
          <p:nvPr/>
        </p:nvSpPr>
        <p:spPr>
          <a:xfrm>
            <a:off x="2011680" y="5212080"/>
            <a:ext cx="1481328" cy="292608"/>
          </a:xfrm>
          <a:prstGeom prst="rect">
            <a:avLst/>
          </a:prstGeom>
          <a:noFill/>
        </p:spPr>
        <p:txBody>
          <a:bodyPr wrap="square" lIns="0" rIns="0" tIns="0" bIns="0" anchor="t">
            <a:spAutoFit/>
          </a:bodyPr>
          <a:lstStyle/>
          <a:p>
            <a:pPr algn="ctr"/>
            <a:r>
              <a:rPr sz="1050" b="0">
                <a:solidFill>
                  <a:srgbClr val="FFFFFF"/>
                </a:solidFill>
                <a:latin typeface="Segoe UI"/>
                <a:cs typeface="Nirmala UI"/>
              </a:rPr>
              <a:t>Rule engine</a:t>
            </a:r>
          </a:p>
        </p:txBody>
      </p:sp>
      <p:pic>
        <p:nvPicPr>
          <p:cNvPr id="22" name="Picture 21" descr="scan-search.png"/>
          <p:cNvPicPr>
            <a:picLocks noChangeAspect="1"/>
          </p:cNvPicPr>
          <p:nvPr/>
        </p:nvPicPr>
        <p:blipFill>
          <a:blip r:embed="rId8"/>
          <a:stretch>
            <a:fillRect/>
          </a:stretch>
        </p:blipFill>
        <p:spPr>
          <a:xfrm>
            <a:off x="3886200" y="4636008"/>
            <a:ext cx="530352" cy="530352"/>
          </a:xfrm>
          <a:prstGeom prst="rect">
            <a:avLst/>
          </a:prstGeom>
        </p:spPr>
      </p:pic>
      <p:sp>
        <p:nvSpPr>
          <p:cNvPr id="23" name="TextBox 22"/>
          <p:cNvSpPr txBox="1"/>
          <p:nvPr/>
        </p:nvSpPr>
        <p:spPr>
          <a:xfrm>
            <a:off x="3493008" y="5212080"/>
            <a:ext cx="1481328" cy="292608"/>
          </a:xfrm>
          <a:prstGeom prst="rect">
            <a:avLst/>
          </a:prstGeom>
          <a:noFill/>
        </p:spPr>
        <p:txBody>
          <a:bodyPr wrap="square" lIns="0" rIns="0" tIns="0" bIns="0" anchor="t">
            <a:spAutoFit/>
          </a:bodyPr>
          <a:lstStyle/>
          <a:p>
            <a:pPr algn="ctr"/>
            <a:r>
              <a:rPr sz="1050" b="0">
                <a:solidFill>
                  <a:srgbClr val="FFFFFF"/>
                </a:solidFill>
                <a:latin typeface="Segoe UI"/>
                <a:cs typeface="Nirmala UI"/>
              </a:rPr>
              <a:t>Tesseract OCR</a:t>
            </a:r>
          </a:p>
        </p:txBody>
      </p:sp>
      <p:pic>
        <p:nvPicPr>
          <p:cNvPr id="24" name="Picture 23" descr="shield-alert.png"/>
          <p:cNvPicPr>
            <a:picLocks noChangeAspect="1"/>
          </p:cNvPicPr>
          <p:nvPr/>
        </p:nvPicPr>
        <p:blipFill>
          <a:blip r:embed="rId9"/>
          <a:stretch>
            <a:fillRect/>
          </a:stretch>
        </p:blipFill>
        <p:spPr>
          <a:xfrm>
            <a:off x="5367528" y="4636008"/>
            <a:ext cx="530352" cy="530352"/>
          </a:xfrm>
          <a:prstGeom prst="rect">
            <a:avLst/>
          </a:prstGeom>
        </p:spPr>
      </p:pic>
      <p:sp>
        <p:nvSpPr>
          <p:cNvPr id="25" name="TextBox 24"/>
          <p:cNvSpPr txBox="1"/>
          <p:nvPr/>
        </p:nvSpPr>
        <p:spPr>
          <a:xfrm>
            <a:off x="4974336" y="5212080"/>
            <a:ext cx="1481328" cy="292608"/>
          </a:xfrm>
          <a:prstGeom prst="rect">
            <a:avLst/>
          </a:prstGeom>
          <a:noFill/>
        </p:spPr>
        <p:txBody>
          <a:bodyPr wrap="square" lIns="0" rIns="0" tIns="0" bIns="0" anchor="t">
            <a:spAutoFit/>
          </a:bodyPr>
          <a:lstStyle/>
          <a:p>
            <a:pPr algn="ctr"/>
            <a:r>
              <a:rPr sz="1050" b="0">
                <a:solidFill>
                  <a:srgbClr val="FFFFFF"/>
                </a:solidFill>
                <a:latin typeface="Segoe UI"/>
                <a:cs typeface="Nirmala UI"/>
              </a:rPr>
              <a:t>Scam shield</a:t>
            </a:r>
          </a:p>
        </p:txBody>
      </p:sp>
      <p:pic>
        <p:nvPicPr>
          <p:cNvPr id="26" name="Picture 25" descr="pill.png"/>
          <p:cNvPicPr>
            <a:picLocks noChangeAspect="1"/>
          </p:cNvPicPr>
          <p:nvPr/>
        </p:nvPicPr>
        <p:blipFill>
          <a:blip r:embed="rId10"/>
          <a:stretch>
            <a:fillRect/>
          </a:stretch>
        </p:blipFill>
        <p:spPr>
          <a:xfrm>
            <a:off x="6848856" y="4636008"/>
            <a:ext cx="530352" cy="530352"/>
          </a:xfrm>
          <a:prstGeom prst="rect">
            <a:avLst/>
          </a:prstGeom>
        </p:spPr>
      </p:pic>
      <p:sp>
        <p:nvSpPr>
          <p:cNvPr id="27" name="TextBox 26"/>
          <p:cNvSpPr txBox="1"/>
          <p:nvPr/>
        </p:nvSpPr>
        <p:spPr>
          <a:xfrm>
            <a:off x="6455664" y="5212080"/>
            <a:ext cx="1481328" cy="292608"/>
          </a:xfrm>
          <a:prstGeom prst="rect">
            <a:avLst/>
          </a:prstGeom>
          <a:noFill/>
        </p:spPr>
        <p:txBody>
          <a:bodyPr wrap="square" lIns="0" rIns="0" tIns="0" bIns="0" anchor="t">
            <a:spAutoFit/>
          </a:bodyPr>
          <a:lstStyle/>
          <a:p>
            <a:pPr algn="ctr"/>
            <a:r>
              <a:rPr sz="1050" b="0">
                <a:solidFill>
                  <a:srgbClr val="FFFFFF"/>
                </a:solidFill>
                <a:latin typeface="Segoe UI"/>
                <a:cs typeface="Nirmala UI"/>
              </a:rPr>
              <a:t>50 medicines</a:t>
            </a:r>
          </a:p>
        </p:txBody>
      </p:sp>
      <p:sp>
        <p:nvSpPr>
          <p:cNvPr id="28" name="Rounded Rectangle 27"/>
          <p:cNvSpPr/>
          <p:nvPr/>
        </p:nvSpPr>
        <p:spPr>
          <a:xfrm>
            <a:off x="1783080" y="5760720"/>
            <a:ext cx="6309360" cy="1737360"/>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11680" y="5879592"/>
            <a:ext cx="5852160" cy="548640"/>
          </a:xfrm>
          <a:prstGeom prst="rect">
            <a:avLst/>
          </a:prstGeom>
          <a:noFill/>
        </p:spPr>
        <p:txBody>
          <a:bodyPr wrap="square" lIns="0" rIns="0" tIns="0" bIns="0" anchor="t">
            <a:spAutoFit/>
          </a:bodyPr>
          <a:lstStyle/>
          <a:p>
            <a:pPr algn="l"/>
            <a:r>
              <a:rPr sz="1300" b="1" spc="100">
                <a:solidFill>
                  <a:srgbClr val="FFFFFF"/>
                </a:solidFill>
                <a:latin typeface="Segoe UI Semibold"/>
                <a:cs typeface="Nirmala UI"/>
              </a:rPr>
              <a:t>APP LAYER</a:t>
            </a:r>
          </a:p>
          <a:p>
            <a:pPr algn="l"/>
            <a:r>
              <a:rPr sz="1100" b="0">
                <a:solidFill>
                  <a:srgbClr val="B8C7D6"/>
                </a:solidFill>
                <a:latin typeface="Segoe UI"/>
                <a:cs typeface="Nirmala UI"/>
              </a:rPr>
              <a:t>Elder-first PWA: giant text, voice, offline.</a:t>
            </a:r>
          </a:p>
        </p:txBody>
      </p:sp>
      <p:pic>
        <p:nvPicPr>
          <p:cNvPr id="30" name="Picture 29" descr="brand-react.png"/>
          <p:cNvPicPr>
            <a:picLocks noChangeAspect="1"/>
          </p:cNvPicPr>
          <p:nvPr/>
        </p:nvPicPr>
        <p:blipFill>
          <a:blip r:embed="rId11"/>
          <a:stretch>
            <a:fillRect/>
          </a:stretch>
        </p:blipFill>
        <p:spPr>
          <a:xfrm>
            <a:off x="2404872" y="6510528"/>
            <a:ext cx="530352" cy="530352"/>
          </a:xfrm>
          <a:prstGeom prst="rect">
            <a:avLst/>
          </a:prstGeom>
        </p:spPr>
      </p:pic>
      <p:sp>
        <p:nvSpPr>
          <p:cNvPr id="31" name="TextBox 30"/>
          <p:cNvSpPr txBox="1"/>
          <p:nvPr/>
        </p:nvSpPr>
        <p:spPr>
          <a:xfrm>
            <a:off x="2011680" y="7086600"/>
            <a:ext cx="1481328" cy="292608"/>
          </a:xfrm>
          <a:prstGeom prst="rect">
            <a:avLst/>
          </a:prstGeom>
          <a:noFill/>
        </p:spPr>
        <p:txBody>
          <a:bodyPr wrap="square" lIns="0" rIns="0" tIns="0" bIns="0" anchor="t">
            <a:spAutoFit/>
          </a:bodyPr>
          <a:lstStyle/>
          <a:p>
            <a:pPr algn="ctr"/>
            <a:r>
              <a:rPr sz="1050" b="0">
                <a:solidFill>
                  <a:srgbClr val="FFFFFF"/>
                </a:solidFill>
                <a:latin typeface="Segoe UI"/>
                <a:cs typeface="Nirmala UI"/>
              </a:rPr>
              <a:t>React</a:t>
            </a:r>
          </a:p>
        </p:txBody>
      </p:sp>
      <p:pic>
        <p:nvPicPr>
          <p:cNvPr id="32" name="Picture 31" descr="brand-vite.png"/>
          <p:cNvPicPr>
            <a:picLocks noChangeAspect="1"/>
          </p:cNvPicPr>
          <p:nvPr/>
        </p:nvPicPr>
        <p:blipFill>
          <a:blip r:embed="rId12"/>
          <a:stretch>
            <a:fillRect/>
          </a:stretch>
        </p:blipFill>
        <p:spPr>
          <a:xfrm>
            <a:off x="3886200" y="6510528"/>
            <a:ext cx="530352" cy="530352"/>
          </a:xfrm>
          <a:prstGeom prst="rect">
            <a:avLst/>
          </a:prstGeom>
        </p:spPr>
      </p:pic>
      <p:sp>
        <p:nvSpPr>
          <p:cNvPr id="33" name="TextBox 32"/>
          <p:cNvSpPr txBox="1"/>
          <p:nvPr/>
        </p:nvSpPr>
        <p:spPr>
          <a:xfrm>
            <a:off x="3493008" y="7086600"/>
            <a:ext cx="1481328" cy="292608"/>
          </a:xfrm>
          <a:prstGeom prst="rect">
            <a:avLst/>
          </a:prstGeom>
          <a:noFill/>
        </p:spPr>
        <p:txBody>
          <a:bodyPr wrap="square" lIns="0" rIns="0" tIns="0" bIns="0" anchor="t">
            <a:spAutoFit/>
          </a:bodyPr>
          <a:lstStyle/>
          <a:p>
            <a:pPr algn="ctr"/>
            <a:r>
              <a:rPr sz="1050" b="0">
                <a:solidFill>
                  <a:srgbClr val="FFFFFF"/>
                </a:solidFill>
                <a:latin typeface="Segoe UI"/>
                <a:cs typeface="Nirmala UI"/>
              </a:rPr>
              <a:t>Vite</a:t>
            </a:r>
          </a:p>
        </p:txBody>
      </p:sp>
      <p:pic>
        <p:nvPicPr>
          <p:cNvPr id="34" name="Picture 33" descr="brand-tailwindcss.png"/>
          <p:cNvPicPr>
            <a:picLocks noChangeAspect="1"/>
          </p:cNvPicPr>
          <p:nvPr/>
        </p:nvPicPr>
        <p:blipFill>
          <a:blip r:embed="rId13"/>
          <a:stretch>
            <a:fillRect/>
          </a:stretch>
        </p:blipFill>
        <p:spPr>
          <a:xfrm>
            <a:off x="5367528" y="6510528"/>
            <a:ext cx="530352" cy="530352"/>
          </a:xfrm>
          <a:prstGeom prst="rect">
            <a:avLst/>
          </a:prstGeom>
        </p:spPr>
      </p:pic>
      <p:sp>
        <p:nvSpPr>
          <p:cNvPr id="35" name="TextBox 34"/>
          <p:cNvSpPr txBox="1"/>
          <p:nvPr/>
        </p:nvSpPr>
        <p:spPr>
          <a:xfrm>
            <a:off x="4974336" y="7086600"/>
            <a:ext cx="1481328" cy="292608"/>
          </a:xfrm>
          <a:prstGeom prst="rect">
            <a:avLst/>
          </a:prstGeom>
          <a:noFill/>
        </p:spPr>
        <p:txBody>
          <a:bodyPr wrap="square" lIns="0" rIns="0" tIns="0" bIns="0" anchor="t">
            <a:spAutoFit/>
          </a:bodyPr>
          <a:lstStyle/>
          <a:p>
            <a:pPr algn="ctr"/>
            <a:r>
              <a:rPr sz="1050" b="0">
                <a:solidFill>
                  <a:srgbClr val="FFFFFF"/>
                </a:solidFill>
                <a:latin typeface="Segoe UI"/>
                <a:cs typeface="Nirmala UI"/>
              </a:rPr>
              <a:t>Tailwind</a:t>
            </a:r>
          </a:p>
        </p:txBody>
      </p:sp>
      <p:pic>
        <p:nvPicPr>
          <p:cNvPr id="36" name="Picture 35" descr="brand-pwa.png"/>
          <p:cNvPicPr>
            <a:picLocks noChangeAspect="1"/>
          </p:cNvPicPr>
          <p:nvPr/>
        </p:nvPicPr>
        <p:blipFill>
          <a:blip r:embed="rId14"/>
          <a:stretch>
            <a:fillRect/>
          </a:stretch>
        </p:blipFill>
        <p:spPr>
          <a:xfrm>
            <a:off x="6848856" y="6510528"/>
            <a:ext cx="530352" cy="530352"/>
          </a:xfrm>
          <a:prstGeom prst="rect">
            <a:avLst/>
          </a:prstGeom>
        </p:spPr>
      </p:pic>
      <p:sp>
        <p:nvSpPr>
          <p:cNvPr id="37" name="TextBox 36"/>
          <p:cNvSpPr txBox="1"/>
          <p:nvPr/>
        </p:nvSpPr>
        <p:spPr>
          <a:xfrm>
            <a:off x="6455664" y="7086600"/>
            <a:ext cx="1481328" cy="292608"/>
          </a:xfrm>
          <a:prstGeom prst="rect">
            <a:avLst/>
          </a:prstGeom>
          <a:noFill/>
        </p:spPr>
        <p:txBody>
          <a:bodyPr wrap="square" lIns="0" rIns="0" tIns="0" bIns="0" anchor="t">
            <a:spAutoFit/>
          </a:bodyPr>
          <a:lstStyle/>
          <a:p>
            <a:pPr algn="ctr"/>
            <a:r>
              <a:rPr sz="1050" b="0">
                <a:solidFill>
                  <a:srgbClr val="FFFFFF"/>
                </a:solidFill>
                <a:latin typeface="Segoe UI"/>
                <a:cs typeface="Nirmala UI"/>
              </a:rPr>
              <a:t>PWA</a:t>
            </a:r>
          </a:p>
        </p:txBody>
      </p:sp>
      <p:sp>
        <p:nvSpPr>
          <p:cNvPr id="38" name="Rounded Rectangle 37"/>
          <p:cNvSpPr/>
          <p:nvPr/>
        </p:nvSpPr>
        <p:spPr>
          <a:xfrm>
            <a:off x="1783080" y="7635240"/>
            <a:ext cx="6309360" cy="1737360"/>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011680" y="7754112"/>
            <a:ext cx="5852160" cy="548640"/>
          </a:xfrm>
          <a:prstGeom prst="rect">
            <a:avLst/>
          </a:prstGeom>
          <a:noFill/>
        </p:spPr>
        <p:txBody>
          <a:bodyPr wrap="square" lIns="0" rIns="0" tIns="0" bIns="0" anchor="t">
            <a:spAutoFit/>
          </a:bodyPr>
          <a:lstStyle/>
          <a:p>
            <a:pPr algn="l"/>
            <a:r>
              <a:rPr sz="1300" b="1" spc="100">
                <a:solidFill>
                  <a:srgbClr val="FFFFFF"/>
                </a:solidFill>
                <a:latin typeface="Segoe UI Semibold"/>
                <a:cs typeface="Nirmala UI"/>
              </a:rPr>
              <a:t>PLATFORM &amp; ACTIONS</a:t>
            </a:r>
          </a:p>
          <a:p>
            <a:pPr algn="l"/>
            <a:r>
              <a:rPr sz="1100" b="0">
                <a:solidFill>
                  <a:srgbClr val="B8C7D6"/>
                </a:solidFill>
                <a:latin typeface="Segoe UI"/>
                <a:cs typeface="Nirmala UI"/>
              </a:rPr>
              <a:t>Serverless in Mumbai; acts in one tap.</a:t>
            </a:r>
          </a:p>
        </p:txBody>
      </p:sp>
      <p:pic>
        <p:nvPicPr>
          <p:cNvPr id="40" name="Picture 39" descr="brand-nodedotjs.png"/>
          <p:cNvPicPr>
            <a:picLocks noChangeAspect="1"/>
          </p:cNvPicPr>
          <p:nvPr/>
        </p:nvPicPr>
        <p:blipFill>
          <a:blip r:embed="rId15"/>
          <a:stretch>
            <a:fillRect/>
          </a:stretch>
        </p:blipFill>
        <p:spPr>
          <a:xfrm>
            <a:off x="2404872" y="8385048"/>
            <a:ext cx="530352" cy="530352"/>
          </a:xfrm>
          <a:prstGeom prst="rect">
            <a:avLst/>
          </a:prstGeom>
        </p:spPr>
      </p:pic>
      <p:sp>
        <p:nvSpPr>
          <p:cNvPr id="41" name="TextBox 40"/>
          <p:cNvSpPr txBox="1"/>
          <p:nvPr/>
        </p:nvSpPr>
        <p:spPr>
          <a:xfrm>
            <a:off x="2011680" y="8961119"/>
            <a:ext cx="1481328" cy="292608"/>
          </a:xfrm>
          <a:prstGeom prst="rect">
            <a:avLst/>
          </a:prstGeom>
          <a:noFill/>
        </p:spPr>
        <p:txBody>
          <a:bodyPr wrap="square" lIns="0" rIns="0" tIns="0" bIns="0" anchor="t">
            <a:spAutoFit/>
          </a:bodyPr>
          <a:lstStyle/>
          <a:p>
            <a:pPr algn="ctr"/>
            <a:r>
              <a:rPr sz="1050" b="0">
                <a:solidFill>
                  <a:srgbClr val="FFFFFF"/>
                </a:solidFill>
                <a:latin typeface="Segoe UI"/>
                <a:cs typeface="Nirmala UI"/>
              </a:rPr>
              <a:t>Node.js</a:t>
            </a:r>
          </a:p>
        </p:txBody>
      </p:sp>
      <p:pic>
        <p:nvPicPr>
          <p:cNvPr id="42" name="Picture 41" descr="brand-vercel.png"/>
          <p:cNvPicPr>
            <a:picLocks noChangeAspect="1"/>
          </p:cNvPicPr>
          <p:nvPr/>
        </p:nvPicPr>
        <p:blipFill>
          <a:blip r:embed="rId16"/>
          <a:stretch>
            <a:fillRect/>
          </a:stretch>
        </p:blipFill>
        <p:spPr>
          <a:xfrm>
            <a:off x="3886200" y="8385048"/>
            <a:ext cx="530352" cy="530352"/>
          </a:xfrm>
          <a:prstGeom prst="rect">
            <a:avLst/>
          </a:prstGeom>
        </p:spPr>
      </p:pic>
      <p:sp>
        <p:nvSpPr>
          <p:cNvPr id="43" name="TextBox 42"/>
          <p:cNvSpPr txBox="1"/>
          <p:nvPr/>
        </p:nvSpPr>
        <p:spPr>
          <a:xfrm>
            <a:off x="3493008" y="8961119"/>
            <a:ext cx="1481328" cy="292608"/>
          </a:xfrm>
          <a:prstGeom prst="rect">
            <a:avLst/>
          </a:prstGeom>
          <a:noFill/>
        </p:spPr>
        <p:txBody>
          <a:bodyPr wrap="square" lIns="0" rIns="0" tIns="0" bIns="0" anchor="t">
            <a:spAutoFit/>
          </a:bodyPr>
          <a:lstStyle/>
          <a:p>
            <a:pPr algn="ctr"/>
            <a:r>
              <a:rPr sz="1050" b="0">
                <a:solidFill>
                  <a:srgbClr val="FFFFFF"/>
                </a:solidFill>
                <a:latin typeface="Segoe UI"/>
                <a:cs typeface="Nirmala UI"/>
              </a:rPr>
              <a:t>Vercel</a:t>
            </a:r>
          </a:p>
        </p:txBody>
      </p:sp>
      <p:pic>
        <p:nvPicPr>
          <p:cNvPr id="44" name="Picture 43" descr="brand-whatsapp.png"/>
          <p:cNvPicPr>
            <a:picLocks noChangeAspect="1"/>
          </p:cNvPicPr>
          <p:nvPr/>
        </p:nvPicPr>
        <p:blipFill>
          <a:blip r:embed="rId17"/>
          <a:stretch>
            <a:fillRect/>
          </a:stretch>
        </p:blipFill>
        <p:spPr>
          <a:xfrm>
            <a:off x="5367528" y="8385048"/>
            <a:ext cx="530352" cy="530352"/>
          </a:xfrm>
          <a:prstGeom prst="rect">
            <a:avLst/>
          </a:prstGeom>
        </p:spPr>
      </p:pic>
      <p:sp>
        <p:nvSpPr>
          <p:cNvPr id="45" name="TextBox 44"/>
          <p:cNvSpPr txBox="1"/>
          <p:nvPr/>
        </p:nvSpPr>
        <p:spPr>
          <a:xfrm>
            <a:off x="4974336" y="8961119"/>
            <a:ext cx="1481328" cy="292608"/>
          </a:xfrm>
          <a:prstGeom prst="rect">
            <a:avLst/>
          </a:prstGeom>
          <a:noFill/>
        </p:spPr>
        <p:txBody>
          <a:bodyPr wrap="square" lIns="0" rIns="0" tIns="0" bIns="0" anchor="t">
            <a:spAutoFit/>
          </a:bodyPr>
          <a:lstStyle/>
          <a:p>
            <a:pPr algn="ctr"/>
            <a:r>
              <a:rPr sz="1050" b="0">
                <a:solidFill>
                  <a:srgbClr val="FFFFFF"/>
                </a:solidFill>
                <a:latin typeface="Segoe UI"/>
                <a:cs typeface="Nirmala UI"/>
              </a:rPr>
              <a:t>WhatsApp</a:t>
            </a:r>
          </a:p>
        </p:txBody>
      </p:sp>
      <p:pic>
        <p:nvPicPr>
          <p:cNvPr id="46" name="Picture 45" descr="brand-googlecalendar.png"/>
          <p:cNvPicPr>
            <a:picLocks noChangeAspect="1"/>
          </p:cNvPicPr>
          <p:nvPr/>
        </p:nvPicPr>
        <p:blipFill>
          <a:blip r:embed="rId18"/>
          <a:stretch>
            <a:fillRect/>
          </a:stretch>
        </p:blipFill>
        <p:spPr>
          <a:xfrm>
            <a:off x="6848856" y="8385048"/>
            <a:ext cx="530352" cy="530352"/>
          </a:xfrm>
          <a:prstGeom prst="rect">
            <a:avLst/>
          </a:prstGeom>
        </p:spPr>
      </p:pic>
      <p:sp>
        <p:nvSpPr>
          <p:cNvPr id="47" name="TextBox 46"/>
          <p:cNvSpPr txBox="1"/>
          <p:nvPr/>
        </p:nvSpPr>
        <p:spPr>
          <a:xfrm>
            <a:off x="6455664" y="8961119"/>
            <a:ext cx="1481328" cy="292608"/>
          </a:xfrm>
          <a:prstGeom prst="rect">
            <a:avLst/>
          </a:prstGeom>
          <a:noFill/>
        </p:spPr>
        <p:txBody>
          <a:bodyPr wrap="square" lIns="0" rIns="0" tIns="0" bIns="0" anchor="t">
            <a:spAutoFit/>
          </a:bodyPr>
          <a:lstStyle/>
          <a:p>
            <a:pPr algn="ctr"/>
            <a:r>
              <a:rPr sz="1050" b="0">
                <a:solidFill>
                  <a:srgbClr val="FFFFFF"/>
                </a:solidFill>
                <a:latin typeface="Segoe UI"/>
                <a:cs typeface="Nirmala UI"/>
              </a:rPr>
              <a:t>Calendar</a:t>
            </a:r>
          </a:p>
        </p:txBody>
      </p:sp>
      <p:sp>
        <p:nvSpPr>
          <p:cNvPr id="48" name="Rounded Rectangle 47"/>
          <p:cNvSpPr/>
          <p:nvPr/>
        </p:nvSpPr>
        <p:spPr>
          <a:xfrm>
            <a:off x="10972800" y="2011680"/>
            <a:ext cx="3931920" cy="868680"/>
          </a:xfrm>
          <a:prstGeom prst="roundRect">
            <a:avLst>
              <a:gd name="adj" fmla="val 6000"/>
            </a:avLst>
          </a:prstGeom>
          <a:solidFill>
            <a:srgbClr val="0A1621">
              <a:alpha val="92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smartphone.png"/>
          <p:cNvPicPr>
            <a:picLocks noChangeAspect="1"/>
          </p:cNvPicPr>
          <p:nvPr/>
        </p:nvPicPr>
        <p:blipFill>
          <a:blip r:embed="rId19"/>
          <a:stretch>
            <a:fillRect/>
          </a:stretch>
        </p:blipFill>
        <p:spPr>
          <a:xfrm>
            <a:off x="11155680" y="2148840"/>
            <a:ext cx="566928" cy="566928"/>
          </a:xfrm>
          <a:prstGeom prst="rect">
            <a:avLst/>
          </a:prstGeom>
        </p:spPr>
      </p:pic>
      <p:sp>
        <p:nvSpPr>
          <p:cNvPr id="50" name="TextBox 49"/>
          <p:cNvSpPr txBox="1"/>
          <p:nvPr/>
        </p:nvSpPr>
        <p:spPr>
          <a:xfrm>
            <a:off x="11795760" y="2075688"/>
            <a:ext cx="3017520" cy="777240"/>
          </a:xfrm>
          <a:prstGeom prst="rect">
            <a:avLst/>
          </a:prstGeom>
          <a:noFill/>
        </p:spPr>
        <p:txBody>
          <a:bodyPr wrap="square" lIns="0" rIns="0" tIns="0" bIns="0" anchor="ctr">
            <a:spAutoFit/>
          </a:bodyPr>
          <a:lstStyle/>
          <a:p>
            <a:pPr algn="l"/>
            <a:r>
              <a:rPr sz="1400" b="1">
                <a:solidFill>
                  <a:srgbClr val="FFFFFF"/>
                </a:solidFill>
                <a:latin typeface="Segoe UI Semibold"/>
                <a:cs typeface="Nirmala UI"/>
              </a:rPr>
              <a:t>Elder's phone</a:t>
            </a:r>
          </a:p>
          <a:p>
            <a:pPr algn="l"/>
            <a:r>
              <a:rPr sz="1050" b="0">
                <a:solidFill>
                  <a:srgbClr val="B8C7D6"/>
                </a:solidFill>
                <a:latin typeface="Segoe UI"/>
                <a:cs typeface="Nirmala UI"/>
              </a:rPr>
              <a:t>camera · PDF · link · SMS · voice</a:t>
            </a:r>
          </a:p>
        </p:txBody>
      </p:sp>
      <p:cxnSp>
        <p:nvCxnSpPr>
          <p:cNvPr id="51" name="Connector 50"/>
          <p:cNvCxnSpPr/>
          <p:nvPr/>
        </p:nvCxnSpPr>
        <p:spPr>
          <a:xfrm>
            <a:off x="12252960" y="2880360"/>
            <a:ext cx="0" cy="640080"/>
          </a:xfrm>
          <a:prstGeom prst="line">
            <a:avLst/>
          </a:prstGeom>
          <a:ln w="22225">
            <a:solidFill>
              <a:srgbClr val="2EC4F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13624560" y="2880360"/>
            <a:ext cx="0" cy="640080"/>
          </a:xfrm>
          <a:prstGeom prst="line">
            <a:avLst/>
          </a:prstGeom>
          <a:ln w="22225">
            <a:solidFill>
              <a:srgbClr val="2EC4F1"/>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195560" y="3044952"/>
            <a:ext cx="1965960" cy="274320"/>
          </a:xfrm>
          <a:prstGeom prst="rect">
            <a:avLst/>
          </a:prstGeom>
          <a:noFill/>
        </p:spPr>
        <p:txBody>
          <a:bodyPr wrap="square" lIns="0" rIns="0" tIns="0" bIns="0" anchor="t">
            <a:spAutoFit/>
          </a:bodyPr>
          <a:lstStyle/>
          <a:p>
            <a:pPr algn="r"/>
            <a:r>
              <a:rPr sz="1000" b="0">
                <a:solidFill>
                  <a:srgbClr val="B8C7D6"/>
                </a:solidFill>
                <a:latin typeface="Segoe UI"/>
                <a:cs typeface="Nirmala UI"/>
              </a:rPr>
              <a:t>photo / text</a:t>
            </a:r>
          </a:p>
        </p:txBody>
      </p:sp>
      <p:sp>
        <p:nvSpPr>
          <p:cNvPr id="54" name="TextBox 53"/>
          <p:cNvSpPr txBox="1"/>
          <p:nvPr/>
        </p:nvSpPr>
        <p:spPr>
          <a:xfrm>
            <a:off x="13761720" y="3044952"/>
            <a:ext cx="2194560" cy="274320"/>
          </a:xfrm>
          <a:prstGeom prst="rect">
            <a:avLst/>
          </a:prstGeom>
          <a:noFill/>
        </p:spPr>
        <p:txBody>
          <a:bodyPr wrap="square" lIns="0" rIns="0" tIns="0" bIns="0" anchor="t">
            <a:spAutoFit/>
          </a:bodyPr>
          <a:lstStyle/>
          <a:p>
            <a:pPr algn="l"/>
            <a:r>
              <a:rPr sz="1000" b="0">
                <a:solidFill>
                  <a:srgbClr val="B8C7D6"/>
                </a:solidFill>
                <a:latin typeface="Segoe UI"/>
                <a:cs typeface="Nirmala UI"/>
              </a:rPr>
              <a:t>card + voice</a:t>
            </a:r>
          </a:p>
        </p:txBody>
      </p:sp>
      <p:sp>
        <p:nvSpPr>
          <p:cNvPr id="55" name="Rounded Rectangle 54"/>
          <p:cNvSpPr/>
          <p:nvPr/>
        </p:nvSpPr>
        <p:spPr>
          <a:xfrm>
            <a:off x="8595360" y="3520440"/>
            <a:ext cx="8183879" cy="3291840"/>
          </a:xfrm>
          <a:prstGeom prst="roundRect">
            <a:avLst>
              <a:gd name="adj" fmla="val 4000"/>
            </a:avLst>
          </a:prstGeom>
          <a:solidFill>
            <a:srgbClr val="08131C">
              <a:alpha val="92000"/>
            </a:srgbClr>
          </a:solidFill>
          <a:ln w="15875">
            <a:solidFill>
              <a:srgbClr val="2EC4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595360" y="3611880"/>
            <a:ext cx="8183879" cy="548640"/>
          </a:xfrm>
          <a:prstGeom prst="rect">
            <a:avLst/>
          </a:prstGeom>
          <a:noFill/>
        </p:spPr>
        <p:txBody>
          <a:bodyPr wrap="square" lIns="0" rIns="0" tIns="0" bIns="0" anchor="t">
            <a:spAutoFit/>
          </a:bodyPr>
          <a:lstStyle/>
          <a:p>
            <a:pPr algn="ctr"/>
            <a:r>
              <a:rPr sz="2000" b="1" spc="300">
                <a:solidFill>
                  <a:srgbClr val="FFFFFF"/>
                </a:solidFill>
                <a:latin typeface="Segoe UI Black"/>
                <a:cs typeface="Nirmala UI"/>
              </a:rPr>
              <a:t>VAACHAK</a:t>
            </a:r>
          </a:p>
          <a:p>
            <a:pPr algn="ctr"/>
            <a:r>
              <a:rPr sz="1050" b="0">
                <a:solidFill>
                  <a:srgbClr val="B8C7D6"/>
                </a:solidFill>
                <a:latin typeface="Segoe UI"/>
                <a:cs typeface="Nirmala UI"/>
              </a:rPr>
              <a:t>AI reads · rules decide · voice acts</a:t>
            </a:r>
          </a:p>
        </p:txBody>
      </p:sp>
      <p:sp>
        <p:nvSpPr>
          <p:cNvPr id="57" name="Rounded Rectangle 56"/>
          <p:cNvSpPr/>
          <p:nvPr/>
        </p:nvSpPr>
        <p:spPr>
          <a:xfrm>
            <a:off x="8869680" y="4297680"/>
            <a:ext cx="1755648" cy="1783080"/>
          </a:xfrm>
          <a:prstGeom prst="roundRect">
            <a:avLst>
              <a:gd name="adj" fmla="val 6000"/>
            </a:avLst>
          </a:prstGeom>
          <a:solidFill>
            <a:srgbClr val="0F2231"/>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942832" y="4370832"/>
            <a:ext cx="1609344" cy="320040"/>
          </a:xfrm>
          <a:prstGeom prst="rect">
            <a:avLst/>
          </a:prstGeom>
          <a:noFill/>
        </p:spPr>
        <p:txBody>
          <a:bodyPr wrap="square" lIns="0" rIns="0" tIns="0" bIns="0" anchor="t">
            <a:spAutoFit/>
          </a:bodyPr>
          <a:lstStyle/>
          <a:p>
            <a:pPr algn="ctr"/>
            <a:r>
              <a:rPr sz="1250" b="1">
                <a:solidFill>
                  <a:srgbClr val="FFFFFF"/>
                </a:solidFill>
                <a:latin typeface="Segoe UI Semibold"/>
                <a:cs typeface="Nirmala UI"/>
              </a:rPr>
              <a:t>Gemini read</a:t>
            </a:r>
          </a:p>
        </p:txBody>
      </p:sp>
      <p:pic>
        <p:nvPicPr>
          <p:cNvPr id="59" name="Picture 58" descr="scan-search.png"/>
          <p:cNvPicPr>
            <a:picLocks noChangeAspect="1"/>
          </p:cNvPicPr>
          <p:nvPr/>
        </p:nvPicPr>
        <p:blipFill>
          <a:blip r:embed="rId8"/>
          <a:stretch>
            <a:fillRect/>
          </a:stretch>
        </p:blipFill>
        <p:spPr>
          <a:xfrm>
            <a:off x="9418320" y="4727448"/>
            <a:ext cx="658368" cy="658368"/>
          </a:xfrm>
          <a:prstGeom prst="rect">
            <a:avLst/>
          </a:prstGeom>
        </p:spPr>
      </p:pic>
      <p:sp>
        <p:nvSpPr>
          <p:cNvPr id="60" name="TextBox 59"/>
          <p:cNvSpPr txBox="1"/>
          <p:nvPr/>
        </p:nvSpPr>
        <p:spPr>
          <a:xfrm>
            <a:off x="8942832" y="5440680"/>
            <a:ext cx="1609344" cy="548640"/>
          </a:xfrm>
          <a:prstGeom prst="rect">
            <a:avLst/>
          </a:prstGeom>
          <a:noFill/>
        </p:spPr>
        <p:txBody>
          <a:bodyPr wrap="square" lIns="0" rIns="0" tIns="0" bIns="0" anchor="t">
            <a:spAutoFit/>
          </a:bodyPr>
          <a:lstStyle/>
          <a:p>
            <a:pPr algn="ctr"/>
            <a:r>
              <a:rPr sz="950" b="0">
                <a:solidFill>
                  <a:srgbClr val="B8C7D6"/>
                </a:solidFill>
                <a:latin typeface="Segoe UI"/>
                <a:cs typeface="Nirmala UI"/>
              </a:rPr>
              <a:t>photo → 5-field JSON</a:t>
            </a:r>
          </a:p>
        </p:txBody>
      </p:sp>
      <p:cxnSp>
        <p:nvCxnSpPr>
          <p:cNvPr id="61" name="Connector 60"/>
          <p:cNvCxnSpPr/>
          <p:nvPr/>
        </p:nvCxnSpPr>
        <p:spPr>
          <a:xfrm>
            <a:off x="10634472" y="5184648"/>
            <a:ext cx="164592" cy="0"/>
          </a:xfrm>
          <a:prstGeom prst="line">
            <a:avLst/>
          </a:prstGeom>
          <a:ln w="22225">
            <a:solidFill>
              <a:srgbClr val="2EC4F1"/>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10808208" y="4297680"/>
            <a:ext cx="1755648" cy="1783080"/>
          </a:xfrm>
          <a:prstGeom prst="roundRect">
            <a:avLst>
              <a:gd name="adj" fmla="val 6000"/>
            </a:avLst>
          </a:prstGeom>
          <a:solidFill>
            <a:srgbClr val="0F2231"/>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881360" y="4370832"/>
            <a:ext cx="1609344" cy="320040"/>
          </a:xfrm>
          <a:prstGeom prst="rect">
            <a:avLst/>
          </a:prstGeom>
          <a:noFill/>
        </p:spPr>
        <p:txBody>
          <a:bodyPr wrap="square" lIns="0" rIns="0" tIns="0" bIns="0" anchor="t">
            <a:spAutoFit/>
          </a:bodyPr>
          <a:lstStyle/>
          <a:p>
            <a:pPr algn="ctr"/>
            <a:r>
              <a:rPr sz="1250" b="1">
                <a:solidFill>
                  <a:srgbClr val="FFFFFF"/>
                </a:solidFill>
                <a:latin typeface="Segoe UI Semibold"/>
                <a:cs typeface="Nirmala UI"/>
              </a:rPr>
              <a:t>Rule engine</a:t>
            </a:r>
          </a:p>
        </p:txBody>
      </p:sp>
      <p:pic>
        <p:nvPicPr>
          <p:cNvPr id="64" name="Picture 63" descr="shield-check.png"/>
          <p:cNvPicPr>
            <a:picLocks noChangeAspect="1"/>
          </p:cNvPicPr>
          <p:nvPr/>
        </p:nvPicPr>
        <p:blipFill>
          <a:blip r:embed="rId7"/>
          <a:stretch>
            <a:fillRect/>
          </a:stretch>
        </p:blipFill>
        <p:spPr>
          <a:xfrm>
            <a:off x="11356848" y="4727448"/>
            <a:ext cx="658368" cy="658368"/>
          </a:xfrm>
          <a:prstGeom prst="rect">
            <a:avLst/>
          </a:prstGeom>
        </p:spPr>
      </p:pic>
      <p:sp>
        <p:nvSpPr>
          <p:cNvPr id="65" name="TextBox 64"/>
          <p:cNvSpPr txBox="1"/>
          <p:nvPr/>
        </p:nvSpPr>
        <p:spPr>
          <a:xfrm>
            <a:off x="10881360" y="5440680"/>
            <a:ext cx="1609344" cy="548640"/>
          </a:xfrm>
          <a:prstGeom prst="rect">
            <a:avLst/>
          </a:prstGeom>
          <a:noFill/>
        </p:spPr>
        <p:txBody>
          <a:bodyPr wrap="square" lIns="0" rIns="0" tIns="0" bIns="0" anchor="t">
            <a:spAutoFit/>
          </a:bodyPr>
          <a:lstStyle/>
          <a:p>
            <a:pPr algn="ctr"/>
            <a:r>
              <a:rPr sz="950" b="0">
                <a:solidFill>
                  <a:srgbClr val="B8C7D6"/>
                </a:solidFill>
                <a:latin typeface="Segoe UI"/>
                <a:cs typeface="Nirmala UI"/>
              </a:rPr>
              <a:t>₹ · date · scam · expiry</a:t>
            </a:r>
          </a:p>
        </p:txBody>
      </p:sp>
      <p:cxnSp>
        <p:nvCxnSpPr>
          <p:cNvPr id="66" name="Connector 65"/>
          <p:cNvCxnSpPr/>
          <p:nvPr/>
        </p:nvCxnSpPr>
        <p:spPr>
          <a:xfrm>
            <a:off x="12573000" y="5184648"/>
            <a:ext cx="164592" cy="0"/>
          </a:xfrm>
          <a:prstGeom prst="line">
            <a:avLst/>
          </a:prstGeom>
          <a:ln w="22225">
            <a:solidFill>
              <a:srgbClr val="2EC4F1"/>
            </a:solidFill>
            <a:tailEnd type="triangle" w="med" len="med"/>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12746736" y="4297680"/>
            <a:ext cx="1755648" cy="1783080"/>
          </a:xfrm>
          <a:prstGeom prst="roundRect">
            <a:avLst>
              <a:gd name="adj" fmla="val 6000"/>
            </a:avLst>
          </a:prstGeom>
          <a:solidFill>
            <a:srgbClr val="0F2231"/>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2819888" y="4370832"/>
            <a:ext cx="1609344" cy="320040"/>
          </a:xfrm>
          <a:prstGeom prst="rect">
            <a:avLst/>
          </a:prstGeom>
          <a:noFill/>
        </p:spPr>
        <p:txBody>
          <a:bodyPr wrap="square" lIns="0" rIns="0" tIns="0" bIns="0" anchor="t">
            <a:spAutoFit/>
          </a:bodyPr>
          <a:lstStyle/>
          <a:p>
            <a:pPr algn="ctr"/>
            <a:r>
              <a:rPr sz="1250" b="1">
                <a:solidFill>
                  <a:srgbClr val="FFFFFF"/>
                </a:solidFill>
                <a:latin typeface="Segoe UI Semibold"/>
                <a:cs typeface="Nirmala UI"/>
              </a:rPr>
              <a:t>Action card</a:t>
            </a:r>
          </a:p>
        </p:txBody>
      </p:sp>
      <p:pic>
        <p:nvPicPr>
          <p:cNvPr id="69" name="Picture 68" descr="check-check.png"/>
          <p:cNvPicPr>
            <a:picLocks noChangeAspect="1"/>
          </p:cNvPicPr>
          <p:nvPr/>
        </p:nvPicPr>
        <p:blipFill>
          <a:blip r:embed="rId20"/>
          <a:stretch>
            <a:fillRect/>
          </a:stretch>
        </p:blipFill>
        <p:spPr>
          <a:xfrm>
            <a:off x="13295376" y="4727448"/>
            <a:ext cx="658368" cy="658368"/>
          </a:xfrm>
          <a:prstGeom prst="rect">
            <a:avLst/>
          </a:prstGeom>
        </p:spPr>
      </p:pic>
      <p:sp>
        <p:nvSpPr>
          <p:cNvPr id="70" name="TextBox 69"/>
          <p:cNvSpPr txBox="1"/>
          <p:nvPr/>
        </p:nvSpPr>
        <p:spPr>
          <a:xfrm>
            <a:off x="12819888" y="5440680"/>
            <a:ext cx="1609344" cy="548640"/>
          </a:xfrm>
          <a:prstGeom prst="rect">
            <a:avLst/>
          </a:prstGeom>
          <a:noFill/>
        </p:spPr>
        <p:txBody>
          <a:bodyPr wrap="square" lIns="0" rIns="0" tIns="0" bIns="0" anchor="t">
            <a:spAutoFit/>
          </a:bodyPr>
          <a:lstStyle/>
          <a:p>
            <a:pPr algn="ctr"/>
            <a:r>
              <a:rPr sz="950" b="0">
                <a:solidFill>
                  <a:srgbClr val="B8C7D6"/>
                </a:solidFill>
                <a:latin typeface="Segoe UI"/>
                <a:cs typeface="Nirmala UI"/>
              </a:rPr>
              <a:t>5 fields + flags</a:t>
            </a:r>
          </a:p>
        </p:txBody>
      </p:sp>
      <p:cxnSp>
        <p:nvCxnSpPr>
          <p:cNvPr id="71" name="Connector 70"/>
          <p:cNvCxnSpPr/>
          <p:nvPr/>
        </p:nvCxnSpPr>
        <p:spPr>
          <a:xfrm>
            <a:off x="14511528" y="5184648"/>
            <a:ext cx="164592" cy="0"/>
          </a:xfrm>
          <a:prstGeom prst="line">
            <a:avLst/>
          </a:prstGeom>
          <a:ln w="22225">
            <a:solidFill>
              <a:srgbClr val="2EC4F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Rounded Rectangle 71"/>
          <p:cNvSpPr/>
          <p:nvPr/>
        </p:nvSpPr>
        <p:spPr>
          <a:xfrm>
            <a:off x="14685264" y="4297680"/>
            <a:ext cx="1755648" cy="1783080"/>
          </a:xfrm>
          <a:prstGeom prst="roundRect">
            <a:avLst>
              <a:gd name="adj" fmla="val 6000"/>
            </a:avLst>
          </a:prstGeom>
          <a:solidFill>
            <a:srgbClr val="0F2231"/>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4758416" y="4370832"/>
            <a:ext cx="1609344" cy="320040"/>
          </a:xfrm>
          <a:prstGeom prst="rect">
            <a:avLst/>
          </a:prstGeom>
          <a:noFill/>
        </p:spPr>
        <p:txBody>
          <a:bodyPr wrap="square" lIns="0" rIns="0" tIns="0" bIns="0" anchor="t">
            <a:spAutoFit/>
          </a:bodyPr>
          <a:lstStyle/>
          <a:p>
            <a:pPr algn="ctr"/>
            <a:r>
              <a:rPr sz="1250" b="1">
                <a:solidFill>
                  <a:srgbClr val="FFFFFF"/>
                </a:solidFill>
                <a:latin typeface="Segoe UI Semibold"/>
                <a:cs typeface="Nirmala UI"/>
              </a:rPr>
              <a:t>Sarvam voice</a:t>
            </a:r>
          </a:p>
        </p:txBody>
      </p:sp>
      <p:pic>
        <p:nvPicPr>
          <p:cNvPr id="74" name="Picture 73" descr="volume-2.png"/>
          <p:cNvPicPr>
            <a:picLocks noChangeAspect="1"/>
          </p:cNvPicPr>
          <p:nvPr/>
        </p:nvPicPr>
        <p:blipFill>
          <a:blip r:embed="rId21"/>
          <a:stretch>
            <a:fillRect/>
          </a:stretch>
        </p:blipFill>
        <p:spPr>
          <a:xfrm>
            <a:off x="15233904" y="4727448"/>
            <a:ext cx="658368" cy="658368"/>
          </a:xfrm>
          <a:prstGeom prst="rect">
            <a:avLst/>
          </a:prstGeom>
        </p:spPr>
      </p:pic>
      <p:sp>
        <p:nvSpPr>
          <p:cNvPr id="75" name="TextBox 74"/>
          <p:cNvSpPr txBox="1"/>
          <p:nvPr/>
        </p:nvSpPr>
        <p:spPr>
          <a:xfrm>
            <a:off x="14758416" y="5440680"/>
            <a:ext cx="1609344" cy="548640"/>
          </a:xfrm>
          <a:prstGeom prst="rect">
            <a:avLst/>
          </a:prstGeom>
          <a:noFill/>
        </p:spPr>
        <p:txBody>
          <a:bodyPr wrap="square" lIns="0" rIns="0" tIns="0" bIns="0" anchor="t">
            <a:spAutoFit/>
          </a:bodyPr>
          <a:lstStyle/>
          <a:p>
            <a:pPr algn="ctr"/>
            <a:r>
              <a:rPr sz="950" b="0">
                <a:solidFill>
                  <a:srgbClr val="B8C7D6"/>
                </a:solidFill>
                <a:latin typeface="Segoe UI"/>
                <a:cs typeface="Nirmala UI"/>
              </a:rPr>
              <a:t>MP3, first words ~1.5 s</a:t>
            </a:r>
          </a:p>
        </p:txBody>
      </p:sp>
      <p:cxnSp>
        <p:nvCxnSpPr>
          <p:cNvPr id="76" name="Connector 75"/>
          <p:cNvCxnSpPr/>
          <p:nvPr/>
        </p:nvCxnSpPr>
        <p:spPr>
          <a:xfrm>
            <a:off x="9747504" y="6080760"/>
            <a:ext cx="0" cy="365760"/>
          </a:xfrm>
          <a:prstGeom prst="line">
            <a:avLst/>
          </a:prstGeom>
          <a:ln w="19050">
            <a:solidFill>
              <a:srgbClr val="2EC4F1"/>
            </a:solidFill>
            <a:prstDash val="dash"/>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5563088" y="6080760"/>
            <a:ext cx="0" cy="365760"/>
          </a:xfrm>
          <a:prstGeom prst="line">
            <a:avLst/>
          </a:prstGeom>
          <a:ln w="19050">
            <a:solidFill>
              <a:srgbClr val="2EC4F1"/>
            </a:solidFill>
            <a:prstDash val="dash"/>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747504" y="6446520"/>
            <a:ext cx="996696" cy="0"/>
          </a:xfrm>
          <a:prstGeom prst="line">
            <a:avLst/>
          </a:prstGeom>
          <a:ln w="19050">
            <a:solidFill>
              <a:srgbClr val="2EC4F1"/>
            </a:solidFill>
            <a:prstDash val="dash"/>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4630400" y="6446520"/>
            <a:ext cx="932688" cy="0"/>
          </a:xfrm>
          <a:prstGeom prst="line">
            <a:avLst/>
          </a:prstGeom>
          <a:ln w="19050">
            <a:solidFill>
              <a:srgbClr val="2EC4F1"/>
            </a:solidFill>
            <a:prstDash val="dash"/>
          </a:ln>
        </p:spPr>
        <p:style>
          <a:lnRef idx="2">
            <a:schemeClr val="accent1"/>
          </a:lnRef>
          <a:fillRef idx="0">
            <a:schemeClr val="accent1"/>
          </a:fillRef>
          <a:effectRef idx="1">
            <a:schemeClr val="accent1"/>
          </a:effectRef>
          <a:fontRef idx="minor">
            <a:schemeClr val="tx1"/>
          </a:fontRef>
        </p:style>
      </p:cxnSp>
      <p:sp>
        <p:nvSpPr>
          <p:cNvPr id="80" name="Rounded Rectangle 79"/>
          <p:cNvSpPr/>
          <p:nvPr/>
        </p:nvSpPr>
        <p:spPr>
          <a:xfrm>
            <a:off x="10835640" y="6254496"/>
            <a:ext cx="3703320" cy="384048"/>
          </a:xfrm>
          <a:prstGeom prst="roundRect">
            <a:avLst>
              <a:gd name="adj" fmla="val 20000"/>
            </a:avLst>
          </a:prstGeom>
          <a:solidFill>
            <a:srgbClr val="0B2A3A"/>
          </a:solidFill>
          <a:ln w="12700">
            <a:solidFill>
              <a:srgbClr val="2EC4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835640" y="6254496"/>
            <a:ext cx="3703320" cy="384048"/>
          </a:xfrm>
          <a:prstGeom prst="rect">
            <a:avLst/>
          </a:prstGeom>
          <a:noFill/>
        </p:spPr>
        <p:txBody>
          <a:bodyPr wrap="square" lIns="0" rIns="0" tIns="0" bIns="0" anchor="ctr">
            <a:spAutoFit/>
          </a:bodyPr>
          <a:lstStyle/>
          <a:p>
            <a:pPr algn="ctr"/>
            <a:r>
              <a:rPr sz="1050" b="1">
                <a:solidFill>
                  <a:srgbClr val="2EC4F1"/>
                </a:solidFill>
                <a:latin typeface="Segoe UI Semibold"/>
                <a:cs typeface="Nirmala UI"/>
              </a:rPr>
              <a:t>On-phone OCR cross-check · offline rules</a:t>
            </a:r>
          </a:p>
        </p:txBody>
      </p:sp>
      <p:cxnSp>
        <p:nvCxnSpPr>
          <p:cNvPr id="82" name="Connector 81"/>
          <p:cNvCxnSpPr/>
          <p:nvPr/>
        </p:nvCxnSpPr>
        <p:spPr>
          <a:xfrm>
            <a:off x="10607040" y="6812280"/>
            <a:ext cx="0" cy="548640"/>
          </a:xfrm>
          <a:prstGeom prst="line">
            <a:avLst/>
          </a:prstGeom>
          <a:ln w="22225">
            <a:solidFill>
              <a:srgbClr val="2EC4F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2710160" y="6812280"/>
            <a:ext cx="0" cy="548640"/>
          </a:xfrm>
          <a:prstGeom prst="line">
            <a:avLst/>
          </a:prstGeom>
          <a:ln w="22225">
            <a:solidFill>
              <a:srgbClr val="2EC4F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4813280" y="6812280"/>
            <a:ext cx="0" cy="548640"/>
          </a:xfrm>
          <a:prstGeom prst="line">
            <a:avLst/>
          </a:prstGeom>
          <a:ln w="22225">
            <a:solidFill>
              <a:srgbClr val="2EC4F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5" name="Rounded Rectangle 84"/>
          <p:cNvSpPr/>
          <p:nvPr/>
        </p:nvSpPr>
        <p:spPr>
          <a:xfrm>
            <a:off x="8595360" y="7360920"/>
            <a:ext cx="8183879" cy="1463040"/>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823960" y="7424927"/>
            <a:ext cx="4572000" cy="274320"/>
          </a:xfrm>
          <a:prstGeom prst="rect">
            <a:avLst/>
          </a:prstGeom>
          <a:noFill/>
        </p:spPr>
        <p:txBody>
          <a:bodyPr wrap="square" lIns="0" rIns="0" tIns="0" bIns="0" anchor="t">
            <a:spAutoFit/>
          </a:bodyPr>
          <a:lstStyle/>
          <a:p>
            <a:pPr algn="l"/>
            <a:r>
              <a:rPr sz="1200" b="1">
                <a:solidFill>
                  <a:srgbClr val="FFFFFF"/>
                </a:solidFill>
                <a:latin typeface="Segoe UI Semibold"/>
                <a:cs typeface="Nirmala UI"/>
              </a:rPr>
              <a:t>One-tap actions</a:t>
            </a:r>
          </a:p>
        </p:txBody>
      </p:sp>
      <p:pic>
        <p:nvPicPr>
          <p:cNvPr id="87" name="Picture 86" descr="receipt-indian-rupee.png"/>
          <p:cNvPicPr>
            <a:picLocks noChangeAspect="1"/>
          </p:cNvPicPr>
          <p:nvPr/>
        </p:nvPicPr>
        <p:blipFill>
          <a:blip r:embed="rId22"/>
          <a:stretch>
            <a:fillRect/>
          </a:stretch>
        </p:blipFill>
        <p:spPr>
          <a:xfrm>
            <a:off x="9509760" y="7772400"/>
            <a:ext cx="502920" cy="502920"/>
          </a:xfrm>
          <a:prstGeom prst="rect">
            <a:avLst/>
          </a:prstGeom>
        </p:spPr>
      </p:pic>
      <p:sp>
        <p:nvSpPr>
          <p:cNvPr id="88" name="TextBox 87"/>
          <p:cNvSpPr txBox="1"/>
          <p:nvPr/>
        </p:nvSpPr>
        <p:spPr>
          <a:xfrm>
            <a:off x="8823960" y="8321040"/>
            <a:ext cx="1874519" cy="411480"/>
          </a:xfrm>
          <a:prstGeom prst="rect">
            <a:avLst/>
          </a:prstGeom>
          <a:noFill/>
        </p:spPr>
        <p:txBody>
          <a:bodyPr wrap="square" lIns="0" rIns="0" tIns="0" bIns="0" anchor="t">
            <a:spAutoFit/>
          </a:bodyPr>
          <a:lstStyle/>
          <a:p>
            <a:pPr algn="ctr"/>
            <a:r>
              <a:rPr sz="1050" b="0">
                <a:solidFill>
                  <a:srgbClr val="B8C7D6"/>
                </a:solidFill>
                <a:latin typeface="Segoe UI"/>
                <a:cs typeface="Nirmala UI"/>
              </a:rPr>
              <a:t>Pay a verified biller</a:t>
            </a:r>
          </a:p>
        </p:txBody>
      </p:sp>
      <p:pic>
        <p:nvPicPr>
          <p:cNvPr id="89" name="Picture 88" descr="bell-ring.png"/>
          <p:cNvPicPr>
            <a:picLocks noChangeAspect="1"/>
          </p:cNvPicPr>
          <p:nvPr/>
        </p:nvPicPr>
        <p:blipFill>
          <a:blip r:embed="rId23"/>
          <a:stretch>
            <a:fillRect/>
          </a:stretch>
        </p:blipFill>
        <p:spPr>
          <a:xfrm>
            <a:off x="11503152" y="7772400"/>
            <a:ext cx="502920" cy="502920"/>
          </a:xfrm>
          <a:prstGeom prst="rect">
            <a:avLst/>
          </a:prstGeom>
        </p:spPr>
      </p:pic>
      <p:sp>
        <p:nvSpPr>
          <p:cNvPr id="90" name="TextBox 89"/>
          <p:cNvSpPr txBox="1"/>
          <p:nvPr/>
        </p:nvSpPr>
        <p:spPr>
          <a:xfrm>
            <a:off x="10817352" y="8321040"/>
            <a:ext cx="1874519" cy="411480"/>
          </a:xfrm>
          <a:prstGeom prst="rect">
            <a:avLst/>
          </a:prstGeom>
          <a:noFill/>
        </p:spPr>
        <p:txBody>
          <a:bodyPr wrap="square" lIns="0" rIns="0" tIns="0" bIns="0" anchor="t">
            <a:spAutoFit/>
          </a:bodyPr>
          <a:lstStyle/>
          <a:p>
            <a:pPr algn="ctr"/>
            <a:r>
              <a:rPr sz="1050" b="0">
                <a:solidFill>
                  <a:srgbClr val="B8C7D6"/>
                </a:solidFill>
                <a:latin typeface="Segoe UI"/>
                <a:cs typeface="Nirmala UI"/>
              </a:rPr>
              <a:t>Dose &amp; bill reminders</a:t>
            </a:r>
          </a:p>
        </p:txBody>
      </p:sp>
      <p:pic>
        <p:nvPicPr>
          <p:cNvPr id="91" name="Picture 90" descr="phone-call.png"/>
          <p:cNvPicPr>
            <a:picLocks noChangeAspect="1"/>
          </p:cNvPicPr>
          <p:nvPr/>
        </p:nvPicPr>
        <p:blipFill>
          <a:blip r:embed="rId24"/>
          <a:stretch>
            <a:fillRect/>
          </a:stretch>
        </p:blipFill>
        <p:spPr>
          <a:xfrm>
            <a:off x="13496544" y="7772400"/>
            <a:ext cx="502920" cy="502920"/>
          </a:xfrm>
          <a:prstGeom prst="rect">
            <a:avLst/>
          </a:prstGeom>
        </p:spPr>
      </p:pic>
      <p:sp>
        <p:nvSpPr>
          <p:cNvPr id="92" name="TextBox 91"/>
          <p:cNvSpPr txBox="1"/>
          <p:nvPr/>
        </p:nvSpPr>
        <p:spPr>
          <a:xfrm>
            <a:off x="12810744" y="8321040"/>
            <a:ext cx="1874519" cy="411480"/>
          </a:xfrm>
          <a:prstGeom prst="rect">
            <a:avLst/>
          </a:prstGeom>
          <a:noFill/>
        </p:spPr>
        <p:txBody>
          <a:bodyPr wrap="square" lIns="0" rIns="0" tIns="0" bIns="0" anchor="t">
            <a:spAutoFit/>
          </a:bodyPr>
          <a:lstStyle/>
          <a:p>
            <a:pPr algn="ctr"/>
            <a:r>
              <a:rPr sz="1050" b="0">
                <a:solidFill>
                  <a:srgbClr val="B8C7D6"/>
                </a:solidFill>
                <a:latin typeface="Segoe UI"/>
                <a:cs typeface="Nirmala UI"/>
              </a:rPr>
              <a:t>Call 1930 on a scam</a:t>
            </a:r>
          </a:p>
        </p:txBody>
      </p:sp>
      <p:pic>
        <p:nvPicPr>
          <p:cNvPr id="93" name="Picture 92" descr="users.png"/>
          <p:cNvPicPr>
            <a:picLocks noChangeAspect="1"/>
          </p:cNvPicPr>
          <p:nvPr/>
        </p:nvPicPr>
        <p:blipFill>
          <a:blip r:embed="rId25"/>
          <a:stretch>
            <a:fillRect/>
          </a:stretch>
        </p:blipFill>
        <p:spPr>
          <a:xfrm>
            <a:off x="15489936" y="7772400"/>
            <a:ext cx="502920" cy="502920"/>
          </a:xfrm>
          <a:prstGeom prst="rect">
            <a:avLst/>
          </a:prstGeom>
        </p:spPr>
      </p:pic>
      <p:sp>
        <p:nvSpPr>
          <p:cNvPr id="94" name="TextBox 93"/>
          <p:cNvSpPr txBox="1"/>
          <p:nvPr/>
        </p:nvSpPr>
        <p:spPr>
          <a:xfrm>
            <a:off x="14804136" y="8321040"/>
            <a:ext cx="1874519" cy="411480"/>
          </a:xfrm>
          <a:prstGeom prst="rect">
            <a:avLst/>
          </a:prstGeom>
          <a:noFill/>
        </p:spPr>
        <p:txBody>
          <a:bodyPr wrap="square" lIns="0" rIns="0" tIns="0" bIns="0" anchor="t">
            <a:spAutoFit/>
          </a:bodyPr>
          <a:lstStyle/>
          <a:p>
            <a:pPr algn="ctr"/>
            <a:r>
              <a:rPr sz="1050" b="0">
                <a:solidFill>
                  <a:srgbClr val="B8C7D6"/>
                </a:solidFill>
                <a:latin typeface="Segoe UI"/>
                <a:cs typeface="Nirmala UI"/>
              </a:rPr>
              <a:t>Ask family on WhatsApp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80500" r="-3713" b="-80500"/>
              </a:stretch>
            </a:blipFill>
          </p:spPr>
        </p:sp>
      </p:grpSp>
      <p:sp>
        <p:nvSpPr>
          <p:cNvPr id="4" name="TextBox 3"/>
          <p:cNvSpPr txBox="1"/>
          <p:nvPr/>
        </p:nvSpPr>
        <p:spPr>
          <a:xfrm>
            <a:off x="1783080" y="960120"/>
            <a:ext cx="3657600" cy="731520"/>
          </a:xfrm>
          <a:prstGeom prst="rect">
            <a:avLst/>
          </a:prstGeom>
          <a:noFill/>
        </p:spPr>
        <p:txBody>
          <a:bodyPr wrap="square" lIns="0" rIns="0" tIns="0" bIns="0" anchor="t">
            <a:spAutoFit/>
          </a:bodyPr>
          <a:lstStyle/>
          <a:p>
            <a:pPr algn="l"/>
            <a:r>
              <a:rPr sz="3200" b="1" spc="100">
                <a:solidFill>
                  <a:srgbClr val="FFFFFF"/>
                </a:solidFill>
                <a:latin typeface="Segoe UI Black"/>
                <a:cs typeface="Nirmala UI"/>
              </a:rPr>
              <a:t>U</a:t>
            </a:r>
            <a:r>
              <a:rPr sz="3200" b="1" spc="100">
                <a:solidFill>
                  <a:srgbClr val="2EC4F1"/>
                </a:solidFill>
                <a:latin typeface="Segoe UI Black"/>
                <a:cs typeface="Nirmala UI"/>
              </a:rPr>
              <a:t>SP</a:t>
            </a:r>
          </a:p>
        </p:txBody>
      </p:sp>
      <p:sp>
        <p:nvSpPr>
          <p:cNvPr id="5" name="Rectangle 4"/>
          <p:cNvSpPr/>
          <p:nvPr/>
        </p:nvSpPr>
        <p:spPr>
          <a:xfrm>
            <a:off x="1783080" y="1709928"/>
            <a:ext cx="777240" cy="64008"/>
          </a:xfrm>
          <a:prstGeom prst="rect">
            <a:avLst/>
          </a:prstGeom>
          <a:solidFill>
            <a:srgbClr val="2EC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46920" y="960120"/>
            <a:ext cx="7315200" cy="731520"/>
          </a:xfrm>
          <a:prstGeom prst="rect">
            <a:avLst/>
          </a:prstGeom>
          <a:noFill/>
        </p:spPr>
        <p:txBody>
          <a:bodyPr wrap="square" lIns="0" rIns="0" tIns="0" bIns="0" anchor="t">
            <a:spAutoFit/>
          </a:bodyPr>
          <a:lstStyle/>
          <a:p>
            <a:pPr algn="l"/>
            <a:r>
              <a:rPr sz="3200" b="1" spc="100">
                <a:solidFill>
                  <a:srgbClr val="FFFFFF"/>
                </a:solidFill>
                <a:latin typeface="Segoe UI Black"/>
                <a:cs typeface="Nirmala UI"/>
              </a:rPr>
              <a:t>Future </a:t>
            </a:r>
            <a:r>
              <a:rPr sz="3200" b="1" spc="100">
                <a:solidFill>
                  <a:srgbClr val="2EC4F1"/>
                </a:solidFill>
                <a:latin typeface="Segoe UI Black"/>
                <a:cs typeface="Nirmala UI"/>
              </a:rPr>
              <a:t>Scope</a:t>
            </a:r>
          </a:p>
        </p:txBody>
      </p:sp>
      <p:sp>
        <p:nvSpPr>
          <p:cNvPr id="7" name="Rectangle 6"/>
          <p:cNvSpPr/>
          <p:nvPr/>
        </p:nvSpPr>
        <p:spPr>
          <a:xfrm>
            <a:off x="9646920" y="1709928"/>
            <a:ext cx="777240" cy="64008"/>
          </a:xfrm>
          <a:prstGeom prst="rect">
            <a:avLst/>
          </a:prstGeom>
          <a:solidFill>
            <a:srgbClr val="2EC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use-pointer-click.png"/>
          <p:cNvPicPr>
            <a:picLocks noChangeAspect="1"/>
          </p:cNvPicPr>
          <p:nvPr/>
        </p:nvPicPr>
        <p:blipFill>
          <a:blip r:embed="rId3"/>
          <a:stretch>
            <a:fillRect/>
          </a:stretch>
        </p:blipFill>
        <p:spPr>
          <a:xfrm>
            <a:off x="1783080" y="2057400"/>
            <a:ext cx="566928" cy="566928"/>
          </a:xfrm>
          <a:prstGeom prst="rect">
            <a:avLst/>
          </a:prstGeom>
        </p:spPr>
      </p:pic>
      <p:sp>
        <p:nvSpPr>
          <p:cNvPr id="9" name="TextBox 8"/>
          <p:cNvSpPr txBox="1"/>
          <p:nvPr/>
        </p:nvSpPr>
        <p:spPr>
          <a:xfrm>
            <a:off x="1783080" y="2697480"/>
            <a:ext cx="3566160" cy="1005840"/>
          </a:xfrm>
          <a:prstGeom prst="rect">
            <a:avLst/>
          </a:prstGeom>
          <a:noFill/>
        </p:spPr>
        <p:txBody>
          <a:bodyPr wrap="square" lIns="0" rIns="0" tIns="0" bIns="0" anchor="t">
            <a:spAutoFit/>
          </a:bodyPr>
          <a:lstStyle/>
          <a:p>
            <a:pPr algn="l">
              <a:spcAft>
                <a:spcPts val="200"/>
              </a:spcAft>
            </a:pPr>
            <a:r>
              <a:rPr sz="1500" b="1">
                <a:solidFill>
                  <a:srgbClr val="FFFFFF"/>
                </a:solidFill>
                <a:latin typeface="Segoe UI Semibold"/>
                <a:cs typeface="Nirmala UI"/>
              </a:rPr>
              <a:t>Acts, </a:t>
            </a:r>
            <a:r>
              <a:rPr sz="1500" b="1">
                <a:solidFill>
                  <a:srgbClr val="2EC4F1"/>
                </a:solidFill>
                <a:latin typeface="Segoe UI Semibold"/>
                <a:cs typeface="Nirmala UI"/>
              </a:rPr>
              <a:t>not just reads</a:t>
            </a:r>
          </a:p>
          <a:p>
            <a:pPr algn="l">
              <a:lnSpc>
                <a:spcPct val="105000"/>
              </a:lnSpc>
            </a:pPr>
            <a:r>
              <a:rPr sz="1250" b="0">
                <a:solidFill>
                  <a:srgbClr val="B8C7D6"/>
                </a:solidFill>
                <a:latin typeface="Segoe UI"/>
                <a:cs typeface="Nirmala UI"/>
              </a:rPr>
              <a:t>Pay, remind, call 1930 or ask family in one tap.</a:t>
            </a:r>
          </a:p>
        </p:txBody>
      </p:sp>
      <p:pic>
        <p:nvPicPr>
          <p:cNvPr id="10" name="Picture 9" descr="badge-check.png"/>
          <p:cNvPicPr>
            <a:picLocks noChangeAspect="1"/>
          </p:cNvPicPr>
          <p:nvPr/>
        </p:nvPicPr>
        <p:blipFill>
          <a:blip r:embed="rId4"/>
          <a:stretch>
            <a:fillRect/>
          </a:stretch>
        </p:blipFill>
        <p:spPr>
          <a:xfrm>
            <a:off x="5577840" y="2057400"/>
            <a:ext cx="566928" cy="566928"/>
          </a:xfrm>
          <a:prstGeom prst="rect">
            <a:avLst/>
          </a:prstGeom>
        </p:spPr>
      </p:pic>
      <p:sp>
        <p:nvSpPr>
          <p:cNvPr id="11" name="TextBox 10"/>
          <p:cNvSpPr txBox="1"/>
          <p:nvPr/>
        </p:nvSpPr>
        <p:spPr>
          <a:xfrm>
            <a:off x="5577840" y="2697480"/>
            <a:ext cx="3566160" cy="1005840"/>
          </a:xfrm>
          <a:prstGeom prst="rect">
            <a:avLst/>
          </a:prstGeom>
          <a:noFill/>
        </p:spPr>
        <p:txBody>
          <a:bodyPr wrap="square" lIns="0" rIns="0" tIns="0" bIns="0" anchor="t">
            <a:spAutoFit/>
          </a:bodyPr>
          <a:lstStyle/>
          <a:p>
            <a:pPr algn="l">
              <a:spcAft>
                <a:spcPts val="200"/>
              </a:spcAft>
            </a:pPr>
            <a:r>
              <a:rPr sz="1500" b="1">
                <a:solidFill>
                  <a:srgbClr val="FFFFFF"/>
                </a:solidFill>
                <a:latin typeface="Segoe UI Semibold"/>
                <a:cs typeface="Nirmala UI"/>
              </a:rPr>
              <a:t>Never </a:t>
            </a:r>
            <a:r>
              <a:rPr sz="1500" b="1">
                <a:solidFill>
                  <a:srgbClr val="2EC4F1"/>
                </a:solidFill>
                <a:latin typeface="Segoe UI Semibold"/>
                <a:cs typeface="Nirmala UI"/>
              </a:rPr>
              <a:t>guesses</a:t>
            </a:r>
          </a:p>
          <a:p>
            <a:pPr algn="l">
              <a:lnSpc>
                <a:spcPct val="105000"/>
              </a:lnSpc>
            </a:pPr>
            <a:r>
              <a:rPr sz="1250" b="0">
                <a:solidFill>
                  <a:srgbClr val="B8C7D6"/>
                </a:solidFill>
                <a:latin typeface="Segoe UI"/>
                <a:cs typeface="Nirmala UI"/>
              </a:rPr>
              <a:t>₹ and date checked against the print; unsure means "ask someone".</a:t>
            </a:r>
          </a:p>
        </p:txBody>
      </p:sp>
      <p:pic>
        <p:nvPicPr>
          <p:cNvPr id="12" name="Picture 11" descr="shield-alert.png"/>
          <p:cNvPicPr>
            <a:picLocks noChangeAspect="1"/>
          </p:cNvPicPr>
          <p:nvPr/>
        </p:nvPicPr>
        <p:blipFill>
          <a:blip r:embed="rId5"/>
          <a:stretch>
            <a:fillRect/>
          </a:stretch>
        </p:blipFill>
        <p:spPr>
          <a:xfrm>
            <a:off x="1783080" y="3721608"/>
            <a:ext cx="566928" cy="566928"/>
          </a:xfrm>
          <a:prstGeom prst="rect">
            <a:avLst/>
          </a:prstGeom>
        </p:spPr>
      </p:pic>
      <p:sp>
        <p:nvSpPr>
          <p:cNvPr id="13" name="TextBox 12"/>
          <p:cNvSpPr txBox="1"/>
          <p:nvPr/>
        </p:nvSpPr>
        <p:spPr>
          <a:xfrm>
            <a:off x="1783080" y="4361688"/>
            <a:ext cx="3566160" cy="1005840"/>
          </a:xfrm>
          <a:prstGeom prst="rect">
            <a:avLst/>
          </a:prstGeom>
          <a:noFill/>
        </p:spPr>
        <p:txBody>
          <a:bodyPr wrap="square" lIns="0" rIns="0" tIns="0" bIns="0" anchor="t">
            <a:spAutoFit/>
          </a:bodyPr>
          <a:lstStyle/>
          <a:p>
            <a:pPr algn="l">
              <a:spcAft>
                <a:spcPts val="200"/>
              </a:spcAft>
            </a:pPr>
            <a:r>
              <a:rPr sz="1500" b="1">
                <a:solidFill>
                  <a:srgbClr val="FFFFFF"/>
                </a:solidFill>
                <a:latin typeface="Segoe UI Semibold"/>
                <a:cs typeface="Nirmala UI"/>
              </a:rPr>
              <a:t>Scam shield </a:t>
            </a:r>
            <a:r>
              <a:rPr sz="1500" b="1">
                <a:solidFill>
                  <a:srgbClr val="2EC4F1"/>
                </a:solidFill>
                <a:latin typeface="Segoe UI Semibold"/>
                <a:cs typeface="Nirmala UI"/>
              </a:rPr>
              <a:t>for India</a:t>
            </a:r>
          </a:p>
          <a:p>
            <a:pPr algn="l">
              <a:lnSpc>
                <a:spcPct val="105000"/>
              </a:lnSpc>
            </a:pPr>
            <a:r>
              <a:rPr sz="1250" b="0">
                <a:solidFill>
                  <a:srgbClr val="B8C7D6"/>
                </a:solidFill>
                <a:latin typeface="Segoe UI"/>
                <a:cs typeface="Nirmala UI"/>
              </a:rPr>
              <a:t>Fake power-cut SMS, KYC, OTP, AnyDesk, personal UPI.</a:t>
            </a:r>
          </a:p>
        </p:txBody>
      </p:sp>
      <p:pic>
        <p:nvPicPr>
          <p:cNvPr id="14" name="Picture 13" descr="bell-ring.png"/>
          <p:cNvPicPr>
            <a:picLocks noChangeAspect="1"/>
          </p:cNvPicPr>
          <p:nvPr/>
        </p:nvPicPr>
        <p:blipFill>
          <a:blip r:embed="rId6"/>
          <a:stretch>
            <a:fillRect/>
          </a:stretch>
        </p:blipFill>
        <p:spPr>
          <a:xfrm>
            <a:off x="5577840" y="3721608"/>
            <a:ext cx="566928" cy="566928"/>
          </a:xfrm>
          <a:prstGeom prst="rect">
            <a:avLst/>
          </a:prstGeom>
        </p:spPr>
      </p:pic>
      <p:sp>
        <p:nvSpPr>
          <p:cNvPr id="15" name="TextBox 14"/>
          <p:cNvSpPr txBox="1"/>
          <p:nvPr/>
        </p:nvSpPr>
        <p:spPr>
          <a:xfrm>
            <a:off x="5577840" y="4361688"/>
            <a:ext cx="3566160" cy="1005840"/>
          </a:xfrm>
          <a:prstGeom prst="rect">
            <a:avLst/>
          </a:prstGeom>
          <a:noFill/>
        </p:spPr>
        <p:txBody>
          <a:bodyPr wrap="square" lIns="0" rIns="0" tIns="0" bIns="0" anchor="t">
            <a:spAutoFit/>
          </a:bodyPr>
          <a:lstStyle/>
          <a:p>
            <a:pPr algn="l">
              <a:spcAft>
                <a:spcPts val="200"/>
              </a:spcAft>
            </a:pPr>
            <a:r>
              <a:rPr sz="1500" b="1">
                <a:solidFill>
                  <a:srgbClr val="FFFFFF"/>
                </a:solidFill>
                <a:latin typeface="Segoe UI Semibold"/>
                <a:cs typeface="Nirmala UI"/>
              </a:rPr>
              <a:t>Looks </a:t>
            </a:r>
            <a:r>
              <a:rPr sz="1500" b="1">
                <a:solidFill>
                  <a:srgbClr val="2EC4F1"/>
                </a:solidFill>
                <a:latin typeface="Segoe UI Semibold"/>
                <a:cs typeface="Nirmala UI"/>
              </a:rPr>
              <a:t>after you</a:t>
            </a:r>
          </a:p>
          <a:p>
            <a:pPr algn="l">
              <a:lnSpc>
                <a:spcPct val="105000"/>
              </a:lnSpc>
            </a:pPr>
            <a:r>
              <a:rPr sz="1250" b="0">
                <a:solidFill>
                  <a:srgbClr val="B8C7D6"/>
                </a:solidFill>
                <a:latin typeface="Segoe UI"/>
                <a:cs typeface="Nirmala UI"/>
              </a:rPr>
              <a:t>Whole-course dose reminders, due dates in My papers, cheaper generic.</a:t>
            </a:r>
          </a:p>
        </p:txBody>
      </p:sp>
      <p:pic>
        <p:nvPicPr>
          <p:cNvPr id="16" name="Picture 15" descr="wifi-off.png"/>
          <p:cNvPicPr>
            <a:picLocks noChangeAspect="1"/>
          </p:cNvPicPr>
          <p:nvPr/>
        </p:nvPicPr>
        <p:blipFill>
          <a:blip r:embed="rId7"/>
          <a:stretch>
            <a:fillRect/>
          </a:stretch>
        </p:blipFill>
        <p:spPr>
          <a:xfrm>
            <a:off x="1783080" y="5385816"/>
            <a:ext cx="566928" cy="566928"/>
          </a:xfrm>
          <a:prstGeom prst="rect">
            <a:avLst/>
          </a:prstGeom>
        </p:spPr>
      </p:pic>
      <p:sp>
        <p:nvSpPr>
          <p:cNvPr id="17" name="TextBox 16"/>
          <p:cNvSpPr txBox="1"/>
          <p:nvPr/>
        </p:nvSpPr>
        <p:spPr>
          <a:xfrm>
            <a:off x="1783080" y="6025896"/>
            <a:ext cx="3566160" cy="1005840"/>
          </a:xfrm>
          <a:prstGeom prst="rect">
            <a:avLst/>
          </a:prstGeom>
          <a:noFill/>
        </p:spPr>
        <p:txBody>
          <a:bodyPr wrap="square" lIns="0" rIns="0" tIns="0" bIns="0" anchor="t">
            <a:spAutoFit/>
          </a:bodyPr>
          <a:lstStyle/>
          <a:p>
            <a:pPr algn="l">
              <a:spcAft>
                <a:spcPts val="200"/>
              </a:spcAft>
            </a:pPr>
            <a:r>
              <a:rPr sz="1500" b="1">
                <a:solidFill>
                  <a:srgbClr val="FFFFFF"/>
                </a:solidFill>
                <a:latin typeface="Segoe UI Semibold"/>
                <a:cs typeface="Nirmala UI"/>
              </a:rPr>
              <a:t>Works </a:t>
            </a:r>
            <a:r>
              <a:rPr sz="1500" b="1">
                <a:solidFill>
                  <a:srgbClr val="2EC4F1"/>
                </a:solidFill>
                <a:latin typeface="Segoe UI Semibold"/>
                <a:cs typeface="Nirmala UI"/>
              </a:rPr>
              <a:t>offline</a:t>
            </a:r>
          </a:p>
          <a:p>
            <a:pPr algn="l">
              <a:lnSpc>
                <a:spcPct val="105000"/>
              </a:lnSpc>
            </a:pPr>
            <a:r>
              <a:rPr sz="1250" b="0">
                <a:solidFill>
                  <a:srgbClr val="B8C7D6"/>
                </a:solidFill>
                <a:latin typeface="Segoe UI"/>
                <a:cs typeface="Nirmala UI"/>
              </a:rPr>
              <a:t>On-phone OCR, 50 medicines and the same safety rules.</a:t>
            </a:r>
          </a:p>
        </p:txBody>
      </p:sp>
      <p:pic>
        <p:nvPicPr>
          <p:cNvPr id="18" name="Picture 17" descr="languages.png"/>
          <p:cNvPicPr>
            <a:picLocks noChangeAspect="1"/>
          </p:cNvPicPr>
          <p:nvPr/>
        </p:nvPicPr>
        <p:blipFill>
          <a:blip r:embed="rId8"/>
          <a:stretch>
            <a:fillRect/>
          </a:stretch>
        </p:blipFill>
        <p:spPr>
          <a:xfrm>
            <a:off x="5577840" y="5385816"/>
            <a:ext cx="566928" cy="566928"/>
          </a:xfrm>
          <a:prstGeom prst="rect">
            <a:avLst/>
          </a:prstGeom>
        </p:spPr>
      </p:pic>
      <p:sp>
        <p:nvSpPr>
          <p:cNvPr id="19" name="TextBox 18"/>
          <p:cNvSpPr txBox="1"/>
          <p:nvPr/>
        </p:nvSpPr>
        <p:spPr>
          <a:xfrm>
            <a:off x="5577840" y="6025896"/>
            <a:ext cx="3566160" cy="1005840"/>
          </a:xfrm>
          <a:prstGeom prst="rect">
            <a:avLst/>
          </a:prstGeom>
          <a:noFill/>
        </p:spPr>
        <p:txBody>
          <a:bodyPr wrap="square" lIns="0" rIns="0" tIns="0" bIns="0" anchor="t">
            <a:spAutoFit/>
          </a:bodyPr>
          <a:lstStyle/>
          <a:p>
            <a:pPr algn="l">
              <a:spcAft>
                <a:spcPts val="200"/>
              </a:spcAft>
            </a:pPr>
            <a:r>
              <a:rPr sz="1500" b="1">
                <a:solidFill>
                  <a:srgbClr val="FFFFFF"/>
                </a:solidFill>
                <a:latin typeface="Segoe UI Semibold"/>
                <a:cs typeface="Nirmala UI"/>
              </a:rPr>
              <a:t>Your </a:t>
            </a:r>
            <a:r>
              <a:rPr sz="1500" b="1">
                <a:solidFill>
                  <a:srgbClr val="2EC4F1"/>
                </a:solidFill>
                <a:latin typeface="Segoe UI Semibold"/>
                <a:cs typeface="Nirmala UI"/>
              </a:rPr>
              <a:t>language &amp; voice</a:t>
            </a:r>
          </a:p>
          <a:p>
            <a:pPr algn="l">
              <a:lnSpc>
                <a:spcPct val="105000"/>
              </a:lnSpc>
            </a:pPr>
            <a:r>
              <a:rPr sz="1250" b="0">
                <a:solidFill>
                  <a:srgbClr val="B8C7D6"/>
                </a:solidFill>
                <a:latin typeface="Segoe UI"/>
                <a:cs typeface="Nirmala UI"/>
              </a:rPr>
              <a:t>Marathi, Hindi, English; spoken tour; giant UI.</a:t>
            </a:r>
          </a:p>
        </p:txBody>
      </p:sp>
      <p:cxnSp>
        <p:nvCxnSpPr>
          <p:cNvPr id="20" name="Connector 19"/>
          <p:cNvCxnSpPr/>
          <p:nvPr/>
        </p:nvCxnSpPr>
        <p:spPr>
          <a:xfrm>
            <a:off x="9235440" y="1097280"/>
            <a:ext cx="0" cy="5897880"/>
          </a:xfrm>
          <a:prstGeom prst="line">
            <a:avLst/>
          </a:prstGeom>
          <a:ln w="12700">
            <a:solidFill>
              <a:srgbClr val="1E6A8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829800" y="2240280"/>
            <a:ext cx="0" cy="4389120"/>
          </a:xfrm>
          <a:prstGeom prst="line">
            <a:avLst/>
          </a:prstGeom>
          <a:ln w="15875">
            <a:solidFill>
              <a:srgbClr val="2EC4F1"/>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9710928" y="2423160"/>
            <a:ext cx="237744" cy="237744"/>
          </a:xfrm>
          <a:prstGeom prst="ellipse">
            <a:avLst/>
          </a:prstGeom>
          <a:solidFill>
            <a:srgbClr val="2EC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195560" y="1965960"/>
            <a:ext cx="6583680" cy="1115568"/>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332720" y="2103120"/>
            <a:ext cx="960120" cy="841248"/>
          </a:xfrm>
          <a:prstGeom prst="roundRect">
            <a:avLst>
              <a:gd name="adj" fmla="val 10000"/>
            </a:avLst>
          </a:prstGeom>
          <a:solidFill>
            <a:srgbClr val="0B2A3A"/>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0" y="2103120"/>
            <a:ext cx="960120" cy="841248"/>
          </a:xfrm>
          <a:prstGeom prst="rect">
            <a:avLst/>
          </a:prstGeom>
          <a:noFill/>
        </p:spPr>
        <p:txBody>
          <a:bodyPr wrap="square" lIns="0" rIns="0" tIns="0" bIns="0" anchor="ctr">
            <a:spAutoFit/>
          </a:bodyPr>
          <a:lstStyle/>
          <a:p>
            <a:pPr algn="ctr"/>
            <a:r>
              <a:rPr sz="1000" b="1">
                <a:solidFill>
                  <a:srgbClr val="2EC4F1"/>
                </a:solidFill>
                <a:latin typeface="Segoe UI Semibold"/>
                <a:cs typeface="Nirmala UI"/>
              </a:rPr>
              <a:t>Phase</a:t>
            </a:r>
          </a:p>
          <a:p>
            <a:pPr algn="ctr"/>
            <a:r>
              <a:rPr sz="2200" b="1">
                <a:solidFill>
                  <a:srgbClr val="FFFFFF"/>
                </a:solidFill>
                <a:latin typeface="Segoe UI Black"/>
                <a:cs typeface="Nirmala UI"/>
              </a:rPr>
              <a:t>1</a:t>
            </a:r>
          </a:p>
        </p:txBody>
      </p:sp>
      <p:sp>
        <p:nvSpPr>
          <p:cNvPr id="26" name="TextBox 25"/>
          <p:cNvSpPr txBox="1"/>
          <p:nvPr/>
        </p:nvSpPr>
        <p:spPr>
          <a:xfrm>
            <a:off x="11521440" y="2075688"/>
            <a:ext cx="5120640" cy="914400"/>
          </a:xfrm>
          <a:prstGeom prst="rect">
            <a:avLst/>
          </a:prstGeom>
          <a:noFill/>
        </p:spPr>
        <p:txBody>
          <a:bodyPr wrap="square" lIns="0" rIns="0" tIns="0" bIns="0" anchor="ctr">
            <a:spAutoFit/>
          </a:bodyPr>
          <a:lstStyle/>
          <a:p>
            <a:pPr algn="l">
              <a:spcAft>
                <a:spcPts val="100"/>
              </a:spcAft>
            </a:pPr>
            <a:r>
              <a:rPr sz="1500" b="1">
                <a:solidFill>
                  <a:srgbClr val="FFFFFF"/>
                </a:solidFill>
                <a:latin typeface="Segoe UI Semibold"/>
                <a:cs typeface="Nirmala UI"/>
              </a:rPr>
              <a:t>Live today</a:t>
            </a:r>
          </a:p>
          <a:p>
            <a:pPr algn="l"/>
            <a:r>
              <a:rPr sz="1150" b="0">
                <a:solidFill>
                  <a:srgbClr val="B8C7D6"/>
                </a:solidFill>
                <a:latin typeface="Segoe UI"/>
                <a:cs typeface="Nirmala UI"/>
              </a:rPr>
              <a:t>Bills, medicines, scams and reminders in Marathi, Hindi, English.</a:t>
            </a:r>
          </a:p>
        </p:txBody>
      </p:sp>
      <p:sp>
        <p:nvSpPr>
          <p:cNvPr id="27" name="Oval 26"/>
          <p:cNvSpPr/>
          <p:nvPr/>
        </p:nvSpPr>
        <p:spPr>
          <a:xfrm>
            <a:off x="9710928" y="3685031"/>
            <a:ext cx="237744" cy="237744"/>
          </a:xfrm>
          <a:prstGeom prst="ellipse">
            <a:avLst/>
          </a:prstGeom>
          <a:solidFill>
            <a:srgbClr val="2EC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195560" y="3227832"/>
            <a:ext cx="6583680" cy="1115568"/>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332720" y="3364991"/>
            <a:ext cx="960120" cy="841248"/>
          </a:xfrm>
          <a:prstGeom prst="roundRect">
            <a:avLst>
              <a:gd name="adj" fmla="val 10000"/>
            </a:avLst>
          </a:prstGeom>
          <a:solidFill>
            <a:srgbClr val="0B2A3A"/>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0" y="3364991"/>
            <a:ext cx="960120" cy="841248"/>
          </a:xfrm>
          <a:prstGeom prst="rect">
            <a:avLst/>
          </a:prstGeom>
          <a:noFill/>
        </p:spPr>
        <p:txBody>
          <a:bodyPr wrap="square" lIns="0" rIns="0" tIns="0" bIns="0" anchor="ctr">
            <a:spAutoFit/>
          </a:bodyPr>
          <a:lstStyle/>
          <a:p>
            <a:pPr algn="ctr"/>
            <a:r>
              <a:rPr sz="1000" b="1">
                <a:solidFill>
                  <a:srgbClr val="2EC4F1"/>
                </a:solidFill>
                <a:latin typeface="Segoe UI Semibold"/>
                <a:cs typeface="Nirmala UI"/>
              </a:rPr>
              <a:t>Phase</a:t>
            </a:r>
          </a:p>
          <a:p>
            <a:pPr algn="ctr"/>
            <a:r>
              <a:rPr sz="2200" b="1">
                <a:solidFill>
                  <a:srgbClr val="FFFFFF"/>
                </a:solidFill>
                <a:latin typeface="Segoe UI Black"/>
                <a:cs typeface="Nirmala UI"/>
              </a:rPr>
              <a:t>2</a:t>
            </a:r>
          </a:p>
        </p:txBody>
      </p:sp>
      <p:sp>
        <p:nvSpPr>
          <p:cNvPr id="31" name="TextBox 30"/>
          <p:cNvSpPr txBox="1"/>
          <p:nvPr/>
        </p:nvSpPr>
        <p:spPr>
          <a:xfrm>
            <a:off x="11521440" y="3337560"/>
            <a:ext cx="5120640" cy="914400"/>
          </a:xfrm>
          <a:prstGeom prst="rect">
            <a:avLst/>
          </a:prstGeom>
          <a:noFill/>
        </p:spPr>
        <p:txBody>
          <a:bodyPr wrap="square" lIns="0" rIns="0" tIns="0" bIns="0" anchor="ctr">
            <a:spAutoFit/>
          </a:bodyPr>
          <a:lstStyle/>
          <a:p>
            <a:pPr algn="l">
              <a:spcAft>
                <a:spcPts val="100"/>
              </a:spcAft>
            </a:pPr>
            <a:r>
              <a:rPr sz="1500" b="1">
                <a:solidFill>
                  <a:srgbClr val="FFFFFF"/>
                </a:solidFill>
                <a:latin typeface="Segoe UI Semibold"/>
                <a:cs typeface="Nirmala UI"/>
              </a:rPr>
              <a:t>22 languages + WhatsApp bot</a:t>
            </a:r>
          </a:p>
          <a:p>
            <a:pPr algn="l"/>
            <a:r>
              <a:rPr sz="1150" b="0">
                <a:solidFill>
                  <a:srgbClr val="B8C7D6"/>
                </a:solidFill>
                <a:latin typeface="Segoe UI"/>
                <a:cs typeface="Nirmala UI"/>
              </a:rPr>
              <a:t>Forward any document to Vaachak; Sarvam / Bhashini voices.</a:t>
            </a:r>
          </a:p>
        </p:txBody>
      </p:sp>
      <p:sp>
        <p:nvSpPr>
          <p:cNvPr id="32" name="Oval 31"/>
          <p:cNvSpPr/>
          <p:nvPr/>
        </p:nvSpPr>
        <p:spPr>
          <a:xfrm>
            <a:off x="9710928" y="4946904"/>
            <a:ext cx="237744" cy="237744"/>
          </a:xfrm>
          <a:prstGeom prst="ellipse">
            <a:avLst/>
          </a:prstGeom>
          <a:solidFill>
            <a:srgbClr val="2EC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0195560" y="4489704"/>
            <a:ext cx="6583680" cy="1115568"/>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332720" y="4626864"/>
            <a:ext cx="960120" cy="841248"/>
          </a:xfrm>
          <a:prstGeom prst="roundRect">
            <a:avLst>
              <a:gd name="adj" fmla="val 10000"/>
            </a:avLst>
          </a:prstGeom>
          <a:solidFill>
            <a:srgbClr val="0B2A3A"/>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0" y="4626864"/>
            <a:ext cx="960120" cy="841248"/>
          </a:xfrm>
          <a:prstGeom prst="rect">
            <a:avLst/>
          </a:prstGeom>
          <a:noFill/>
        </p:spPr>
        <p:txBody>
          <a:bodyPr wrap="square" lIns="0" rIns="0" tIns="0" bIns="0" anchor="ctr">
            <a:spAutoFit/>
          </a:bodyPr>
          <a:lstStyle/>
          <a:p>
            <a:pPr algn="ctr"/>
            <a:r>
              <a:rPr sz="1000" b="1">
                <a:solidFill>
                  <a:srgbClr val="2EC4F1"/>
                </a:solidFill>
                <a:latin typeface="Segoe UI Semibold"/>
                <a:cs typeface="Nirmala UI"/>
              </a:rPr>
              <a:t>Phase</a:t>
            </a:r>
          </a:p>
          <a:p>
            <a:pPr algn="ctr"/>
            <a:r>
              <a:rPr sz="2200" b="1">
                <a:solidFill>
                  <a:srgbClr val="FFFFFF"/>
                </a:solidFill>
                <a:latin typeface="Segoe UI Black"/>
                <a:cs typeface="Nirmala UI"/>
              </a:rPr>
              <a:t>3</a:t>
            </a:r>
          </a:p>
        </p:txBody>
      </p:sp>
      <p:sp>
        <p:nvSpPr>
          <p:cNvPr id="36" name="TextBox 35"/>
          <p:cNvSpPr txBox="1"/>
          <p:nvPr/>
        </p:nvSpPr>
        <p:spPr>
          <a:xfrm>
            <a:off x="11521440" y="4599432"/>
            <a:ext cx="5120640" cy="914400"/>
          </a:xfrm>
          <a:prstGeom prst="rect">
            <a:avLst/>
          </a:prstGeom>
          <a:noFill/>
        </p:spPr>
        <p:txBody>
          <a:bodyPr wrap="square" lIns="0" rIns="0" tIns="0" bIns="0" anchor="ctr">
            <a:spAutoFit/>
          </a:bodyPr>
          <a:lstStyle/>
          <a:p>
            <a:pPr algn="l">
              <a:spcAft>
                <a:spcPts val="100"/>
              </a:spcAft>
            </a:pPr>
            <a:r>
              <a:rPr sz="1500" b="1">
                <a:solidFill>
                  <a:srgbClr val="FFFFFF"/>
                </a:solidFill>
                <a:latin typeface="Segoe UI Semibold"/>
                <a:cs typeface="Nirmala UI"/>
              </a:rPr>
              <a:t>Family &amp; payments</a:t>
            </a:r>
          </a:p>
          <a:p>
            <a:pPr algn="l"/>
            <a:r>
              <a:rPr sz="1150" b="0">
                <a:solidFill>
                  <a:srgbClr val="B8C7D6"/>
                </a:solidFill>
                <a:latin typeface="Segoe UI"/>
                <a:cs typeface="Nirmala UI"/>
              </a:rPr>
              <a:t>Caregiver alerts for due bills and scams; BBPS verified payments.</a:t>
            </a:r>
          </a:p>
        </p:txBody>
      </p:sp>
      <p:sp>
        <p:nvSpPr>
          <p:cNvPr id="37" name="Oval 36"/>
          <p:cNvSpPr/>
          <p:nvPr/>
        </p:nvSpPr>
        <p:spPr>
          <a:xfrm>
            <a:off x="9710928" y="6208775"/>
            <a:ext cx="237744" cy="237744"/>
          </a:xfrm>
          <a:prstGeom prst="ellipse">
            <a:avLst/>
          </a:prstGeom>
          <a:solidFill>
            <a:srgbClr val="2EC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0195560" y="5751575"/>
            <a:ext cx="6583680" cy="1115568"/>
          </a:xfrm>
          <a:prstGeom prst="roundRect">
            <a:avLst>
              <a:gd name="adj" fmla="val 6000"/>
            </a:avLst>
          </a:prstGeom>
          <a:solidFill>
            <a:srgbClr val="0A1621">
              <a:alpha val="90000"/>
            </a:srgbClr>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0332720" y="5888736"/>
            <a:ext cx="960120" cy="841248"/>
          </a:xfrm>
          <a:prstGeom prst="roundRect">
            <a:avLst>
              <a:gd name="adj" fmla="val 10000"/>
            </a:avLst>
          </a:prstGeom>
          <a:solidFill>
            <a:srgbClr val="0B2A3A"/>
          </a:solidFill>
          <a:ln w="12700">
            <a:solidFill>
              <a:srgbClr val="1E6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0" y="5888736"/>
            <a:ext cx="960120" cy="841248"/>
          </a:xfrm>
          <a:prstGeom prst="rect">
            <a:avLst/>
          </a:prstGeom>
          <a:noFill/>
        </p:spPr>
        <p:txBody>
          <a:bodyPr wrap="square" lIns="0" rIns="0" tIns="0" bIns="0" anchor="ctr">
            <a:spAutoFit/>
          </a:bodyPr>
          <a:lstStyle/>
          <a:p>
            <a:pPr algn="ctr"/>
            <a:r>
              <a:rPr sz="1400" b="1">
                <a:solidFill>
                  <a:srgbClr val="FFFFFF"/>
                </a:solidFill>
                <a:latin typeface="Segoe UI Black"/>
                <a:cs typeface="Nirmala UI"/>
              </a:rPr>
              <a:t>Future</a:t>
            </a:r>
          </a:p>
        </p:txBody>
      </p:sp>
      <p:sp>
        <p:nvSpPr>
          <p:cNvPr id="41" name="TextBox 40"/>
          <p:cNvSpPr txBox="1"/>
          <p:nvPr/>
        </p:nvSpPr>
        <p:spPr>
          <a:xfrm>
            <a:off x="11521440" y="5861303"/>
            <a:ext cx="5120640" cy="914400"/>
          </a:xfrm>
          <a:prstGeom prst="rect">
            <a:avLst/>
          </a:prstGeom>
          <a:noFill/>
        </p:spPr>
        <p:txBody>
          <a:bodyPr wrap="square" lIns="0" rIns="0" tIns="0" bIns="0" anchor="ctr">
            <a:spAutoFit/>
          </a:bodyPr>
          <a:lstStyle/>
          <a:p>
            <a:pPr algn="l">
              <a:spcAft>
                <a:spcPts val="100"/>
              </a:spcAft>
            </a:pPr>
            <a:r>
              <a:rPr sz="1500" b="1">
                <a:solidFill>
                  <a:srgbClr val="FFFFFF"/>
                </a:solidFill>
                <a:latin typeface="Segoe UI Semibold"/>
                <a:cs typeface="Nirmala UI"/>
              </a:rPr>
              <a:t>Fully offline Vaachak</a:t>
            </a:r>
          </a:p>
          <a:p>
            <a:pPr algn="l"/>
            <a:r>
              <a:rPr sz="1150" b="0">
                <a:solidFill>
                  <a:srgbClr val="B8C7D6"/>
                </a:solidFill>
                <a:latin typeface="Segoe UI"/>
                <a:cs typeface="Nirmala UI"/>
              </a:rPr>
              <a:t>On-device AI model; government-scheme notices as checklists.</a:t>
            </a:r>
          </a:p>
        </p:txBody>
      </p:sp>
      <p:cxnSp>
        <p:nvCxnSpPr>
          <p:cNvPr id="42" name="Connector 41"/>
          <p:cNvCxnSpPr/>
          <p:nvPr/>
        </p:nvCxnSpPr>
        <p:spPr>
          <a:xfrm>
            <a:off x="1783080" y="7269480"/>
            <a:ext cx="14996160" cy="0"/>
          </a:xfrm>
          <a:prstGeom prst="line">
            <a:avLst/>
          </a:prstGeom>
          <a:ln w="12700">
            <a:solidFill>
              <a:srgbClr val="1E6A8F"/>
            </a:solidFill>
          </a:ln>
        </p:spPr>
        <p:style>
          <a:lnRef idx="2">
            <a:schemeClr val="accent1"/>
          </a:lnRef>
          <a:fillRef idx="0">
            <a:schemeClr val="accent1"/>
          </a:fillRef>
          <a:effectRef idx="1">
            <a:schemeClr val="accent1"/>
          </a:effectRef>
          <a:fontRef idx="minor">
            <a:schemeClr val="tx1"/>
          </a:fontRef>
        </p:style>
      </p:cxnSp>
      <p:pic>
        <p:nvPicPr>
          <p:cNvPr id="43" name="Picture 42" descr="link.png"/>
          <p:cNvPicPr>
            <a:picLocks noChangeAspect="1"/>
          </p:cNvPicPr>
          <p:nvPr/>
        </p:nvPicPr>
        <p:blipFill>
          <a:blip r:embed="rId9"/>
          <a:stretch>
            <a:fillRect/>
          </a:stretch>
        </p:blipFill>
        <p:spPr>
          <a:xfrm>
            <a:off x="1920240" y="7635240"/>
            <a:ext cx="777240" cy="777240"/>
          </a:xfrm>
          <a:prstGeom prst="rect">
            <a:avLst/>
          </a:prstGeom>
        </p:spPr>
      </p:pic>
      <p:cxnSp>
        <p:nvCxnSpPr>
          <p:cNvPr id="44" name="Connector 43"/>
          <p:cNvCxnSpPr/>
          <p:nvPr/>
        </p:nvCxnSpPr>
        <p:spPr>
          <a:xfrm>
            <a:off x="2971800" y="7589520"/>
            <a:ext cx="0" cy="914400"/>
          </a:xfrm>
          <a:prstGeom prst="line">
            <a:avLst/>
          </a:prstGeom>
          <a:ln w="12700">
            <a:solidFill>
              <a:srgbClr val="1E6A8F"/>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200400" y="7589520"/>
            <a:ext cx="4114800" cy="914400"/>
          </a:xfrm>
          <a:prstGeom prst="rect">
            <a:avLst/>
          </a:prstGeom>
          <a:noFill/>
        </p:spPr>
        <p:txBody>
          <a:bodyPr wrap="square" lIns="0" rIns="0" tIns="0" bIns="0" anchor="ctr">
            <a:spAutoFit/>
          </a:bodyPr>
          <a:lstStyle/>
          <a:p>
            <a:pPr algn="l"/>
            <a:r>
              <a:rPr sz="2600" b="1">
                <a:solidFill>
                  <a:srgbClr val="FFFFFF"/>
                </a:solidFill>
                <a:latin typeface="Segoe UI Semibold"/>
                <a:cs typeface="Nirmala UI"/>
              </a:rPr>
              <a:t>Prototype </a:t>
            </a:r>
            <a:r>
              <a:rPr sz="2600" b="1">
                <a:solidFill>
                  <a:srgbClr val="2EC4F1"/>
                </a:solidFill>
                <a:latin typeface="Segoe UI Semibold"/>
                <a:cs typeface="Nirmala UI"/>
              </a:rPr>
              <a:t>Link</a:t>
            </a:r>
          </a:p>
          <a:p>
            <a:pPr algn="l"/>
            <a:r>
              <a:rPr sz="1200" b="0">
                <a:solidFill>
                  <a:srgbClr val="B8C7D6"/>
                </a:solidFill>
                <a:latin typeface="Segoe UI"/>
                <a:cs typeface="Nirmala UI"/>
              </a:rPr>
              <a:t>live, tested, open on any phone</a:t>
            </a:r>
          </a:p>
        </p:txBody>
      </p:sp>
      <p:sp>
        <p:nvSpPr>
          <p:cNvPr id="46" name="Rounded Rectangle 45"/>
          <p:cNvSpPr/>
          <p:nvPr/>
        </p:nvSpPr>
        <p:spPr>
          <a:xfrm>
            <a:off x="7589520" y="7543800"/>
            <a:ext cx="6949440" cy="1005840"/>
          </a:xfrm>
          <a:prstGeom prst="roundRect">
            <a:avLst>
              <a:gd name="adj" fmla="val 12000"/>
            </a:avLst>
          </a:prstGeom>
          <a:noFill/>
          <a:ln w="15875">
            <a:solidFill>
              <a:srgbClr val="2EC4F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a:hlinkClick r:id="rId10"/>
          </p:cNvPr>
          <p:cNvSpPr txBox="1"/>
          <p:nvPr/>
        </p:nvSpPr>
        <p:spPr>
          <a:xfrm>
            <a:off x="7818120" y="7571231"/>
            <a:ext cx="6583680" cy="960120"/>
          </a:xfrm>
          <a:prstGeom prst="rect">
            <a:avLst/>
          </a:prstGeom>
          <a:noFill/>
        </p:spPr>
        <p:txBody>
          <a:bodyPr wrap="square" lIns="0" rIns="0" tIns="0" bIns="0" anchor="ctr">
            <a:spAutoFit/>
          </a:bodyPr>
          <a:lstStyle/>
          <a:p>
            <a:pPr algn="l"/>
            <a:r>
              <a:rPr sz="2000" b="1">
                <a:solidFill>
                  <a:srgbClr val="2EC4F1"/>
                </a:solidFill>
                <a:latin typeface="Segoe UI Semibold"/>
                <a:cs typeface="Nirmala UI"/>
              </a:rPr>
              <a:t>vaachak-zeta.vercel.app</a:t>
            </a:r>
          </a:p>
          <a:p>
            <a:pPr algn="l"/>
            <a:r>
              <a:rPr sz="1150" b="0">
                <a:solidFill>
                  <a:srgbClr val="B8C7D6"/>
                </a:solidFill>
                <a:latin typeface="Segoe UI"/>
                <a:cs typeface="Nirmala UI"/>
              </a:rPr>
              <a:t>Tap a sample (works offline) · tap ? for a spoken tour · paste a scam SMS</a:t>
            </a:r>
          </a:p>
        </p:txBody>
      </p:sp>
      <p:sp>
        <p:nvSpPr>
          <p:cNvPr id="48" name="Rounded Rectangle 47"/>
          <p:cNvSpPr/>
          <p:nvPr/>
        </p:nvSpPr>
        <p:spPr>
          <a:xfrm>
            <a:off x="14859000" y="7360920"/>
            <a:ext cx="1417320" cy="1417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qr.png">
            <a:hlinkClick r:id="rId10"/>
          </p:cNvPr>
          <p:cNvPicPr>
            <a:picLocks noChangeAspect="1"/>
          </p:cNvPicPr>
          <p:nvPr/>
        </p:nvPicPr>
        <p:blipFill>
          <a:blip r:embed="rId11"/>
          <a:stretch>
            <a:fillRect/>
          </a:stretch>
        </p:blipFill>
        <p:spPr>
          <a:xfrm>
            <a:off x="14904720" y="7406640"/>
            <a:ext cx="1325880" cy="132588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17497"/>
            <a:ext cx="18288000" cy="9978390"/>
            <a:chOff x="0" y="0"/>
            <a:chExt cx="24384000" cy="13304520"/>
          </a:xfrm>
        </p:grpSpPr>
        <p:sp>
          <p:nvSpPr>
            <p:cNvPr name="Freeform 3" id="3"/>
            <p:cNvSpPr/>
            <p:nvPr/>
          </p:nvSpPr>
          <p:spPr>
            <a:xfrm flipH="false" flipV="false" rot="0">
              <a:off x="0" y="0"/>
              <a:ext cx="24384000" cy="13304520"/>
            </a:xfrm>
            <a:custGeom>
              <a:avLst/>
              <a:gdLst/>
              <a:ahLst/>
              <a:cxnLst/>
              <a:rect r="r" b="b" t="t" l="l"/>
              <a:pathLst>
                <a:path h="13304520" w="24384000">
                  <a:moveTo>
                    <a:pt x="0" y="0"/>
                  </a:moveTo>
                  <a:lnTo>
                    <a:pt x="24384000" y="0"/>
                  </a:lnTo>
                  <a:lnTo>
                    <a:pt x="24384000" y="13304520"/>
                  </a:lnTo>
                  <a:lnTo>
                    <a:pt x="0" y="13304520"/>
                  </a:lnTo>
                  <a:lnTo>
                    <a:pt x="0" y="0"/>
                  </a:lnTo>
                  <a:close/>
                </a:path>
              </a:pathLst>
            </a:custGeom>
            <a:blipFill>
              <a:blip r:embed="rId2"/>
              <a:stretch>
                <a:fillRect l="0" t="-84536" r="-3713" b="-84536"/>
              </a:stretch>
            </a:blipFill>
          </p:spPr>
        </p:sp>
      </p:grpSp>
      <p:sp>
        <p:nvSpPr>
          <p:cNvPr name="TextBox 4" id="4"/>
          <p:cNvSpPr txBox="true"/>
          <p:nvPr/>
        </p:nvSpPr>
        <p:spPr>
          <a:xfrm rot="0">
            <a:off x="3174945" y="4058200"/>
            <a:ext cx="10829040" cy="3446084"/>
          </a:xfrm>
          <a:prstGeom prst="rect">
            <a:avLst/>
          </a:prstGeom>
        </p:spPr>
        <p:txBody>
          <a:bodyPr anchor="t" rtlCol="false" tIns="0" lIns="0" bIns="0" rIns="0">
            <a:spAutoFit/>
          </a:bodyPr>
          <a:lstStyle/>
          <a:p>
            <a:pPr algn="ctr">
              <a:lnSpc>
                <a:spcPts val="28448"/>
              </a:lnSpc>
            </a:pPr>
            <a:r>
              <a:rPr lang="en-US" sz="19756">
                <a:solidFill>
                  <a:srgbClr val="8CB3E3"/>
                </a:solidFill>
                <a:latin typeface="Lobster"/>
                <a:ea typeface="Lobster"/>
                <a:cs typeface="Lobster"/>
                <a:sym typeface="Lobster"/>
              </a:rPr>
              <a:t>Thank You</a:t>
            </a:r>
          </a:p>
        </p:txBody>
      </p:sp>
      <p:sp>
        <p:nvSpPr>
          <p:cNvPr name="Freeform 5" id="5"/>
          <p:cNvSpPr/>
          <p:nvPr/>
        </p:nvSpPr>
        <p:spPr>
          <a:xfrm flipH="false" flipV="false" rot="0">
            <a:off x="151330" y="1331330"/>
            <a:ext cx="1369119" cy="1472232"/>
          </a:xfrm>
          <a:custGeom>
            <a:avLst/>
            <a:gdLst/>
            <a:ahLst/>
            <a:cxnLst/>
            <a:rect r="r" b="b" t="t" l="l"/>
            <a:pathLst>
              <a:path h="1472232" w="1369119">
                <a:moveTo>
                  <a:pt x="0" y="0"/>
                </a:moveTo>
                <a:lnTo>
                  <a:pt x="1369118" y="0"/>
                </a:lnTo>
                <a:lnTo>
                  <a:pt x="1369118" y="1472232"/>
                </a:lnTo>
                <a:lnTo>
                  <a:pt x="0" y="1472232"/>
                </a:lnTo>
                <a:lnTo>
                  <a:pt x="0" y="0"/>
                </a:lnTo>
                <a:close/>
              </a:path>
            </a:pathLst>
          </a:custGeom>
          <a:blipFill>
            <a:blip r:embed="rId3"/>
            <a:stretch>
              <a:fillRect l="0" t="0" r="0" b="0"/>
            </a:stretch>
          </a:blipFill>
        </p:spPr>
      </p:sp>
      <p:sp>
        <p:nvSpPr>
          <p:cNvPr name="Freeform 6" id="6"/>
          <p:cNvSpPr/>
          <p:nvPr/>
        </p:nvSpPr>
        <p:spPr>
          <a:xfrm flipH="false" flipV="false" rot="0">
            <a:off x="3445594" y="1343972"/>
            <a:ext cx="1729895" cy="1397301"/>
          </a:xfrm>
          <a:custGeom>
            <a:avLst/>
            <a:gdLst/>
            <a:ahLst/>
            <a:cxnLst/>
            <a:rect r="r" b="b" t="t" l="l"/>
            <a:pathLst>
              <a:path h="1397301" w="1729895">
                <a:moveTo>
                  <a:pt x="0" y="0"/>
                </a:moveTo>
                <a:lnTo>
                  <a:pt x="1729896" y="0"/>
                </a:lnTo>
                <a:lnTo>
                  <a:pt x="1729896" y="1397301"/>
                </a:lnTo>
                <a:lnTo>
                  <a:pt x="0" y="1397301"/>
                </a:lnTo>
                <a:lnTo>
                  <a:pt x="0" y="0"/>
                </a:lnTo>
                <a:close/>
              </a:path>
            </a:pathLst>
          </a:custGeom>
          <a:blipFill>
            <a:blip r:embed="rId4"/>
            <a:stretch>
              <a:fillRect l="0" t="-5420" r="0" b="-18382"/>
            </a:stretch>
          </a:blipFill>
        </p:spPr>
      </p:sp>
      <p:sp>
        <p:nvSpPr>
          <p:cNvPr name="Freeform 7" id="7"/>
          <p:cNvSpPr/>
          <p:nvPr/>
        </p:nvSpPr>
        <p:spPr>
          <a:xfrm flipH="false" flipV="false" rot="0">
            <a:off x="5267568" y="1377129"/>
            <a:ext cx="1916697" cy="1264093"/>
          </a:xfrm>
          <a:custGeom>
            <a:avLst/>
            <a:gdLst/>
            <a:ahLst/>
            <a:cxnLst/>
            <a:rect r="r" b="b" t="t" l="l"/>
            <a:pathLst>
              <a:path h="1264093" w="1916697">
                <a:moveTo>
                  <a:pt x="0" y="0"/>
                </a:moveTo>
                <a:lnTo>
                  <a:pt x="1916697" y="0"/>
                </a:lnTo>
                <a:lnTo>
                  <a:pt x="1916697" y="1264094"/>
                </a:lnTo>
                <a:lnTo>
                  <a:pt x="0" y="1264094"/>
                </a:lnTo>
                <a:lnTo>
                  <a:pt x="0" y="0"/>
                </a:lnTo>
                <a:close/>
              </a:path>
            </a:pathLst>
          </a:custGeom>
          <a:blipFill>
            <a:blip r:embed="rId5"/>
            <a:stretch>
              <a:fillRect l="0" t="0" r="0" b="-4874"/>
            </a:stretch>
          </a:blipFill>
        </p:spPr>
      </p:sp>
      <p:sp>
        <p:nvSpPr>
          <p:cNvPr name="Freeform 8" id="8"/>
          <p:cNvSpPr/>
          <p:nvPr/>
        </p:nvSpPr>
        <p:spPr>
          <a:xfrm flipH="false" flipV="false" rot="0">
            <a:off x="1612874" y="1331330"/>
            <a:ext cx="1740642" cy="1355692"/>
          </a:xfrm>
          <a:custGeom>
            <a:avLst/>
            <a:gdLst/>
            <a:ahLst/>
            <a:cxnLst/>
            <a:rect r="r" b="b" t="t" l="l"/>
            <a:pathLst>
              <a:path h="1355692" w="1740642">
                <a:moveTo>
                  <a:pt x="0" y="0"/>
                </a:moveTo>
                <a:lnTo>
                  <a:pt x="1740642" y="0"/>
                </a:lnTo>
                <a:lnTo>
                  <a:pt x="1740642" y="1355692"/>
                </a:lnTo>
                <a:lnTo>
                  <a:pt x="0" y="1355692"/>
                </a:lnTo>
                <a:lnTo>
                  <a:pt x="0" y="0"/>
                </a:lnTo>
                <a:close/>
              </a:path>
            </a:pathLst>
          </a:custGeom>
          <a:blipFill>
            <a:blip r:embed="rId6"/>
            <a:stretch>
              <a:fillRect l="0" t="0" r="0" b="0"/>
            </a:stretch>
          </a:blipFill>
        </p:spPr>
      </p:sp>
      <p:grpSp>
        <p:nvGrpSpPr>
          <p:cNvPr name="Group 9" id="9"/>
          <p:cNvGrpSpPr/>
          <p:nvPr/>
        </p:nvGrpSpPr>
        <p:grpSpPr>
          <a:xfrm rot="0">
            <a:off x="7276344" y="1469966"/>
            <a:ext cx="2626242" cy="1136971"/>
            <a:chOff x="0" y="0"/>
            <a:chExt cx="532452" cy="230513"/>
          </a:xfrm>
        </p:grpSpPr>
        <p:sp>
          <p:nvSpPr>
            <p:cNvPr name="Freeform 10" id="10"/>
            <p:cNvSpPr/>
            <p:nvPr/>
          </p:nvSpPr>
          <p:spPr>
            <a:xfrm flipH="false" flipV="false" rot="0">
              <a:off x="0" y="0"/>
              <a:ext cx="532452" cy="230513"/>
            </a:xfrm>
            <a:custGeom>
              <a:avLst/>
              <a:gdLst/>
              <a:ahLst/>
              <a:cxnLst/>
              <a:rect r="r" b="b" t="t" l="l"/>
              <a:pathLst>
                <a:path h="230513" w="532452">
                  <a:moveTo>
                    <a:pt x="0" y="0"/>
                  </a:moveTo>
                  <a:lnTo>
                    <a:pt x="532452" y="0"/>
                  </a:lnTo>
                  <a:lnTo>
                    <a:pt x="532452" y="230513"/>
                  </a:lnTo>
                  <a:lnTo>
                    <a:pt x="0" y="230513"/>
                  </a:lnTo>
                  <a:close/>
                </a:path>
              </a:pathLst>
            </a:custGeom>
            <a:solidFill>
              <a:srgbClr val="FFFFFF"/>
            </a:solidFill>
          </p:spPr>
        </p:sp>
        <p:sp>
          <p:nvSpPr>
            <p:cNvPr name="TextBox 11" id="11"/>
            <p:cNvSpPr txBox="true"/>
            <p:nvPr/>
          </p:nvSpPr>
          <p:spPr>
            <a:xfrm>
              <a:off x="0" y="38100"/>
              <a:ext cx="532452" cy="192413"/>
            </a:xfrm>
            <a:prstGeom prst="rect">
              <a:avLst/>
            </a:prstGeom>
          </p:spPr>
          <p:txBody>
            <a:bodyPr anchor="ctr" rtlCol="false" tIns="71271" lIns="71271" bIns="71271" rIns="71271"/>
            <a:lstStyle/>
            <a:p>
              <a:pPr algn="ctr">
                <a:lnSpc>
                  <a:spcPts val="2000"/>
                </a:lnSpc>
              </a:pPr>
            </a:p>
          </p:txBody>
        </p:sp>
      </p:grpSp>
      <p:sp>
        <p:nvSpPr>
          <p:cNvPr name="Freeform 12" id="12"/>
          <p:cNvSpPr/>
          <p:nvPr/>
        </p:nvSpPr>
        <p:spPr>
          <a:xfrm flipH="false" flipV="false" rot="0">
            <a:off x="7304312" y="952500"/>
            <a:ext cx="2452815" cy="2026354"/>
          </a:xfrm>
          <a:custGeom>
            <a:avLst/>
            <a:gdLst/>
            <a:ahLst/>
            <a:cxnLst/>
            <a:rect r="r" b="b" t="t" l="l"/>
            <a:pathLst>
              <a:path h="2026354" w="2452815">
                <a:moveTo>
                  <a:pt x="0" y="0"/>
                </a:moveTo>
                <a:lnTo>
                  <a:pt x="2452815" y="0"/>
                </a:lnTo>
                <a:lnTo>
                  <a:pt x="2452815" y="2026354"/>
                </a:lnTo>
                <a:lnTo>
                  <a:pt x="0" y="2026354"/>
                </a:lnTo>
                <a:lnTo>
                  <a:pt x="0" y="0"/>
                </a:lnTo>
                <a:close/>
              </a:path>
            </a:pathLst>
          </a:custGeom>
          <a:blipFill>
            <a:blip r:embed="rId7"/>
            <a:stretch>
              <a:fillRect l="0" t="-10522" r="0" b="-10522"/>
            </a:stretch>
          </a:blipFill>
        </p:spPr>
      </p:sp>
      <p:sp>
        <p:nvSpPr>
          <p:cNvPr name="Freeform 13" id="13"/>
          <p:cNvSpPr/>
          <p:nvPr/>
        </p:nvSpPr>
        <p:spPr>
          <a:xfrm flipH="false" flipV="false" rot="0">
            <a:off x="11509328" y="1377129"/>
            <a:ext cx="2287542" cy="1143771"/>
          </a:xfrm>
          <a:custGeom>
            <a:avLst/>
            <a:gdLst/>
            <a:ahLst/>
            <a:cxnLst/>
            <a:rect r="r" b="b" t="t" l="l"/>
            <a:pathLst>
              <a:path h="1143771" w="2287542">
                <a:moveTo>
                  <a:pt x="0" y="0"/>
                </a:moveTo>
                <a:lnTo>
                  <a:pt x="2287542" y="0"/>
                </a:lnTo>
                <a:lnTo>
                  <a:pt x="2287542" y="1143771"/>
                </a:lnTo>
                <a:lnTo>
                  <a:pt x="0" y="1143771"/>
                </a:lnTo>
                <a:lnTo>
                  <a:pt x="0" y="0"/>
                </a:lnTo>
                <a:close/>
              </a:path>
            </a:pathLst>
          </a:custGeom>
          <a:blipFill>
            <a:blip r:embed="rId8"/>
            <a:stretch>
              <a:fillRect l="0" t="0" r="0" b="0"/>
            </a:stretch>
          </a:blipFill>
        </p:spPr>
      </p:sp>
      <p:sp>
        <p:nvSpPr>
          <p:cNvPr name="Freeform 14" id="14"/>
          <p:cNvSpPr/>
          <p:nvPr/>
        </p:nvSpPr>
        <p:spPr>
          <a:xfrm flipH="false" flipV="false" rot="0">
            <a:off x="9994664" y="1377129"/>
            <a:ext cx="1422585" cy="1422585"/>
          </a:xfrm>
          <a:custGeom>
            <a:avLst/>
            <a:gdLst/>
            <a:ahLst/>
            <a:cxnLst/>
            <a:rect r="r" b="b" t="t" l="l"/>
            <a:pathLst>
              <a:path h="1422585" w="1422585">
                <a:moveTo>
                  <a:pt x="0" y="0"/>
                </a:moveTo>
                <a:lnTo>
                  <a:pt x="1422586" y="0"/>
                </a:lnTo>
                <a:lnTo>
                  <a:pt x="1422586" y="1422585"/>
                </a:lnTo>
                <a:lnTo>
                  <a:pt x="0" y="1422585"/>
                </a:lnTo>
                <a:lnTo>
                  <a:pt x="0" y="0"/>
                </a:lnTo>
                <a:close/>
              </a:path>
            </a:pathLst>
          </a:custGeom>
          <a:blipFill>
            <a:blip r:embed="rId9"/>
            <a:stretch>
              <a:fillRect l="0" t="0" r="0" b="0"/>
            </a:stretch>
          </a:blipFill>
        </p:spPr>
      </p:sp>
      <p:sp>
        <p:nvSpPr>
          <p:cNvPr name="Freeform 15" id="15"/>
          <p:cNvSpPr/>
          <p:nvPr/>
        </p:nvSpPr>
        <p:spPr>
          <a:xfrm flipH="false" flipV="false" rot="0">
            <a:off x="13888949" y="1277602"/>
            <a:ext cx="1995824" cy="1315129"/>
          </a:xfrm>
          <a:custGeom>
            <a:avLst/>
            <a:gdLst/>
            <a:ahLst/>
            <a:cxnLst/>
            <a:rect r="r" b="b" t="t" l="l"/>
            <a:pathLst>
              <a:path h="1315129" w="1995824">
                <a:moveTo>
                  <a:pt x="0" y="0"/>
                </a:moveTo>
                <a:lnTo>
                  <a:pt x="1995824" y="0"/>
                </a:lnTo>
                <a:lnTo>
                  <a:pt x="1995824" y="1315129"/>
                </a:lnTo>
                <a:lnTo>
                  <a:pt x="0" y="1315129"/>
                </a:lnTo>
                <a:lnTo>
                  <a:pt x="0" y="0"/>
                </a:lnTo>
                <a:close/>
              </a:path>
            </a:pathLst>
          </a:custGeom>
          <a:blipFill>
            <a:blip r:embed="rId10"/>
            <a:stretch>
              <a:fillRect l="0" t="0" r="0" b="0"/>
            </a:stretch>
          </a:blipFill>
        </p:spPr>
      </p:sp>
      <p:sp>
        <p:nvSpPr>
          <p:cNvPr name="Freeform 16" id="16"/>
          <p:cNvSpPr/>
          <p:nvPr/>
        </p:nvSpPr>
        <p:spPr>
          <a:xfrm flipH="false" flipV="false" rot="0">
            <a:off x="15976851" y="1258923"/>
            <a:ext cx="2005020" cy="1333808"/>
          </a:xfrm>
          <a:custGeom>
            <a:avLst/>
            <a:gdLst/>
            <a:ahLst/>
            <a:cxnLst/>
            <a:rect r="r" b="b" t="t" l="l"/>
            <a:pathLst>
              <a:path h="1333808" w="2005020">
                <a:moveTo>
                  <a:pt x="0" y="0"/>
                </a:moveTo>
                <a:lnTo>
                  <a:pt x="2005021" y="0"/>
                </a:lnTo>
                <a:lnTo>
                  <a:pt x="2005021" y="1333808"/>
                </a:lnTo>
                <a:lnTo>
                  <a:pt x="0" y="1333808"/>
                </a:lnTo>
                <a:lnTo>
                  <a:pt x="0" y="0"/>
                </a:lnTo>
                <a:close/>
              </a:path>
            </a:pathLst>
          </a:custGeom>
          <a:blipFill>
            <a:blip r:embed="rId11"/>
            <a:stretch>
              <a:fillRect l="0" t="-53008" r="0" b="-72475"/>
            </a:stretch>
          </a:blipFill>
        </p:spPr>
      </p:sp>
      <p:sp>
        <p:nvSpPr>
          <p:cNvPr id="17" name="TextBox 16"/>
          <p:cNvSpPr txBox="1"/>
          <p:nvPr/>
        </p:nvSpPr>
        <p:spPr>
          <a:xfrm>
            <a:off x="2743200" y="7726679"/>
            <a:ext cx="12801600" cy="457200"/>
          </a:xfrm>
          <a:prstGeom prst="rect">
            <a:avLst/>
          </a:prstGeom>
          <a:noFill/>
        </p:spPr>
        <p:txBody>
          <a:bodyPr wrap="square" lIns="0" rIns="0" tIns="0" bIns="0" anchor="t">
            <a:spAutoFit/>
          </a:bodyPr>
          <a:lstStyle/>
          <a:p>
            <a:pPr algn="ctr"/>
            <a:r>
              <a:rPr sz="2000" b="1">
                <a:solidFill>
                  <a:srgbClr val="B8C7D6"/>
                </a:solidFill>
                <a:latin typeface="Segoe UI Semibold"/>
                <a:cs typeface="Nirmala UI"/>
              </a:rPr>
              <a:t>Gemini answers questions. </a:t>
            </a:r>
            <a:r>
              <a:rPr sz="2000" b="1">
                <a:solidFill>
                  <a:srgbClr val="2EC4F1"/>
                </a:solidFill>
                <a:latin typeface="Segoe UI Semibold"/>
                <a:cs typeface="Nirmala UI"/>
              </a:rPr>
              <a:t>Vaachak never needs one.</a:t>
            </a:r>
          </a:p>
        </p:txBody>
      </p:sp>
      <p:sp>
        <p:nvSpPr>
          <p:cNvPr id="18" name="TextBox 17">
            <a:hlinkClick r:id="rId12"/>
          </p:cNvPr>
          <p:cNvSpPr txBox="1"/>
          <p:nvPr/>
        </p:nvSpPr>
        <p:spPr>
          <a:xfrm>
            <a:off x="2743200" y="8275320"/>
            <a:ext cx="12801600" cy="365760"/>
          </a:xfrm>
          <a:prstGeom prst="rect">
            <a:avLst/>
          </a:prstGeom>
          <a:noFill/>
        </p:spPr>
        <p:txBody>
          <a:bodyPr wrap="square" lIns="0" rIns="0" tIns="0" bIns="0" anchor="t">
            <a:spAutoFit/>
          </a:bodyPr>
          <a:lstStyle/>
          <a:p>
            <a:pPr algn="ctr"/>
            <a:r>
              <a:rPr sz="1400" b="0">
                <a:solidFill>
                  <a:srgbClr val="7F93A8"/>
                </a:solidFill>
                <a:latin typeface="Segoe UI"/>
                <a:cs typeface="Nirmala UI"/>
              </a:rPr>
              <a:t>Team Vaachak  ·  vaachak-zeta.vercel.app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DAHXQHYOtDM</dc:identifier>
  <dcterms:modified xsi:type="dcterms:W3CDTF">2011-08-01T06:04:30Z</dcterms:modified>
  <cp:revision>1</cp:revision>
  <dc:title>THINK AI 4.0</dc:title>
</cp:coreProperties>
</file>