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2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3" r:id="rId15"/>
    <p:sldId id="260" r:id="rId10"/>
    <p:sldId id="261" r:id="rId11"/>
    <p:sldId id="262" r:id="rId12"/>
  </p:sldIdLst>
  <p:sldSz cx="18288000" cy="10287000"/>
  <p:notesSz cx="6858000" cy="9144000"/>
  <p:embeddedFontLst>
    <p:embeddedFont>
      <p:font typeface="Lobster" charset="1" panose="00000500000000000000"/>
      <p:regular r:id="rId13"/>
    </p:embeddedFont>
    <p:embeddedFont>
      <p:font typeface="Arial" charset="1" panose="020B0604020202020204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font" Target="fonts/font13.fntdata"/><Relationship Id="rId14" Type="http://schemas.openxmlformats.org/officeDocument/2006/relationships/font" Target="fonts/font14.fntdata"/><Relationship Id="rId15" Type="http://schemas.openxmlformats.org/officeDocument/2006/relationships/slide" Target="slides/slide5.xml"/><Relationship Id="rId16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NIMISHA: Good morning. We are Team Vaachak, problem statement 10, the AI-powered accessibility assistant. Vaachak means 'the reader': it reads any bill, medicine strip or message and tells an elderly person, in their own language, exactly what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NIMISHA: Anvesh built the backend: the Gemini pipeline and the rule engine that checks every answer. Maulik designed the large, high-contrast interface for weak eyes. Jiya and I researched the problem, tested with elderly users, and will run the live demo. (To add photos: right-click a circle &gt; Format Shape &gt; Fill &gt; Picture.)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NIMISHA: Meet Prakash-kaka, 68, from Thane. Cataract, reads only Marathi. Bills, medicine strips and bank SMSes arrive while his children are at work. He is one of 149 million Indians over 60; two in three elderly women cannot read; and fraudsters target exactly them, over 22 thousand crore lost last year. Existing tools read the text aloud. Nobody tells him what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NIMISHA: Vaachak works in four steps. Any paper: a photo, a screenshot or PDF, a link or a pasted message. AI reads it into five answers: what it is, what to do, by when, how much and the danger. Then a rule engine with no AI checks the amount and date against the printed text, scores scam signals and checks expiry. Finally it speaks in an Indian voice and gives one-tap actions: pay, remind, call 1930 on a scam, or ask family. And when it is not sure, it says so. Over to Jiya for the live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JIYA: This is the live app, not a mock-up; scan the QR and try it. A fake 'power will be cut tonight' SMS becomes a red scam card with reasons in Marathi and one tap to call 1930. An MSEDCL bill becomes 'pay 840 rupees by 10 October', both checked against the print. A three-medicine prescription gets one schedule per medicine, and the home screen remembers what is due. On the live app a photo becomes a spoken card in about 3 seconds, and a spoken question is answered in about 1 second. LIVE DEMO: point the camera at a bill and let the judges hear the 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JIYA (Anvesh takes technical questions): AI reads, rules decide. Gemini turns the document into a structured card; two models start together and the fastest answer wins, so the free tier's slow moments don't make the elder wait. Then a rule engine with no AI checks the amount and date against the printed text, scores scam signals and checks expiry. The same rules and an on-phone OCR run in the browser, so it works offline. Sarvam's Indian voice speaks the card, and every action is one tap.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JIYA: Four things make Vaachak different: it acts instead of just reading, it never guesses, it knows Indian scams, and it works offline in your own language. Today it is live in three languages. Next: 22 Indian languages and a WhatsApp bot, then family alerts and verified BBPS payments, and finally a fully offline model. Back to Nimisha.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NIMISHA: Gemini answers questions. Vaachak never needs one, because Prakash-kaka should not have to know what to ask. Thank you; we are happy to take your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jpeg"/><Relationship Id="rId5" Type="http://schemas.openxmlformats.org/officeDocument/2006/relationships/image" Target="../media/image4.jpeg"/><Relationship Id="rId6" Type="http://schemas.openxmlformats.org/officeDocument/2006/relationships/image" Target="../media/image5.jpe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jpeg"/><Relationship Id="rId11" Type="http://schemas.openxmlformats.org/officeDocument/2006/relationships/image" Target="../media/image10.png"/><Relationship Id="rId12" Type="http://schemas.openxmlformats.org/officeDocument/2006/relationships/hyperlink" Target="https://vaachak-zeta.vercel.app" TargetMode="External"/><Relationship Id="rId1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12.sv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vaachak-zeta.vercel.app/?sample=scam-sms" TargetMode="External"/><Relationship Id="rId4" Type="http://schemas.openxmlformats.org/officeDocument/2006/relationships/image" Target="../media/image17.png"/><Relationship Id="rId5" Type="http://schemas.openxmlformats.org/officeDocument/2006/relationships/hyperlink" Target="https://vaachak-zeta.vercel.app/?sample=electricity-bill" TargetMode="External"/><Relationship Id="rId6" Type="http://schemas.openxmlformats.org/officeDocument/2006/relationships/image" Target="../media/image18.png"/><Relationship Id="rId7" Type="http://schemas.openxmlformats.org/officeDocument/2006/relationships/hyperlink" Target="https://vaachak-zeta.vercel.app/?sample=prescription" TargetMode="External"/><Relationship Id="rId8" Type="http://schemas.openxmlformats.org/officeDocument/2006/relationships/image" Target="../media/image19.png"/><Relationship Id="rId9" Type="http://schemas.openxmlformats.org/officeDocument/2006/relationships/hyperlink" Target="https://vaachak-zeta.vercel.app" TargetMode="External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Relationship Id="rId9" Type="http://schemas.openxmlformats.org/officeDocument/2006/relationships/image" Target="../media/image28.png"/><Relationship Id="rId10" Type="http://schemas.openxmlformats.org/officeDocument/2006/relationships/image" Target="../media/image29.png"/><Relationship Id="rId11" Type="http://schemas.openxmlformats.org/officeDocument/2006/relationships/image" Target="../media/image30.png"/><Relationship Id="rId12" Type="http://schemas.openxmlformats.org/officeDocument/2006/relationships/image" Target="../media/image31.png"/><Relationship Id="rId13" Type="http://schemas.openxmlformats.org/officeDocument/2006/relationships/image" Target="../media/image32.png"/><Relationship Id="rId14" Type="http://schemas.openxmlformats.org/officeDocument/2006/relationships/image" Target="../media/image33.png"/><Relationship Id="rId15" Type="http://schemas.openxmlformats.org/officeDocument/2006/relationships/image" Target="../media/image34.png"/><Relationship Id="rId1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hyperlink" Target="https://github.com/anveshchafle-cmd/vaachak" TargetMode="External"/><Relationship Id="rId8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jpeg"/><Relationship Id="rId5" Type="http://schemas.openxmlformats.org/officeDocument/2006/relationships/image" Target="../media/image4.jpeg"/><Relationship Id="rId6" Type="http://schemas.openxmlformats.org/officeDocument/2006/relationships/image" Target="../media/image5.jpe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jpeg"/><Relationship Id="rId11" Type="http://schemas.openxmlformats.org/officeDocument/2006/relationships/image" Target="../media/image10.png"/><Relationship Id="rId12" Type="http://schemas.openxmlformats.org/officeDocument/2006/relationships/hyperlink" Target="https://github.com/anveshchafle-cmd/vaachak" TargetMode="External"/><Relationship Id="rId13" Type="http://schemas.openxmlformats.org/officeDocument/2006/relationships/notesSlide" Target="../notesSlides/notesSlide8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317497"/>
            <a:ext cx="18288000" cy="9978390"/>
            <a:chOff x="0" y="0"/>
            <a:chExt cx="24384000" cy="133045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304520"/>
            </a:xfrm>
            <a:custGeom>
              <a:avLst/>
              <a:gdLst/>
              <a:ahLst/>
              <a:cxnLst/>
              <a:rect r="r" b="b" t="t" l="l"/>
              <a:pathLst>
                <a:path h="1330452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304520"/>
                  </a:lnTo>
                  <a:lnTo>
                    <a:pt x="0" y="133045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84536" r="-3713" b="-84536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-898127" y="7942117"/>
            <a:ext cx="20084101" cy="1188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05"/>
              </a:lnSpc>
            </a:pPr>
            <a:r>
              <a:rPr lang="en-US" sz="6671">
                <a:solidFill>
                  <a:srgbClr val="D9D5D5"/>
                </a:solidFill>
                <a:latin typeface="Lobster"/>
                <a:ea typeface="Lobster"/>
                <a:cs typeface="Lobster"/>
                <a:sym typeface="Lobster"/>
              </a:rPr>
              <a:t>Team Name: Team Vaachak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914400" y="6830720"/>
            <a:ext cx="16459200" cy="1055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38"/>
              </a:lnSpc>
            </a:pPr>
            <a:r>
              <a:rPr lang="en-US" sz="5999">
                <a:solidFill>
                  <a:srgbClr val="D9D5D5"/>
                </a:solidFill>
                <a:latin typeface="Lobster"/>
                <a:ea typeface="Lobster"/>
                <a:cs typeface="Lobster"/>
                <a:sym typeface="Lobster"/>
              </a:rPr>
              <a:t>PS 10:  AI-Powered Accessibility Assistant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648951" y="3385784"/>
            <a:ext cx="10989945" cy="26099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599"/>
              </a:lnSpc>
            </a:pPr>
            <a:r>
              <a:rPr lang="en-US" sz="15000">
                <a:solidFill>
                  <a:srgbClr val="8CB3E3"/>
                </a:solidFill>
                <a:latin typeface="Lobster"/>
                <a:ea typeface="Lobster"/>
                <a:cs typeface="Lobster"/>
                <a:sym typeface="Lobster"/>
              </a:rPr>
              <a:t>THINK AI  4.0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51330" y="1331330"/>
            <a:ext cx="1369119" cy="1472232"/>
          </a:xfrm>
          <a:custGeom>
            <a:avLst/>
            <a:gdLst/>
            <a:ahLst/>
            <a:cxnLst/>
            <a:rect r="r" b="b" t="t" l="l"/>
            <a:pathLst>
              <a:path h="1472232" w="1369119">
                <a:moveTo>
                  <a:pt x="0" y="0"/>
                </a:moveTo>
                <a:lnTo>
                  <a:pt x="1369118" y="0"/>
                </a:lnTo>
                <a:lnTo>
                  <a:pt x="1369118" y="1472232"/>
                </a:lnTo>
                <a:lnTo>
                  <a:pt x="0" y="14722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0">
            <a:off x="3445594" y="1343972"/>
            <a:ext cx="1729895" cy="1397301"/>
          </a:xfrm>
          <a:custGeom>
            <a:avLst/>
            <a:gdLst/>
            <a:ahLst/>
            <a:cxnLst/>
            <a:rect r="r" b="b" t="t" l="l"/>
            <a:pathLst>
              <a:path h="1397301" w="1729895">
                <a:moveTo>
                  <a:pt x="0" y="0"/>
                </a:moveTo>
                <a:lnTo>
                  <a:pt x="1729896" y="0"/>
                </a:lnTo>
                <a:lnTo>
                  <a:pt x="1729896" y="1397301"/>
                </a:lnTo>
                <a:lnTo>
                  <a:pt x="0" y="139730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5420" r="0" b="-18382"/>
            </a:stretch>
          </a:blipFill>
        </p:spPr>
        <p:txBody>
          <a:bodyPr/>
          <a:p/>
        </p:txBody>
      </p:sp>
      <p:sp>
        <p:nvSpPr>
          <p:cNvPr name="Freeform 9" id="9"/>
          <p:cNvSpPr/>
          <p:nvPr/>
        </p:nvSpPr>
        <p:spPr>
          <a:xfrm flipH="false" flipV="false" rot="0">
            <a:off x="5267568" y="1377129"/>
            <a:ext cx="1916697" cy="1264093"/>
          </a:xfrm>
          <a:custGeom>
            <a:avLst/>
            <a:gdLst/>
            <a:ahLst/>
            <a:cxnLst/>
            <a:rect r="r" b="b" t="t" l="l"/>
            <a:pathLst>
              <a:path h="1264093" w="1916697">
                <a:moveTo>
                  <a:pt x="0" y="0"/>
                </a:moveTo>
                <a:lnTo>
                  <a:pt x="1916697" y="0"/>
                </a:lnTo>
                <a:lnTo>
                  <a:pt x="1916697" y="1264094"/>
                </a:lnTo>
                <a:lnTo>
                  <a:pt x="0" y="126409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-4874"/>
            </a:stretch>
          </a:blipFill>
        </p:spPr>
        <p:txBody>
          <a:bodyPr/>
          <a:p/>
        </p:txBody>
      </p:sp>
      <p:sp>
        <p:nvSpPr>
          <p:cNvPr name="Freeform 10" id="10"/>
          <p:cNvSpPr/>
          <p:nvPr/>
        </p:nvSpPr>
        <p:spPr>
          <a:xfrm flipH="false" flipV="false" rot="0">
            <a:off x="1612874" y="1331330"/>
            <a:ext cx="1740642" cy="1355692"/>
          </a:xfrm>
          <a:custGeom>
            <a:avLst/>
            <a:gdLst/>
            <a:ahLst/>
            <a:cxnLst/>
            <a:rect r="r" b="b" t="t" l="l"/>
            <a:pathLst>
              <a:path h="1355692" w="1740642">
                <a:moveTo>
                  <a:pt x="0" y="0"/>
                </a:moveTo>
                <a:lnTo>
                  <a:pt x="1740642" y="0"/>
                </a:lnTo>
                <a:lnTo>
                  <a:pt x="1740642" y="1355692"/>
                </a:lnTo>
                <a:lnTo>
                  <a:pt x="0" y="135569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11" id="11"/>
          <p:cNvGrpSpPr/>
          <p:nvPr/>
        </p:nvGrpSpPr>
        <p:grpSpPr>
          <a:xfrm rot="0">
            <a:off x="7276344" y="1469966"/>
            <a:ext cx="2626242" cy="1136971"/>
            <a:chOff x="0" y="0"/>
            <a:chExt cx="532452" cy="230513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532452" cy="230513"/>
            </a:xfrm>
            <a:custGeom>
              <a:avLst/>
              <a:gdLst/>
              <a:ahLst/>
              <a:cxnLst/>
              <a:rect r="r" b="b" t="t" l="l"/>
              <a:pathLst>
                <a:path h="230513" w="532452">
                  <a:moveTo>
                    <a:pt x="0" y="0"/>
                  </a:moveTo>
                  <a:lnTo>
                    <a:pt x="532452" y="0"/>
                  </a:lnTo>
                  <a:lnTo>
                    <a:pt x="532452" y="230513"/>
                  </a:lnTo>
                  <a:lnTo>
                    <a:pt x="0" y="23051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38100"/>
              <a:ext cx="532452" cy="192413"/>
            </a:xfrm>
            <a:prstGeom prst="rect">
              <a:avLst/>
            </a:prstGeom>
          </p:spPr>
          <p:txBody>
            <a:bodyPr anchor="ctr" rtlCol="false" tIns="71271" lIns="71271" bIns="71271" rIns="71271"/>
            <a:lstStyle/>
            <a:p>
              <a:pPr algn="ctr">
                <a:lnSpc>
                  <a:spcPts val="2000"/>
                </a:lnSpc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7304312" y="952500"/>
            <a:ext cx="2452815" cy="2026354"/>
          </a:xfrm>
          <a:custGeom>
            <a:avLst/>
            <a:gdLst/>
            <a:ahLst/>
            <a:cxnLst/>
            <a:rect r="r" b="b" t="t" l="l"/>
            <a:pathLst>
              <a:path h="2026354" w="2452815">
                <a:moveTo>
                  <a:pt x="0" y="0"/>
                </a:moveTo>
                <a:lnTo>
                  <a:pt x="2452815" y="0"/>
                </a:lnTo>
                <a:lnTo>
                  <a:pt x="2452815" y="2026354"/>
                </a:lnTo>
                <a:lnTo>
                  <a:pt x="0" y="202635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-10522" r="0" b="-10522"/>
            </a:stretch>
          </a:blipFill>
        </p:spPr>
        <p:txBody>
          <a:bodyPr/>
          <a:p/>
        </p:txBody>
      </p:sp>
      <p:sp>
        <p:nvSpPr>
          <p:cNvPr name="Freeform 15" id="15"/>
          <p:cNvSpPr/>
          <p:nvPr/>
        </p:nvSpPr>
        <p:spPr>
          <a:xfrm flipH="false" flipV="false" rot="0">
            <a:off x="11509328" y="1377129"/>
            <a:ext cx="2287542" cy="1143771"/>
          </a:xfrm>
          <a:custGeom>
            <a:avLst/>
            <a:gdLst/>
            <a:ahLst/>
            <a:cxnLst/>
            <a:rect r="r" b="b" t="t" l="l"/>
            <a:pathLst>
              <a:path h="1143771" w="2287542">
                <a:moveTo>
                  <a:pt x="0" y="0"/>
                </a:moveTo>
                <a:lnTo>
                  <a:pt x="2287542" y="0"/>
                </a:lnTo>
                <a:lnTo>
                  <a:pt x="2287542" y="1143771"/>
                </a:lnTo>
                <a:lnTo>
                  <a:pt x="0" y="114377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6" id="16"/>
          <p:cNvSpPr/>
          <p:nvPr/>
        </p:nvSpPr>
        <p:spPr>
          <a:xfrm flipH="false" flipV="false" rot="0">
            <a:off x="9994664" y="1377129"/>
            <a:ext cx="1422585" cy="1422585"/>
          </a:xfrm>
          <a:custGeom>
            <a:avLst/>
            <a:gdLst/>
            <a:ahLst/>
            <a:cxnLst/>
            <a:rect r="r" b="b" t="t" l="l"/>
            <a:pathLst>
              <a:path h="1422585" w="1422585">
                <a:moveTo>
                  <a:pt x="0" y="0"/>
                </a:moveTo>
                <a:lnTo>
                  <a:pt x="1422586" y="0"/>
                </a:lnTo>
                <a:lnTo>
                  <a:pt x="1422586" y="1422585"/>
                </a:lnTo>
                <a:lnTo>
                  <a:pt x="0" y="142258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7" id="17"/>
          <p:cNvSpPr/>
          <p:nvPr/>
        </p:nvSpPr>
        <p:spPr>
          <a:xfrm flipH="false" flipV="false" rot="0">
            <a:off x="13888949" y="1277602"/>
            <a:ext cx="1995824" cy="1315129"/>
          </a:xfrm>
          <a:custGeom>
            <a:avLst/>
            <a:gdLst/>
            <a:ahLst/>
            <a:cxnLst/>
            <a:rect r="r" b="b" t="t" l="l"/>
            <a:pathLst>
              <a:path h="1315129" w="1995824">
                <a:moveTo>
                  <a:pt x="0" y="0"/>
                </a:moveTo>
                <a:lnTo>
                  <a:pt x="1995824" y="0"/>
                </a:lnTo>
                <a:lnTo>
                  <a:pt x="1995824" y="1315129"/>
                </a:lnTo>
                <a:lnTo>
                  <a:pt x="0" y="131512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8" id="18"/>
          <p:cNvSpPr/>
          <p:nvPr/>
        </p:nvSpPr>
        <p:spPr>
          <a:xfrm flipH="false" flipV="false" rot="0">
            <a:off x="15976851" y="1258923"/>
            <a:ext cx="2005020" cy="1333808"/>
          </a:xfrm>
          <a:custGeom>
            <a:avLst/>
            <a:gdLst/>
            <a:ahLst/>
            <a:cxnLst/>
            <a:rect r="r" b="b" t="t" l="l"/>
            <a:pathLst>
              <a:path h="1333808" w="2005020">
                <a:moveTo>
                  <a:pt x="0" y="0"/>
                </a:moveTo>
                <a:lnTo>
                  <a:pt x="2005021" y="0"/>
                </a:lnTo>
                <a:lnTo>
                  <a:pt x="2005021" y="1333808"/>
                </a:lnTo>
                <a:lnTo>
                  <a:pt x="0" y="133380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-53008" r="0" b="-72475"/>
            </a:stretch>
          </a:blipFill>
        </p:spPr>
        <p:txBody>
          <a:bodyPr/>
          <a:p/>
        </p:txBody>
      </p:sp>
      <p:sp>
        <p:nvSpPr>
          <p:cNvPr id="19" name="Rounded Rectangle 18">
            <a:hlinkClick r:id="rId12"/>
          </p:cNvPr>
          <p:cNvSpPr/>
          <p:nvPr/>
        </p:nvSpPr>
        <p:spPr>
          <a:xfrm>
            <a:off x="13807440" y="9418320"/>
            <a:ext cx="3566160" cy="658368"/>
          </a:xfrm>
          <a:prstGeom prst="roundRect">
            <a:avLst>
              <a:gd name="adj" fmla="val 40000"/>
            </a:avLst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>
            <a:hlinkClick r:id="rId12"/>
          </p:cNvPr>
          <p:cNvSpPr txBox="1"/>
          <p:nvPr/>
        </p:nvSpPr>
        <p:spPr>
          <a:xfrm>
            <a:off x="13807440" y="9418320"/>
            <a:ext cx="3566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14213D"/>
                </a:solidFill>
                <a:latin typeface="Segoe UI Black"/>
                <a:cs typeface="Nirmala UI"/>
              </a:rPr>
              <a:t>▶  Open the live app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80500" r="-3713" b="-8050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714823" y="1652702"/>
            <a:ext cx="16858355" cy="1114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425"/>
              </a:lnSpc>
            </a:pPr>
            <a:r>
              <a:rPr lang="en-US" sz="7239">
                <a:solidFill>
                  <a:srgbClr val="FFFFFF"/>
                </a:solidFill>
                <a:latin typeface="Lobster"/>
                <a:ea typeface="Lobster"/>
                <a:cs typeface="Lobster"/>
                <a:sym typeface="Lobster"/>
              </a:rPr>
              <a:t>Meet The Team</a:t>
            </a:r>
          </a:p>
        </p:txBody>
      </p:sp>
      <p:sp>
        <p:nvSpPr>
          <p:cNvPr id="5" name="Member 1 photo"/>
          <p:cNvSpPr/>
          <p:nvPr/>
        </p:nvSpPr>
        <p:spPr>
          <a:xfrm>
            <a:off x="2194559" y="3246120"/>
            <a:ext cx="2514600" cy="2514600"/>
          </a:xfrm>
          <a:prstGeom prst="ellipse">
            <a:avLst/>
          </a:prstGeom>
          <a:solidFill>
            <a:srgbClr val="4A2C8F"/>
          </a:solidFill>
          <a:ln w="63500">
            <a:solidFill>
              <a:srgbClr val="F7F0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59" y="3246120"/>
            <a:ext cx="2514600" cy="2514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0" b="1">
                <a:solidFill>
                  <a:srgbClr val="F7F0E1"/>
                </a:solidFill>
                <a:latin typeface="Segoe UI Black"/>
                <a:cs typeface="Nirmala UI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1619" y="6035040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Segoe UI Semibold"/>
                <a:cs typeface="Nirmala UI"/>
              </a:rPr>
              <a:t>Anvesh Chafle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7339" y="6766560"/>
            <a:ext cx="374903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>
                <a:solidFill>
                  <a:srgbClr val="E9E2D2"/>
                </a:solidFill>
                <a:latin typeface="Segoe UI Semibold"/>
                <a:cs typeface="Nirmala UI"/>
              </a:rPr>
              <a:t>Backend, AI pipeline</a:t>
            </a:r>
          </a:p>
          <a:p>
            <a:pPr algn="ctr"/>
            <a:r>
              <a:rPr sz="2400" b="0">
                <a:solidFill>
                  <a:srgbClr val="E9E2D2"/>
                </a:solidFill>
                <a:latin typeface="Segoe UI Semibold"/>
                <a:cs typeface="Nirmala UI"/>
              </a:rPr>
              <a:t>&amp; safety rules</a:t>
            </a:r>
          </a:p>
        </p:txBody>
      </p:sp>
      <p:sp>
        <p:nvSpPr>
          <p:cNvPr id="9" name="Member 2 photo"/>
          <p:cNvSpPr/>
          <p:nvPr/>
        </p:nvSpPr>
        <p:spPr>
          <a:xfrm>
            <a:off x="5989320" y="3246120"/>
            <a:ext cx="2514600" cy="2514600"/>
          </a:xfrm>
          <a:prstGeom prst="ellipse">
            <a:avLst/>
          </a:prstGeom>
          <a:solidFill>
            <a:srgbClr val="1F7A4D"/>
          </a:solidFill>
          <a:ln w="63500">
            <a:solidFill>
              <a:srgbClr val="F7F0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89320" y="3246120"/>
            <a:ext cx="2514600" cy="2514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0" b="1">
                <a:solidFill>
                  <a:srgbClr val="F7F0E1"/>
                </a:solidFill>
                <a:latin typeface="Segoe UI Black"/>
                <a:cs typeface="Nirmala UI"/>
              </a:rPr>
              <a:t>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26379" y="6035040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Segoe UI Semibold"/>
                <a:cs typeface="Nirmala UI"/>
              </a:rPr>
              <a:t>Maulik Parshionikar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72100" y="6766560"/>
            <a:ext cx="374903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>
                <a:solidFill>
                  <a:srgbClr val="E9E2D2"/>
                </a:solidFill>
                <a:latin typeface="Segoe UI Semibold"/>
                <a:cs typeface="Nirmala UI"/>
              </a:rPr>
              <a:t>Frontend, UI/UX</a:t>
            </a:r>
          </a:p>
          <a:p>
            <a:pPr algn="ctr"/>
            <a:r>
              <a:rPr sz="2400" b="0">
                <a:solidFill>
                  <a:srgbClr val="E9E2D2"/>
                </a:solidFill>
                <a:latin typeface="Segoe UI Semibold"/>
                <a:cs typeface="Nirmala UI"/>
              </a:rPr>
              <a:t>&amp; accessibility</a:t>
            </a:r>
          </a:p>
        </p:txBody>
      </p:sp>
      <p:sp>
        <p:nvSpPr>
          <p:cNvPr id="13" name="Member 3 photo"/>
          <p:cNvSpPr/>
          <p:nvPr/>
        </p:nvSpPr>
        <p:spPr>
          <a:xfrm>
            <a:off x="9784080" y="3246120"/>
            <a:ext cx="2514600" cy="2514600"/>
          </a:xfrm>
          <a:prstGeom prst="ellipse">
            <a:avLst/>
          </a:prstGeom>
          <a:solidFill>
            <a:srgbClr val="C8102E"/>
          </a:solidFill>
          <a:ln w="63500">
            <a:solidFill>
              <a:srgbClr val="F7F0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0" y="3246120"/>
            <a:ext cx="2514600" cy="2514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0" b="1">
                <a:solidFill>
                  <a:srgbClr val="F7F0E1"/>
                </a:solidFill>
                <a:latin typeface="Segoe UI Black"/>
                <a:cs typeface="Nirmala UI"/>
              </a:rPr>
              <a:t>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1140" y="6035040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Segoe UI Semibold"/>
                <a:cs typeface="Nirmala UI"/>
              </a:rPr>
              <a:t>Nimisha Jain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66859" y="6766560"/>
            <a:ext cx="374903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>
                <a:solidFill>
                  <a:srgbClr val="E9E2D2"/>
                </a:solidFill>
                <a:latin typeface="Segoe UI Semibold"/>
                <a:cs typeface="Nirmala UI"/>
              </a:rPr>
              <a:t>Research</a:t>
            </a:r>
          </a:p>
          <a:p>
            <a:pPr algn="ctr"/>
            <a:r>
              <a:rPr sz="2400" b="0">
                <a:solidFill>
                  <a:srgbClr val="E9E2D2"/>
                </a:solidFill>
                <a:latin typeface="Segoe UI Semibold"/>
                <a:cs typeface="Nirmala UI"/>
              </a:rPr>
              <a:t>&amp; live demo</a:t>
            </a:r>
          </a:p>
        </p:txBody>
      </p:sp>
      <p:sp>
        <p:nvSpPr>
          <p:cNvPr id="17" name="Member 4 photo"/>
          <p:cNvSpPr/>
          <p:nvPr/>
        </p:nvSpPr>
        <p:spPr>
          <a:xfrm>
            <a:off x="13578840" y="3246120"/>
            <a:ext cx="2514600" cy="2514600"/>
          </a:xfrm>
          <a:prstGeom prst="ellipse">
            <a:avLst/>
          </a:prstGeom>
          <a:solidFill>
            <a:srgbClr val="B07A0C"/>
          </a:solidFill>
          <a:ln w="63500">
            <a:solidFill>
              <a:srgbClr val="F7F0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78840" y="3246120"/>
            <a:ext cx="2514600" cy="2514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0" b="1">
                <a:solidFill>
                  <a:srgbClr val="F7F0E1"/>
                </a:solidFill>
                <a:latin typeface="Segoe UI Black"/>
                <a:cs typeface="Nirmala UI"/>
              </a:rPr>
              <a:t>J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15900" y="6035040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Segoe UI Semibold"/>
                <a:cs typeface="Nirmala UI"/>
              </a:rPr>
              <a:t>Jiya Khut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61620" y="6766560"/>
            <a:ext cx="374903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>
                <a:solidFill>
                  <a:srgbClr val="E9E2D2"/>
                </a:solidFill>
                <a:latin typeface="Segoe UI Semibold"/>
                <a:cs typeface="Nirmala UI"/>
              </a:rPr>
              <a:t>Pitch</a:t>
            </a:r>
          </a:p>
          <a:p>
            <a:pPr algn="ctr"/>
            <a:r>
              <a:rPr sz="2400" b="0">
                <a:solidFill>
                  <a:srgbClr val="E9E2D2"/>
                </a:solidFill>
                <a:latin typeface="Segoe UI Semibold"/>
                <a:cs typeface="Nirmala UI"/>
              </a:rPr>
              <a:t>&amp; user testing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76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80500" r="-3713" b="-80500"/>
              </a:stretch>
            </a:blipFill>
          </p:spPr>
        </p:sp>
      </p:grpSp>
      <p:sp>
        <p:nvSpPr>
          <p:cNvPr id="4" name="Rounded Rectangle 3"/>
          <p:cNvSpPr/>
          <p:nvPr/>
        </p:nvSpPr>
        <p:spPr>
          <a:xfrm>
            <a:off x="1691640" y="640080"/>
            <a:ext cx="15133320" cy="9052560"/>
          </a:xfrm>
          <a:prstGeom prst="roundRect">
            <a:avLst>
              <a:gd name="adj" fmla="val 3000"/>
            </a:avLst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56232" y="804671"/>
            <a:ext cx="14804136" cy="8723376"/>
          </a:xfrm>
          <a:prstGeom prst="roundRect">
            <a:avLst>
              <a:gd name="adj" fmla="val 2500"/>
            </a:avLst>
          </a:prstGeom>
          <a:noFill/>
          <a:ln w="19050">
            <a:solidFill>
              <a:srgbClr val="4A2C8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40280" y="1097280"/>
            <a:ext cx="1371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00">
                <a:solidFill>
                  <a:srgbClr val="4A2C8F"/>
                </a:solidFill>
                <a:latin typeface="Segoe UI Semibold"/>
                <a:cs typeface="Nirmala UI"/>
              </a:rPr>
              <a:t>THE PROBLEM  ·  ELDER SAFETY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1508760"/>
            <a:ext cx="137160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>
                <a:solidFill>
                  <a:srgbClr val="14213D"/>
                </a:solidFill>
                <a:latin typeface="Segoe UI Black"/>
                <a:cs typeface="Nirmala UI"/>
              </a:rPr>
              <a:t>Meet </a:t>
            </a:r>
            <a:r>
              <a:rPr sz="5600" b="1">
                <a:solidFill>
                  <a:srgbClr val="4A2C8F"/>
                </a:solidFill>
                <a:latin typeface="Segoe UI Black"/>
                <a:cs typeface="Nirmala UI"/>
              </a:rPr>
              <a:t>Prakash-kaka, 68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0280" y="2578608"/>
            <a:ext cx="1188720" cy="100584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40280" y="3108960"/>
            <a:ext cx="950976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>
                <a:solidFill>
                  <a:srgbClr val="14213D"/>
                </a:solidFill>
                <a:latin typeface="Segoe UI Black"/>
                <a:cs typeface="Nirmala UI"/>
              </a:rPr>
              <a:t>He can hear the bill.</a:t>
            </a:r>
          </a:p>
          <a:p>
            <a:pPr algn="l">
              <a:lnSpc>
                <a:spcPct val="95000"/>
              </a:lnSpc>
            </a:pPr>
            <a:r>
              <a:rPr sz="4600" b="1">
                <a:solidFill>
                  <a:srgbClr val="C8102E"/>
                </a:solidFill>
                <a:latin typeface="Segoe UI Black"/>
                <a:cs typeface="Nirmala UI"/>
              </a:rPr>
              <a:t>Nobody tells him what to 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4983480"/>
            <a:ext cx="93268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0">
                <a:solidFill>
                  <a:srgbClr val="46506A"/>
                </a:solidFill>
                <a:latin typeface="Segoe UI Semibold"/>
                <a:cs typeface="Nirmala UI"/>
              </a:rPr>
              <a:t>Cataract. Reads only Marathi. Bills, medicine strips and bank SMS arrive in English and small print. He guesses, misses due dates, or trusts a fake “power cut tonight” SMS.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207240" y="1143000"/>
            <a:ext cx="4206240" cy="1938528"/>
          </a:xfrm>
          <a:prstGeom prst="roundRect">
            <a:avLst>
              <a:gd name="adj" fmla="val 8000"/>
            </a:avLst>
          </a:prstGeom>
          <a:solidFill>
            <a:srgbClr val="4A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0" y="1325880"/>
            <a:ext cx="384048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5000" b="1">
                <a:solidFill>
                  <a:srgbClr val="FFFFFF"/>
                </a:solidFill>
                <a:latin typeface="Segoe UI Black"/>
                <a:cs typeface="Nirmala UI"/>
              </a:rPr>
              <a:t>149 M</a:t>
            </a:r>
          </a:p>
          <a:p>
            <a:pPr algn="l"/>
            <a:r>
              <a:rPr sz="2200" b="1">
                <a:solidFill>
                  <a:srgbClr val="F3ECFF"/>
                </a:solidFill>
                <a:latin typeface="Segoe UI Semibold"/>
                <a:cs typeface="Nirmala UI"/>
              </a:rPr>
              <a:t>Indians aged 60+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207240" y="3291840"/>
            <a:ext cx="4206240" cy="1938528"/>
          </a:xfrm>
          <a:prstGeom prst="roundRect">
            <a:avLst>
              <a:gd name="adj" fmla="val 8000"/>
            </a:avLst>
          </a:prstGeom>
          <a:solidFill>
            <a:srgbClr val="4A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0" y="3474720"/>
            <a:ext cx="384048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5000" b="1">
                <a:solidFill>
                  <a:srgbClr val="FFFFFF"/>
                </a:solidFill>
                <a:latin typeface="Segoe UI Black"/>
                <a:cs typeface="Nirmala UI"/>
              </a:rPr>
              <a:t>68%</a:t>
            </a:r>
          </a:p>
          <a:p>
            <a:pPr algn="l"/>
            <a:r>
              <a:rPr sz="2200" b="1">
                <a:solidFill>
                  <a:srgbClr val="F3ECFF"/>
                </a:solidFill>
                <a:latin typeface="Segoe UI Semibold"/>
                <a:cs typeface="Nirmala UI"/>
              </a:rPr>
              <a:t>women 60–75 cannot read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207240" y="5440680"/>
            <a:ext cx="4206240" cy="1938528"/>
          </a:xfrm>
          <a:prstGeom prst="roundRect">
            <a:avLst>
              <a:gd name="adj" fmla="val 8000"/>
            </a:avLst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0" y="5623560"/>
            <a:ext cx="384048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4200" b="1">
                <a:solidFill>
                  <a:srgbClr val="FFFFFF"/>
                </a:solidFill>
                <a:latin typeface="Segoe UI Black"/>
                <a:cs typeface="Nirmala UI"/>
              </a:rPr>
              <a:t>₹22,495 Cr</a:t>
            </a:r>
          </a:p>
          <a:p>
            <a:pPr algn="l"/>
            <a:r>
              <a:rPr sz="2200" b="1">
                <a:solidFill>
                  <a:srgbClr val="FFE9EC"/>
                </a:solidFill>
                <a:latin typeface="Segoe UI Semibold"/>
                <a:cs typeface="Nirmala UI"/>
              </a:rPr>
              <a:t>lost to cyber fraud in 2025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40280" y="7543800"/>
            <a:ext cx="14173200" cy="1051560"/>
          </a:xfrm>
          <a:prstGeom prst="roundRect">
            <a:avLst>
              <a:gd name="adj" fmla="val 15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14600" y="7543800"/>
            <a:ext cx="1371600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 Black"/>
                <a:cs typeface="Nirmala UI"/>
              </a:rPr>
              <a:t>Elders need </a:t>
            </a:r>
            <a:r>
              <a:rPr sz="3000" b="1">
                <a:solidFill>
                  <a:srgbClr val="E8A317"/>
                </a:solidFill>
                <a:latin typeface="Segoe UI Black"/>
                <a:cs typeface="Nirmala UI"/>
              </a:rPr>
              <a:t>a decision they can trust</a:t>
            </a:r>
            <a:r>
              <a:rPr sz="3000" b="1">
                <a:solidFill>
                  <a:srgbClr val="FFFFFF"/>
                </a:solidFill>
                <a:latin typeface="Segoe UI Black"/>
                <a:cs typeface="Nirmala UI"/>
              </a:rPr>
              <a:t>, not text read aloud.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40280" y="8915400"/>
            <a:ext cx="1417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46506A"/>
                </a:solidFill>
                <a:latin typeface="Segoe UI"/>
                <a:cs typeface="Nirmala UI"/>
              </a:rPr>
              <a:t>Sources: UNFPA India Ageing Report 2023 · I4C cyber-crime data via Moneylife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109671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80500" r="-3713" b="-80500"/>
              </a:stretch>
            </a:blipFill>
          </p:spPr>
        </p:sp>
      </p:grpSp>
      <p:sp>
        <p:nvSpPr>
          <p:cNvPr id="4" name="Rounded Rectangle 3"/>
          <p:cNvSpPr/>
          <p:nvPr/>
        </p:nvSpPr>
        <p:spPr>
          <a:xfrm>
            <a:off x="1691640" y="640080"/>
            <a:ext cx="15133320" cy="9052560"/>
          </a:xfrm>
          <a:prstGeom prst="roundRect">
            <a:avLst>
              <a:gd name="adj" fmla="val 3000"/>
            </a:avLst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56232" y="804671"/>
            <a:ext cx="14804136" cy="8723376"/>
          </a:xfrm>
          <a:prstGeom prst="roundRect">
            <a:avLst>
              <a:gd name="adj" fmla="val 2500"/>
            </a:avLst>
          </a:prstGeom>
          <a:noFill/>
          <a:ln w="19050">
            <a:solidFill>
              <a:srgbClr val="4A2C8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40280" y="1097280"/>
            <a:ext cx="1371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00">
                <a:solidFill>
                  <a:srgbClr val="4A2C8F"/>
                </a:solidFill>
                <a:latin typeface="Segoe UI Semibold"/>
                <a:cs typeface="Nirmala UI"/>
              </a:rPr>
              <a:t>OUR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1463040"/>
            <a:ext cx="1371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>
                <a:solidFill>
                  <a:srgbClr val="14213D"/>
                </a:solidFill>
                <a:latin typeface="Segoe UI Black"/>
                <a:cs typeface="Nirmala UI"/>
              </a:rPr>
              <a:t>Vaachak </a:t>
            </a:r>
            <a:r>
              <a:rPr sz="6400" b="1">
                <a:solidFill>
                  <a:srgbClr val="4A2C8F"/>
                </a:solidFill>
                <a:latin typeface="Nirmala UI"/>
                <a:cs typeface="Nirmala UI"/>
              </a:rPr>
              <a:t>वाचक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788920"/>
            <a:ext cx="1417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4213D"/>
                </a:solidFill>
                <a:latin typeface="Segoe UI Black"/>
                <a:cs typeface="Nirmala UI"/>
              </a:rPr>
              <a:t>Point the phone. </a:t>
            </a:r>
            <a:r>
              <a:rPr sz="3200" b="1">
                <a:solidFill>
                  <a:srgbClr val="4A2C8F"/>
                </a:solidFill>
                <a:latin typeface="Segoe UI Black"/>
                <a:cs typeface="Nirmala UI"/>
              </a:rPr>
              <a:t>Hear what to do. </a:t>
            </a:r>
            <a:r>
              <a:rPr sz="3200" b="1">
                <a:solidFill>
                  <a:srgbClr val="1F7A4D"/>
                </a:solidFill>
                <a:latin typeface="Segoe UI Black"/>
                <a:cs typeface="Nirmala UI"/>
              </a:rPr>
              <a:t>Tap to act.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40280" y="3703320"/>
            <a:ext cx="3310128" cy="3794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D9C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514600" y="3977639"/>
            <a:ext cx="777240" cy="777240"/>
          </a:xfrm>
          <a:prstGeom prst="ellipse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14600" y="3977639"/>
            <a:ext cx="777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>
                <a:solidFill>
                  <a:srgbClr val="14213D"/>
                </a:solidFill>
                <a:latin typeface="Segoe UI Black"/>
                <a:cs typeface="Nirmala UI"/>
              </a:rPr>
              <a:t>1</a:t>
            </a:r>
          </a:p>
        </p:txBody>
      </p:sp>
      <p:pic>
        <p:nvPicPr>
          <p:cNvPr id="12" name="Picture 11" descr="camera-4A2C8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8" y="3931920"/>
            <a:ext cx="1051560" cy="1051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514600" y="5166360"/>
            <a:ext cx="28529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4213D"/>
                </a:solidFill>
                <a:latin typeface="Segoe UI Black"/>
                <a:cs typeface="Nirmala UI"/>
              </a:rPr>
              <a:t>Any paper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5852160"/>
            <a:ext cx="2852928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>
                <a:solidFill>
                  <a:srgbClr val="46506A"/>
                </a:solidFill>
                <a:latin typeface="Segoe UI Semibold"/>
                <a:cs typeface="Nirmala UI"/>
              </a:rPr>
              <a:t>Photo, PDF, link or SMS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586984" y="5600700"/>
            <a:ext cx="256032" cy="0"/>
          </a:xfrm>
          <a:prstGeom prst="line">
            <a:avLst/>
          </a:prstGeom>
          <a:ln w="38100">
            <a:solidFill>
              <a:srgbClr val="4A2C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879592" y="3703320"/>
            <a:ext cx="3310128" cy="3794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D9C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153912" y="3977639"/>
            <a:ext cx="777240" cy="777240"/>
          </a:xfrm>
          <a:prstGeom prst="ellipse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53912" y="3977639"/>
            <a:ext cx="777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>
                <a:solidFill>
                  <a:srgbClr val="14213D"/>
                </a:solidFill>
                <a:latin typeface="Segoe UI Black"/>
                <a:cs typeface="Nirmala UI"/>
              </a:rPr>
              <a:t>2</a:t>
            </a:r>
          </a:p>
        </p:txBody>
      </p:sp>
      <p:pic>
        <p:nvPicPr>
          <p:cNvPr id="19" name="Picture 18" descr="scan-search-4A2C8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3931920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53912" y="5166360"/>
            <a:ext cx="28529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4213D"/>
                </a:solidFill>
                <a:latin typeface="Segoe UI Black"/>
                <a:cs typeface="Nirmala UI"/>
              </a:rPr>
              <a:t>AI reads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3912" y="5852160"/>
            <a:ext cx="2852928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>
                <a:solidFill>
                  <a:srgbClr val="46506A"/>
                </a:solidFill>
                <a:latin typeface="Segoe UI Semibold"/>
                <a:cs typeface="Nirmala UI"/>
              </a:rPr>
              <a:t>What it is, what to do, by when, ₹, danger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26296" y="5600700"/>
            <a:ext cx="256032" cy="0"/>
          </a:xfrm>
          <a:prstGeom prst="line">
            <a:avLst/>
          </a:prstGeom>
          <a:ln w="38100">
            <a:solidFill>
              <a:srgbClr val="4A2C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518904" y="3703320"/>
            <a:ext cx="3310128" cy="3794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D9C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793224" y="3977639"/>
            <a:ext cx="777240" cy="777240"/>
          </a:xfrm>
          <a:prstGeom prst="ellipse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93224" y="3977639"/>
            <a:ext cx="777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>
                <a:solidFill>
                  <a:srgbClr val="14213D"/>
                </a:solidFill>
                <a:latin typeface="Segoe UI Black"/>
                <a:cs typeface="Nirmala UI"/>
              </a:rPr>
              <a:t>3</a:t>
            </a:r>
          </a:p>
        </p:txBody>
      </p:sp>
      <p:pic>
        <p:nvPicPr>
          <p:cNvPr id="26" name="Picture 25" descr="shield-check-4A2C8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03152" y="3931920"/>
            <a:ext cx="1051560" cy="10515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793224" y="5166360"/>
            <a:ext cx="28529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4213D"/>
                </a:solidFill>
                <a:latin typeface="Segoe UI Black"/>
                <a:cs typeface="Nirmala UI"/>
              </a:rPr>
              <a:t>Rules check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93224" y="5852160"/>
            <a:ext cx="2852928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>
                <a:solidFill>
                  <a:srgbClr val="46506A"/>
                </a:solidFill>
                <a:latin typeface="Segoe UI Semibold"/>
                <a:cs typeface="Nirmala UI"/>
              </a:rPr>
              <a:t>₹ and date must match the print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2865608" y="5600700"/>
            <a:ext cx="256032" cy="0"/>
          </a:xfrm>
          <a:prstGeom prst="line">
            <a:avLst/>
          </a:prstGeom>
          <a:ln w="38100">
            <a:solidFill>
              <a:srgbClr val="4A2C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3158216" y="3703320"/>
            <a:ext cx="3310128" cy="3794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D9C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3432536" y="3977639"/>
            <a:ext cx="777240" cy="777240"/>
          </a:xfrm>
          <a:prstGeom prst="ellipse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432536" y="3977639"/>
            <a:ext cx="777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>
                <a:solidFill>
                  <a:srgbClr val="14213D"/>
                </a:solidFill>
                <a:latin typeface="Segoe UI Black"/>
                <a:cs typeface="Nirmala UI"/>
              </a:rPr>
              <a:t>4</a:t>
            </a:r>
          </a:p>
        </p:txBody>
      </p:sp>
      <p:pic>
        <p:nvPicPr>
          <p:cNvPr id="33" name="Picture 32" descr="volume-2-4A2C8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142464" y="3931920"/>
            <a:ext cx="1051560" cy="105156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3432536" y="5166360"/>
            <a:ext cx="28529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4213D"/>
                </a:solidFill>
                <a:latin typeface="Segoe UI Black"/>
                <a:cs typeface="Nirmala UI"/>
              </a:rPr>
              <a:t>Speaks &amp; acts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32536" y="5852160"/>
            <a:ext cx="2852928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>
                <a:solidFill>
                  <a:srgbClr val="46506A"/>
                </a:solidFill>
                <a:latin typeface="Segoe UI Semibold"/>
                <a:cs typeface="Nirmala UI"/>
              </a:rPr>
              <a:t>Marathi · Hindi · English, one tap</a:t>
            </a:r>
          </a:p>
        </p:txBody>
      </p:sp>
      <p:sp>
        <p:nvSpPr>
          <p:cNvPr id="36" name="Rounded Rectangle 35"/>
          <p:cNvSpPr/>
          <p:nvPr/>
        </p:nvSpPr>
        <p:spPr>
          <a:xfrm rot="21420000">
            <a:off x="4206240" y="8001000"/>
            <a:ext cx="10332720" cy="960120"/>
          </a:xfrm>
          <a:prstGeom prst="roundRect">
            <a:avLst>
              <a:gd name="adj" fmla="val 12000"/>
            </a:avLst>
          </a:prstGeom>
          <a:noFill/>
          <a:ln w="57150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 rot="21420000">
            <a:off x="4206240" y="8001000"/>
            <a:ext cx="1033272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spc="200">
                <a:solidFill>
                  <a:srgbClr val="C8102E"/>
                </a:solidFill>
                <a:latin typeface="Segoe UI Black"/>
                <a:cs typeface="Nirmala UI"/>
              </a:rPr>
              <a:t>NEVER GUESSES · UNSURE → “PLEASE ASK SOMEONE”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109671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80500" r="-3713" b="-80500"/>
              </a:stretch>
            </a:blipFill>
          </p:spPr>
        </p:sp>
      </p:grpSp>
      <p:sp>
        <p:nvSpPr>
          <p:cNvPr id="4" name="Rounded Rectangle 3"/>
          <p:cNvSpPr/>
          <p:nvPr/>
        </p:nvSpPr>
        <p:spPr>
          <a:xfrm>
            <a:off x="1691640" y="640080"/>
            <a:ext cx="15133320" cy="9052560"/>
          </a:xfrm>
          <a:prstGeom prst="roundRect">
            <a:avLst>
              <a:gd name="adj" fmla="val 3000"/>
            </a:avLst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56232" y="804671"/>
            <a:ext cx="14804136" cy="8723376"/>
          </a:xfrm>
          <a:prstGeom prst="roundRect">
            <a:avLst>
              <a:gd name="adj" fmla="val 2500"/>
            </a:avLst>
          </a:prstGeom>
          <a:noFill/>
          <a:ln w="19050">
            <a:solidFill>
              <a:srgbClr val="4A2C8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40280" y="1097280"/>
            <a:ext cx="1371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00">
                <a:solidFill>
                  <a:srgbClr val="4A2C8F"/>
                </a:solidFill>
                <a:latin typeface="Segoe UI Semibold"/>
                <a:cs typeface="Nirmala UI"/>
              </a:rPr>
              <a:t>BUILT &amp; RUNNING 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1508760"/>
            <a:ext cx="137160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>
                <a:solidFill>
                  <a:srgbClr val="14213D"/>
                </a:solidFill>
                <a:latin typeface="Segoe UI Black"/>
                <a:cs typeface="Nirmala UI"/>
              </a:rPr>
              <a:t>Live. </a:t>
            </a:r>
            <a:r>
              <a:rPr sz="5600" b="1">
                <a:solidFill>
                  <a:srgbClr val="4A2C8F"/>
                </a:solidFill>
                <a:latin typeface="Segoe UI Black"/>
                <a:cs typeface="Nirmala UI"/>
              </a:rPr>
              <a:t>Try it now.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0280" y="2578608"/>
            <a:ext cx="1188720" cy="100584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>
            <a:hlinkClick r:id="rId3"/>
          </p:cNvPr>
          <p:cNvSpPr/>
          <p:nvPr/>
        </p:nvSpPr>
        <p:spPr>
          <a:xfrm>
            <a:off x="2286000" y="2880360"/>
            <a:ext cx="2240280" cy="429768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cam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2971800"/>
            <a:ext cx="2057400" cy="411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03120" y="7315200"/>
            <a:ext cx="26060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spc="200">
                <a:solidFill>
                  <a:srgbClr val="C8102E"/>
                </a:solidFill>
                <a:latin typeface="Segoe UI Black"/>
                <a:cs typeface="Nirmala UI"/>
              </a:rPr>
              <a:t>PROTECT</a:t>
            </a:r>
          </a:p>
          <a:p>
            <a:pPr algn="ctr"/>
            <a:r>
              <a:rPr sz="2400" b="1">
                <a:solidFill>
                  <a:srgbClr val="14213D"/>
                </a:solidFill>
                <a:latin typeface="Segoe UI Semibold"/>
                <a:cs typeface="Nirmala UI"/>
              </a:rPr>
              <a:t>Fake SMS</a:t>
            </a:r>
          </a:p>
        </p:txBody>
      </p:sp>
      <p:sp>
        <p:nvSpPr>
          <p:cNvPr id="12" name="Rounded Rectangle 11">
            <a:hlinkClick r:id="rId5"/>
          </p:cNvPr>
          <p:cNvSpPr/>
          <p:nvPr/>
        </p:nvSpPr>
        <p:spPr>
          <a:xfrm>
            <a:off x="4846320" y="2880360"/>
            <a:ext cx="2240280" cy="429768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ill.png">
            <a:hlinkClick r:id="rId5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2971800"/>
            <a:ext cx="2057400" cy="4114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63440" y="7315200"/>
            <a:ext cx="26060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spc="200">
                <a:solidFill>
                  <a:srgbClr val="B07A0C"/>
                </a:solidFill>
                <a:latin typeface="Segoe UI Black"/>
                <a:cs typeface="Nirmala UI"/>
              </a:rPr>
              <a:t>VERIFY</a:t>
            </a:r>
          </a:p>
          <a:p>
            <a:pPr algn="ctr"/>
            <a:r>
              <a:rPr sz="2400" b="1">
                <a:solidFill>
                  <a:srgbClr val="14213D"/>
                </a:solidFill>
                <a:latin typeface="Segoe UI Semibold"/>
                <a:cs typeface="Nirmala UI"/>
              </a:rPr>
              <a:t>MSEDCL bill</a:t>
            </a:r>
          </a:p>
        </p:txBody>
      </p:sp>
      <p:sp>
        <p:nvSpPr>
          <p:cNvPr id="15" name="Rounded Rectangle 14">
            <a:hlinkClick r:id="rId7"/>
          </p:cNvPr>
          <p:cNvSpPr/>
          <p:nvPr/>
        </p:nvSpPr>
        <p:spPr>
          <a:xfrm>
            <a:off x="7406640" y="2880360"/>
            <a:ext cx="2240280" cy="429768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x-meds.png">
            <a:hlinkClick r:id="rId7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98079" y="2971800"/>
            <a:ext cx="2057400" cy="411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23759" y="7315200"/>
            <a:ext cx="26060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spc="200">
                <a:solidFill>
                  <a:srgbClr val="1F7A4D"/>
                </a:solidFill>
                <a:latin typeface="Segoe UI Black"/>
                <a:cs typeface="Nirmala UI"/>
              </a:rPr>
              <a:t>REMIND</a:t>
            </a:r>
          </a:p>
          <a:p>
            <a:pPr algn="ctr"/>
            <a:r>
              <a:rPr sz="2400" b="1">
                <a:solidFill>
                  <a:srgbClr val="14213D"/>
                </a:solidFill>
                <a:latin typeface="Segoe UI Semibold"/>
                <a:cs typeface="Nirmala UI"/>
              </a:rPr>
              <a:t>3 medicines</a:t>
            </a:r>
          </a:p>
        </p:txBody>
      </p:sp>
      <p:sp>
        <p:nvSpPr>
          <p:cNvPr id="18" name="Rounded Rectangle 17">
            <a:hlinkClick r:id="rId9"/>
          </p:cNvPr>
          <p:cNvSpPr/>
          <p:nvPr/>
        </p:nvSpPr>
        <p:spPr>
          <a:xfrm>
            <a:off x="9966959" y="2880360"/>
            <a:ext cx="2240280" cy="429768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apers.png">
            <a:hlinkClick r:id="rId9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399" y="2971800"/>
            <a:ext cx="2057400" cy="4114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784079" y="7315200"/>
            <a:ext cx="26060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spc="200">
                <a:solidFill>
                  <a:srgbClr val="4A2C8F"/>
                </a:solidFill>
                <a:latin typeface="Segoe UI Black"/>
                <a:cs typeface="Nirmala UI"/>
              </a:rPr>
              <a:t>REMEMBER</a:t>
            </a:r>
          </a:p>
          <a:p>
            <a:pPr algn="ctr"/>
            <a:r>
              <a:rPr sz="2400" b="1">
                <a:solidFill>
                  <a:srgbClr val="14213D"/>
                </a:solidFill>
                <a:latin typeface="Segoe UI Semibold"/>
                <a:cs typeface="Nirmala UI"/>
              </a:rPr>
              <a:t>My papers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859536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4A2C8F"/>
                </a:solidFill>
                <a:latin typeface="Segoe UI Semibold"/>
                <a:cs typeface="Nirmala UI"/>
              </a:rPr>
              <a:t>↗  Tap any screen to open that demo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664440" y="1188720"/>
            <a:ext cx="1828800" cy="1828800"/>
          </a:xfrm>
          <a:prstGeom prst="roundRect">
            <a:avLst>
              <a:gd name="adj" fmla="val 8000"/>
            </a:avLst>
          </a:prstGeom>
          <a:solidFill>
            <a:srgbClr val="4A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755880" y="1298448"/>
            <a:ext cx="164592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Segoe UI Black"/>
                <a:cs typeface="Nirmala UI"/>
              </a:rPr>
              <a:t>3 s</a:t>
            </a:r>
          </a:p>
          <a:p>
            <a:pPr algn="ctr"/>
            <a:r>
              <a:rPr sz="1800" b="1">
                <a:solidFill>
                  <a:srgbClr val="FFFFFF"/>
                </a:solidFill>
                <a:latin typeface="Segoe UI Semibold"/>
                <a:cs typeface="Nirmala UI"/>
              </a:rPr>
              <a:t>photo → spoken card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630400" y="1188720"/>
            <a:ext cx="1828800" cy="1828800"/>
          </a:xfrm>
          <a:prstGeom prst="roundRect">
            <a:avLst>
              <a:gd name="adj" fmla="val 8000"/>
            </a:avLst>
          </a:prstGeom>
          <a:solidFill>
            <a:srgbClr val="4A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721840" y="1298448"/>
            <a:ext cx="164592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Segoe UI Black"/>
                <a:cs typeface="Nirmala UI"/>
              </a:rPr>
              <a:t>1 s</a:t>
            </a:r>
          </a:p>
          <a:p>
            <a:pPr algn="ctr"/>
            <a:r>
              <a:rPr sz="1800" b="1">
                <a:solidFill>
                  <a:srgbClr val="FFFFFF"/>
                </a:solidFill>
                <a:latin typeface="Segoe UI Semibold"/>
                <a:cs typeface="Nirmala UI"/>
              </a:rPr>
              <a:t>answer to a spoken question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664440" y="3200400"/>
            <a:ext cx="1828800" cy="1828800"/>
          </a:xfrm>
          <a:prstGeom prst="roundRect">
            <a:avLst>
              <a:gd name="adj" fmla="val 8000"/>
            </a:avLst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755880" y="3310128"/>
            <a:ext cx="164592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Segoe UI Black"/>
                <a:cs typeface="Nirmala UI"/>
              </a:rPr>
              <a:t>4 / 4</a:t>
            </a:r>
          </a:p>
          <a:p>
            <a:pPr algn="ctr"/>
            <a:r>
              <a:rPr sz="1800" b="1">
                <a:solidFill>
                  <a:srgbClr val="FFFFFF"/>
                </a:solidFill>
                <a:latin typeface="Segoe UI Semibold"/>
                <a:cs typeface="Nirmala UI"/>
              </a:rPr>
              <a:t>test scams caught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4630400" y="3200400"/>
            <a:ext cx="1828800" cy="1828800"/>
          </a:xfrm>
          <a:prstGeom prst="roundRect">
            <a:avLst>
              <a:gd name="adj" fmla="val 8000"/>
            </a:avLst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721840" y="3310128"/>
            <a:ext cx="164592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Segoe UI Black"/>
                <a:cs typeface="Nirmala UI"/>
              </a:rPr>
              <a:t>3</a:t>
            </a:r>
          </a:p>
          <a:p>
            <a:pPr algn="ctr"/>
            <a:r>
              <a:rPr sz="1800" b="1">
                <a:solidFill>
                  <a:srgbClr val="FFFFFF"/>
                </a:solidFill>
                <a:latin typeface="Segoe UI Semibold"/>
                <a:cs typeface="Nirmala UI"/>
              </a:rPr>
              <a:t>languages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64440" y="525780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>
                <a:solidFill>
                  <a:srgbClr val="46506A"/>
                </a:solidFill>
                <a:latin typeface="Segoe UI"/>
                <a:cs typeface="Nirmala UI"/>
              </a:rPr>
              <a:t>measured on the live app, 8 Oct 2026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2664440" y="5806440"/>
            <a:ext cx="3794760" cy="3246120"/>
          </a:xfrm>
          <a:prstGeom prst="roundRect">
            <a:avLst>
              <a:gd name="adj" fmla="val 7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2847320" y="6035040"/>
            <a:ext cx="1737360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qr.png">
            <a:hlinkClick r:id="rId9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911328" y="6099048"/>
            <a:ext cx="1609344" cy="160934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4721840" y="6035040"/>
            <a:ext cx="164592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E8A317"/>
                </a:solidFill>
                <a:latin typeface="Segoe UI Black"/>
                <a:cs typeface="Nirmala UI"/>
              </a:rPr>
              <a:t>Scan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Segoe UI Black"/>
                <a:cs typeface="Nirmala UI"/>
              </a:rPr>
              <a:t>&amp; try it</a:t>
            </a:r>
          </a:p>
        </p:txBody>
      </p:sp>
      <p:sp>
        <p:nvSpPr>
          <p:cNvPr id="35" name="TextBox 34">
            <a:hlinkClick r:id="rId9"/>
          </p:cNvPr>
          <p:cNvSpPr txBox="1"/>
          <p:nvPr/>
        </p:nvSpPr>
        <p:spPr>
          <a:xfrm>
            <a:off x="12847320" y="7955279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E8A317"/>
                </a:solidFill>
                <a:latin typeface="Segoe UI Semibold"/>
                <a:cs typeface="Nirmala UI"/>
              </a:rPr>
              <a:t>vaachak-zeta.vercel.app</a:t>
            </a:r>
          </a:p>
          <a:p>
            <a:pPr algn="l"/>
            <a:r>
              <a:rPr sz="1800" b="0">
                <a:solidFill>
                  <a:srgbClr val="E9E2D2"/>
                </a:solidFill>
                <a:latin typeface="Segoe UI Semibold"/>
                <a:cs typeface="Nirmala UI"/>
              </a:rPr>
              <a:t>works even with Wi-Fi off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109671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80500" r="-3713" b="-80500"/>
              </a:stretch>
            </a:blipFill>
          </p:spPr>
        </p:sp>
      </p:grpSp>
      <p:sp>
        <p:nvSpPr>
          <p:cNvPr id="4" name="Rounded Rectangle 3"/>
          <p:cNvSpPr/>
          <p:nvPr/>
        </p:nvSpPr>
        <p:spPr>
          <a:xfrm>
            <a:off x="1691640" y="640080"/>
            <a:ext cx="15133320" cy="9052560"/>
          </a:xfrm>
          <a:prstGeom prst="roundRect">
            <a:avLst>
              <a:gd name="adj" fmla="val 3000"/>
            </a:avLst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56232" y="804671"/>
            <a:ext cx="14804136" cy="8723376"/>
          </a:xfrm>
          <a:prstGeom prst="roundRect">
            <a:avLst>
              <a:gd name="adj" fmla="val 2500"/>
            </a:avLst>
          </a:prstGeom>
          <a:noFill/>
          <a:ln w="19050">
            <a:solidFill>
              <a:srgbClr val="4A2C8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40280" y="1097280"/>
            <a:ext cx="1371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00">
                <a:solidFill>
                  <a:srgbClr val="4A2C8F"/>
                </a:solidFill>
                <a:latin typeface="Segoe UI Semibold"/>
                <a:cs typeface="Nirmala UI"/>
              </a:rPr>
              <a:t>TECH STACK &amp;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1508760"/>
            <a:ext cx="137160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>
                <a:solidFill>
                  <a:srgbClr val="14213D"/>
                </a:solidFill>
                <a:latin typeface="Segoe UI Black"/>
                <a:cs typeface="Nirmala UI"/>
              </a:rPr>
              <a:t>AI reads. </a:t>
            </a:r>
            <a:r>
              <a:rPr sz="5600" b="1">
                <a:solidFill>
                  <a:srgbClr val="4A2C8F"/>
                </a:solidFill>
                <a:latin typeface="Segoe UI Black"/>
                <a:cs typeface="Nirmala UI"/>
              </a:rPr>
              <a:t>Rules decide.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0280" y="2578608"/>
            <a:ext cx="1188720" cy="100584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240280" y="3200400"/>
            <a:ext cx="2606040" cy="310896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martphone-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4660" y="3474720"/>
            <a:ext cx="1097280" cy="1097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377440" y="4709160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Segoe UI Black"/>
                <a:cs typeface="Nirmala UI"/>
              </a:rPr>
              <a:t>Elder's phone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530352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>
                <a:solidFill>
                  <a:srgbClr val="FFFFFF"/>
                </a:solidFill>
                <a:latin typeface="Segoe UI Semibold"/>
                <a:cs typeface="Nirmala UI"/>
              </a:rPr>
              <a:t>camera · PDF · link · voice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873752" y="4754880"/>
            <a:ext cx="246888" cy="0"/>
          </a:xfrm>
          <a:prstGeom prst="line">
            <a:avLst/>
          </a:prstGeom>
          <a:ln w="44450">
            <a:solidFill>
              <a:srgbClr val="1421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148072" y="3200400"/>
            <a:ext cx="2606040" cy="3108960"/>
          </a:xfrm>
          <a:prstGeom prst="roundRect">
            <a:avLst>
              <a:gd name="adj" fmla="val 8000"/>
            </a:avLst>
          </a:prstGeom>
          <a:solidFill>
            <a:srgbClr val="4A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rand-googlegemini-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2452" y="3474720"/>
            <a:ext cx="1097280" cy="10972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285232" y="4709160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Segoe UI Black"/>
                <a:cs typeface="Nirmala UI"/>
              </a:rPr>
              <a:t>Gemini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530352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>
                <a:solidFill>
                  <a:srgbClr val="FFFFFF"/>
                </a:solidFill>
                <a:latin typeface="Segoe UI Semibold"/>
                <a:cs typeface="Nirmala UI"/>
              </a:rPr>
              <a:t>2 models race, fastest wins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781544" y="4754880"/>
            <a:ext cx="246888" cy="0"/>
          </a:xfrm>
          <a:prstGeom prst="line">
            <a:avLst/>
          </a:prstGeom>
          <a:ln w="44450">
            <a:solidFill>
              <a:srgbClr val="1421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055864" y="3200400"/>
            <a:ext cx="2606040" cy="3108960"/>
          </a:xfrm>
          <a:prstGeom prst="roundRect">
            <a:avLst>
              <a:gd name="adj" fmla="val 8000"/>
            </a:avLst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hield-check-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0244" y="3474720"/>
            <a:ext cx="1097280" cy="10972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193024" y="4709160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Segoe UI Black"/>
                <a:cs typeface="Nirmala UI"/>
              </a:rPr>
              <a:t>Rule engine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530352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>
                <a:solidFill>
                  <a:srgbClr val="FFFFFF"/>
                </a:solidFill>
                <a:latin typeface="Segoe UI Semibold"/>
                <a:cs typeface="Nirmala UI"/>
              </a:rPr>
              <a:t>no AI: ₹ · date · scam · expiry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689336" y="4754880"/>
            <a:ext cx="246888" cy="0"/>
          </a:xfrm>
          <a:prstGeom prst="line">
            <a:avLst/>
          </a:prstGeom>
          <a:ln w="44450">
            <a:solidFill>
              <a:srgbClr val="1421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0963656" y="3200400"/>
            <a:ext cx="2606040" cy="3108960"/>
          </a:xfrm>
          <a:prstGeom prst="roundRect">
            <a:avLst>
              <a:gd name="adj" fmla="val 8000"/>
            </a:avLst>
          </a:prstGeom>
          <a:solidFill>
            <a:srgbClr val="B0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volume-2-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18036" y="3474720"/>
            <a:ext cx="1097280" cy="10972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100816" y="4709160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Segoe UI Black"/>
                <a:cs typeface="Nirmala UI"/>
              </a:rPr>
              <a:t>Card + voice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46536" y="530352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>
                <a:solidFill>
                  <a:srgbClr val="FFFFFF"/>
                </a:solidFill>
                <a:latin typeface="Segoe UI Semibold"/>
                <a:cs typeface="Nirmala UI"/>
              </a:rPr>
              <a:t>Sarvam Indian voice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3597128" y="4754880"/>
            <a:ext cx="246888" cy="0"/>
          </a:xfrm>
          <a:prstGeom prst="line">
            <a:avLst/>
          </a:prstGeom>
          <a:ln w="44450">
            <a:solidFill>
              <a:srgbClr val="1421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13871448" y="3200400"/>
            <a:ext cx="2606040" cy="3108960"/>
          </a:xfrm>
          <a:prstGeom prst="roundRect">
            <a:avLst>
              <a:gd name="adj" fmla="val 8000"/>
            </a:avLst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mouse-pointer-click-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625828" y="3474720"/>
            <a:ext cx="1097280" cy="10972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4008608" y="4709160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Segoe UI Black"/>
                <a:cs typeface="Nirmala UI"/>
              </a:rPr>
              <a:t>One tap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054328" y="530352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>
                <a:solidFill>
                  <a:srgbClr val="FFFFFF"/>
                </a:solidFill>
                <a:latin typeface="Segoe UI Semibold"/>
                <a:cs typeface="Nirmala UI"/>
              </a:rPr>
              <a:t>pay · remind · 1930 · family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240280" y="6583680"/>
            <a:ext cx="14173200" cy="777240"/>
          </a:xfrm>
          <a:prstGeom prst="roundRect">
            <a:avLst>
              <a:gd name="adj" fmla="val 30000"/>
            </a:avLst>
          </a:prstGeom>
          <a:noFill/>
          <a:ln w="31750">
            <a:solidFill>
              <a:srgbClr val="1F7A4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240280" y="6583680"/>
            <a:ext cx="14173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>
                <a:solidFill>
                  <a:srgbClr val="14213D"/>
                </a:solidFill>
                <a:latin typeface="Segoe UI Semibold"/>
                <a:cs typeface="Nirmala UI"/>
              </a:rPr>
              <a:t>Same rules + on-phone OCR run in the browser  →  </a:t>
            </a:r>
            <a:r>
              <a:rPr sz="2400" b="1">
                <a:solidFill>
                  <a:srgbClr val="1F7A4D"/>
                </a:solidFill>
                <a:latin typeface="Segoe UI Black"/>
                <a:cs typeface="Nirmala UI"/>
              </a:rPr>
              <a:t>works with no internet</a:t>
            </a:r>
          </a:p>
        </p:txBody>
      </p:sp>
      <p:pic>
        <p:nvPicPr>
          <p:cNvPr id="35" name="Picture 34" descr="brand-reac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40280" y="7635240"/>
            <a:ext cx="658368" cy="65836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3063240" y="7635240"/>
            <a:ext cx="26517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14213D"/>
                </a:solidFill>
                <a:latin typeface="Segoe UI Semibold"/>
                <a:cs typeface="Nirmala UI"/>
              </a:rPr>
              <a:t>React</a:t>
            </a:r>
          </a:p>
        </p:txBody>
      </p:sp>
      <p:pic>
        <p:nvPicPr>
          <p:cNvPr id="37" name="Picture 36" descr="brand-v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52160" y="7635240"/>
            <a:ext cx="658368" cy="65836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675120" y="7635240"/>
            <a:ext cx="26517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14213D"/>
                </a:solidFill>
                <a:latin typeface="Segoe UI Semibold"/>
                <a:cs typeface="Nirmala UI"/>
              </a:rPr>
              <a:t>Vite</a:t>
            </a:r>
          </a:p>
        </p:txBody>
      </p:sp>
      <p:pic>
        <p:nvPicPr>
          <p:cNvPr id="39" name="Picture 38" descr="brand-tailwindcs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64040" y="7635240"/>
            <a:ext cx="658368" cy="65836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287000" y="7635240"/>
            <a:ext cx="26517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14213D"/>
                </a:solidFill>
                <a:latin typeface="Segoe UI Semibold"/>
                <a:cs typeface="Nirmala UI"/>
              </a:rPr>
              <a:t>Tailwind</a:t>
            </a:r>
          </a:p>
        </p:txBody>
      </p:sp>
      <p:pic>
        <p:nvPicPr>
          <p:cNvPr id="41" name="Picture 40" descr="brand-pw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075920" y="7635240"/>
            <a:ext cx="658368" cy="65836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3898880" y="7635240"/>
            <a:ext cx="26517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14213D"/>
                </a:solidFill>
                <a:latin typeface="Segoe UI Semibold"/>
                <a:cs typeface="Nirmala UI"/>
              </a:rPr>
              <a:t>PWA</a:t>
            </a:r>
          </a:p>
        </p:txBody>
      </p:sp>
      <p:pic>
        <p:nvPicPr>
          <p:cNvPr id="43" name="Picture 42" descr="scan-search-14213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240280" y="8503919"/>
            <a:ext cx="658368" cy="658368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3063240" y="8503919"/>
            <a:ext cx="26517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14213D"/>
                </a:solidFill>
                <a:latin typeface="Segoe UI Semibold"/>
                <a:cs typeface="Nirmala UI"/>
              </a:rPr>
              <a:t>Tesseract</a:t>
            </a:r>
          </a:p>
        </p:txBody>
      </p:sp>
      <p:pic>
        <p:nvPicPr>
          <p:cNvPr id="45" name="Picture 44" descr="brand-nodedotj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52160" y="8503919"/>
            <a:ext cx="658368" cy="658368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675120" y="8503919"/>
            <a:ext cx="26517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14213D"/>
                </a:solidFill>
                <a:latin typeface="Segoe UI Semibold"/>
                <a:cs typeface="Nirmala UI"/>
              </a:rPr>
              <a:t>Node.js</a:t>
            </a:r>
          </a:p>
        </p:txBody>
      </p:sp>
      <p:pic>
        <p:nvPicPr>
          <p:cNvPr id="47" name="Picture 46" descr="brand-vercel-14213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464040" y="8503919"/>
            <a:ext cx="658368" cy="65836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287000" y="8503919"/>
            <a:ext cx="26517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14213D"/>
                </a:solidFill>
                <a:latin typeface="Segoe UI Semibold"/>
                <a:cs typeface="Nirmala UI"/>
              </a:rPr>
              <a:t>Vercel</a:t>
            </a:r>
          </a:p>
        </p:txBody>
      </p:sp>
      <p:pic>
        <p:nvPicPr>
          <p:cNvPr id="49" name="Picture 48" descr="brand-whatsapp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3075920" y="8503919"/>
            <a:ext cx="658368" cy="65836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3898880" y="8503919"/>
            <a:ext cx="26517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14213D"/>
                </a:solidFill>
                <a:latin typeface="Segoe UI Semibold"/>
                <a:cs typeface="Nirmala UI"/>
              </a:rPr>
              <a:t>WhatsApp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80500" r="-3713" b="-80500"/>
              </a:stretch>
            </a:blipFill>
          </p:spPr>
        </p:sp>
      </p:grpSp>
      <p:sp>
        <p:nvSpPr>
          <p:cNvPr id="4" name="Rounded Rectangle 3"/>
          <p:cNvSpPr/>
          <p:nvPr/>
        </p:nvSpPr>
        <p:spPr>
          <a:xfrm>
            <a:off x="1691640" y="640080"/>
            <a:ext cx="15133320" cy="9052560"/>
          </a:xfrm>
          <a:prstGeom prst="roundRect">
            <a:avLst>
              <a:gd name="adj" fmla="val 3000"/>
            </a:avLst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56232" y="804671"/>
            <a:ext cx="14804136" cy="8723376"/>
          </a:xfrm>
          <a:prstGeom prst="roundRect">
            <a:avLst>
              <a:gd name="adj" fmla="val 2500"/>
            </a:avLst>
          </a:prstGeom>
          <a:noFill/>
          <a:ln w="19050">
            <a:solidFill>
              <a:srgbClr val="4A2C8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40280" y="1097280"/>
            <a:ext cx="74980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00">
                <a:solidFill>
                  <a:srgbClr val="4A2C8F"/>
                </a:solidFill>
                <a:latin typeface="Segoe UI Semibold"/>
                <a:cs typeface="Nirmala UI"/>
              </a:rPr>
              <a:t>WHAT MAKES US DIFFERENT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1508760"/>
            <a:ext cx="74980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>
                <a:solidFill>
                  <a:srgbClr val="14213D"/>
                </a:solidFill>
                <a:latin typeface="Segoe UI Black"/>
                <a:cs typeface="Nirmala UI"/>
              </a:rPr>
              <a:t>Why </a:t>
            </a:r>
            <a:r>
              <a:rPr sz="5600" b="1">
                <a:solidFill>
                  <a:srgbClr val="4A2C8F"/>
                </a:solidFill>
                <a:latin typeface="Segoe UI Black"/>
                <a:cs typeface="Nirmala UI"/>
              </a:rPr>
              <a:t>Vaachak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0280" y="2578608"/>
            <a:ext cx="1188720" cy="100584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240280" y="3017520"/>
            <a:ext cx="1051560" cy="1051560"/>
          </a:xfrm>
          <a:prstGeom prst="roundRect">
            <a:avLst>
              <a:gd name="adj" fmla="val 20000"/>
            </a:avLst>
          </a:prstGeom>
          <a:solidFill>
            <a:srgbClr val="4A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ouse-pointer-click-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0" y="3154679"/>
            <a:ext cx="777240" cy="777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20440" y="2999232"/>
            <a:ext cx="60350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Segoe UI Black"/>
                <a:cs typeface="Nirmala UI"/>
              </a:rPr>
              <a:t>Acts, not just reads</a:t>
            </a:r>
          </a:p>
          <a:p>
            <a:pPr algn="l"/>
            <a:r>
              <a:rPr sz="2200" b="0">
                <a:solidFill>
                  <a:srgbClr val="46506A"/>
                </a:solidFill>
                <a:latin typeface="Segoe UI Semibold"/>
                <a:cs typeface="Nirmala UI"/>
              </a:rPr>
              <a:t>Pay, remind, call 1930, ask family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40280" y="4343400"/>
            <a:ext cx="1051560" cy="1051560"/>
          </a:xfrm>
          <a:prstGeom prst="roundRect">
            <a:avLst>
              <a:gd name="adj" fmla="val 20000"/>
            </a:avLst>
          </a:prstGeom>
          <a:solidFill>
            <a:srgbClr val="4A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adge-check-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4480560"/>
            <a:ext cx="777240" cy="7772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20440" y="4325112"/>
            <a:ext cx="60350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Segoe UI Black"/>
                <a:cs typeface="Nirmala UI"/>
              </a:rPr>
              <a:t>Never guesses</a:t>
            </a:r>
          </a:p>
          <a:p>
            <a:pPr algn="l"/>
            <a:r>
              <a:rPr sz="2200" b="0">
                <a:solidFill>
                  <a:srgbClr val="46506A"/>
                </a:solidFill>
                <a:latin typeface="Segoe UI Semibold"/>
                <a:cs typeface="Nirmala UI"/>
              </a:rPr>
              <a:t>₹ and date checked against the print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40280" y="5669279"/>
            <a:ext cx="1051560" cy="1051560"/>
          </a:xfrm>
          <a:prstGeom prst="roundRect">
            <a:avLst>
              <a:gd name="adj" fmla="val 20000"/>
            </a:avLst>
          </a:prstGeom>
          <a:solidFill>
            <a:srgbClr val="4A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hield-alert-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7440" y="5806440"/>
            <a:ext cx="777240" cy="7772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520440" y="5650992"/>
            <a:ext cx="60350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Segoe UI Black"/>
                <a:cs typeface="Nirmala UI"/>
              </a:rPr>
              <a:t>Scam shield for India</a:t>
            </a:r>
          </a:p>
          <a:p>
            <a:pPr algn="l"/>
            <a:r>
              <a:rPr sz="2200" b="0">
                <a:solidFill>
                  <a:srgbClr val="46506A"/>
                </a:solidFill>
                <a:latin typeface="Segoe UI Semibold"/>
                <a:cs typeface="Nirmala UI"/>
              </a:rPr>
              <a:t>Power-cut, KYC, OTP, AnyDesk SMS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40280" y="6995159"/>
            <a:ext cx="1051560" cy="1051560"/>
          </a:xfrm>
          <a:prstGeom prst="roundRect">
            <a:avLst>
              <a:gd name="adj" fmla="val 20000"/>
            </a:avLst>
          </a:prstGeom>
          <a:solidFill>
            <a:srgbClr val="4A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wifi-off-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7440" y="7132320"/>
            <a:ext cx="777240" cy="7772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520440" y="6976872"/>
            <a:ext cx="60350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Segoe UI Black"/>
                <a:cs typeface="Nirmala UI"/>
              </a:rPr>
              <a:t>Offline, in your language</a:t>
            </a:r>
          </a:p>
          <a:p>
            <a:pPr algn="l"/>
            <a:r>
              <a:rPr sz="2200" b="0">
                <a:solidFill>
                  <a:srgbClr val="46506A"/>
                </a:solidFill>
                <a:latin typeface="Segoe UI Semibold"/>
                <a:cs typeface="Nirmala UI"/>
              </a:rPr>
              <a:t>Marathi · Hindi · English voice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21240" y="1143000"/>
            <a:ext cx="6492240" cy="813816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87000" y="1371600"/>
            <a:ext cx="5943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Segoe UI Black"/>
                <a:cs typeface="Nirmala UI"/>
              </a:rPr>
              <a:t>Future </a:t>
            </a:r>
            <a:r>
              <a:rPr sz="4000" b="1">
                <a:solidFill>
                  <a:srgbClr val="E8A317"/>
                </a:solidFill>
                <a:latin typeface="Segoe UI Black"/>
                <a:cs typeface="Nirmala UI"/>
              </a:rPr>
              <a:t>scope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87000" y="2377440"/>
            <a:ext cx="1417320" cy="1097280"/>
          </a:xfrm>
          <a:prstGeom prst="roundRect">
            <a:avLst>
              <a:gd name="adj" fmla="val 15000"/>
            </a:avLst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87000" y="2377440"/>
            <a:ext cx="14173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14213D"/>
                </a:solidFill>
                <a:latin typeface="Segoe UI Black"/>
                <a:cs typeface="Nirmala UI"/>
              </a:rPr>
              <a:t>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932920" y="2331720"/>
            <a:ext cx="43434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Segoe UI Black"/>
                <a:cs typeface="Nirmala UI"/>
              </a:rPr>
              <a:t>Live today</a:t>
            </a:r>
          </a:p>
          <a:p>
            <a:pPr algn="l"/>
            <a:r>
              <a:rPr sz="1900" b="0">
                <a:solidFill>
                  <a:srgbClr val="C9D0E0"/>
                </a:solidFill>
                <a:latin typeface="Segoe UI Semibold"/>
                <a:cs typeface="Nirmala UI"/>
              </a:rPr>
              <a:t>Bills, medicines, scams, reminders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87000" y="3794760"/>
            <a:ext cx="1417320" cy="1097280"/>
          </a:xfrm>
          <a:prstGeom prst="roundRect">
            <a:avLst>
              <a:gd name="adj" fmla="val 15000"/>
            </a:avLst>
          </a:prstGeom>
          <a:solidFill>
            <a:srgbClr val="2A37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87000" y="3794760"/>
            <a:ext cx="14173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 Black"/>
                <a:cs typeface="Nirmala UI"/>
              </a:rPr>
              <a:t>NEXT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932920" y="3749040"/>
            <a:ext cx="43434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Segoe UI Black"/>
                <a:cs typeface="Nirmala UI"/>
              </a:rPr>
              <a:t>22 languages + WhatsApp</a:t>
            </a:r>
          </a:p>
          <a:p>
            <a:pPr algn="l"/>
            <a:r>
              <a:rPr sz="1900" b="0">
                <a:solidFill>
                  <a:srgbClr val="C9D0E0"/>
                </a:solidFill>
                <a:latin typeface="Segoe UI Semibold"/>
                <a:cs typeface="Nirmala UI"/>
              </a:rPr>
              <a:t>Forward any paper to Vaachak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87000" y="5212080"/>
            <a:ext cx="1417320" cy="1097280"/>
          </a:xfrm>
          <a:prstGeom prst="roundRect">
            <a:avLst>
              <a:gd name="adj" fmla="val 15000"/>
            </a:avLst>
          </a:prstGeom>
          <a:solidFill>
            <a:srgbClr val="2A37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87000" y="5212080"/>
            <a:ext cx="14173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 Black"/>
                <a:cs typeface="Nirmala UI"/>
              </a:rPr>
              <a:t>THEN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932920" y="5166360"/>
            <a:ext cx="43434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Segoe UI Black"/>
                <a:cs typeface="Nirmala UI"/>
              </a:rPr>
              <a:t>Family &amp; payments</a:t>
            </a:r>
          </a:p>
          <a:p>
            <a:pPr algn="l"/>
            <a:r>
              <a:rPr sz="1900" b="0">
                <a:solidFill>
                  <a:srgbClr val="C9D0E0"/>
                </a:solidFill>
                <a:latin typeface="Segoe UI Semibold"/>
                <a:cs typeface="Nirmala UI"/>
              </a:rPr>
              <a:t>Caregiver alerts · BBPS payments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87000" y="6629400"/>
            <a:ext cx="1417320" cy="1097280"/>
          </a:xfrm>
          <a:prstGeom prst="roundRect">
            <a:avLst>
              <a:gd name="adj" fmla="val 15000"/>
            </a:avLst>
          </a:prstGeom>
          <a:solidFill>
            <a:srgbClr val="2A37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87000" y="6629400"/>
            <a:ext cx="14173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 Black"/>
                <a:cs typeface="Nirmala UI"/>
              </a:rPr>
              <a:t>LATER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32920" y="6583680"/>
            <a:ext cx="43434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Segoe UI Black"/>
                <a:cs typeface="Nirmala UI"/>
              </a:rPr>
              <a:t>Fully offline AI</a:t>
            </a:r>
          </a:p>
          <a:p>
            <a:pPr algn="l"/>
            <a:r>
              <a:rPr sz="1900" b="0">
                <a:solidFill>
                  <a:srgbClr val="C9D0E0"/>
                </a:solidFill>
                <a:latin typeface="Segoe UI Semibold"/>
                <a:cs typeface="Nirmala UI"/>
              </a:rPr>
              <a:t>On-device model, scheme forms</a:t>
            </a:r>
          </a:p>
        </p:txBody>
      </p:sp>
      <p:sp>
        <p:nvSpPr>
          <p:cNvPr id="35" name="TextBox 34">
            <a:hlinkClick r:id="rId7"/>
          </p:cNvPr>
          <p:cNvSpPr txBox="1"/>
          <p:nvPr/>
        </p:nvSpPr>
        <p:spPr>
          <a:xfrm>
            <a:off x="10287000" y="809244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E8A317"/>
                </a:solidFill>
                <a:latin typeface="Segoe UI Semibold"/>
                <a:cs typeface="Nirmala UI"/>
              </a:rPr>
              <a:t>vaachak-zeta.vercel.app</a:t>
            </a:r>
          </a:p>
          <a:p>
            <a:pPr algn="l"/>
            <a:r>
              <a:rPr sz="1800" b="1">
                <a:solidFill>
                  <a:srgbClr val="FFFFFF"/>
                </a:solidFill>
                <a:latin typeface="Segoe UI Semibold"/>
                <a:cs typeface="Nirmala UI"/>
              </a:rPr>
              <a:t>github.com/anveshchafle-cmd/vaachak</a:t>
            </a:r>
          </a:p>
        </p:txBody>
      </p:sp>
      <p:sp>
        <p:nvSpPr>
          <p:cNvPr id="36" name="Rounded Rectangle 35"/>
          <p:cNvSpPr/>
          <p:nvPr/>
        </p:nvSpPr>
        <p:spPr>
          <a:xfrm rot="21480000">
            <a:off x="2377440" y="8458200"/>
            <a:ext cx="6766560" cy="777240"/>
          </a:xfrm>
          <a:prstGeom prst="roundRect">
            <a:avLst>
              <a:gd name="adj" fmla="val 12000"/>
            </a:avLst>
          </a:prstGeom>
          <a:noFill/>
          <a:ln w="57150">
            <a:solidFill>
              <a:srgbClr val="4A2C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 rot="21480000">
            <a:off x="2377440" y="8458200"/>
            <a:ext cx="67665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spc="200">
                <a:solidFill>
                  <a:srgbClr val="4A2C8F"/>
                </a:solidFill>
                <a:latin typeface="Segoe UI Black"/>
                <a:cs typeface="Nirmala UI"/>
              </a:rPr>
              <a:t>BUILT FOR PRAKASH-KAKA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317497"/>
            <a:ext cx="18288000" cy="9978390"/>
            <a:chOff x="0" y="0"/>
            <a:chExt cx="24384000" cy="133045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304520"/>
            </a:xfrm>
            <a:custGeom>
              <a:avLst/>
              <a:gdLst/>
              <a:ahLst/>
              <a:cxnLst/>
              <a:rect r="r" b="b" t="t" l="l"/>
              <a:pathLst>
                <a:path h="1330452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304520"/>
                  </a:lnTo>
                  <a:lnTo>
                    <a:pt x="0" y="133045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84536" r="-3713" b="-84536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3174945" y="4058200"/>
            <a:ext cx="10829040" cy="34460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448"/>
              </a:lnSpc>
            </a:pPr>
            <a:r>
              <a:rPr lang="en-US" sz="19756">
                <a:solidFill>
                  <a:srgbClr val="8CB3E3"/>
                </a:solidFill>
                <a:latin typeface="Lobster"/>
                <a:ea typeface="Lobster"/>
                <a:cs typeface="Lobster"/>
                <a:sym typeface="Lobster"/>
              </a:rPr>
              <a:t>Thank You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51330" y="1331330"/>
            <a:ext cx="1369119" cy="1472232"/>
          </a:xfrm>
          <a:custGeom>
            <a:avLst/>
            <a:gdLst/>
            <a:ahLst/>
            <a:cxnLst/>
            <a:rect r="r" b="b" t="t" l="l"/>
            <a:pathLst>
              <a:path h="1472232" w="1369119">
                <a:moveTo>
                  <a:pt x="0" y="0"/>
                </a:moveTo>
                <a:lnTo>
                  <a:pt x="1369118" y="0"/>
                </a:lnTo>
                <a:lnTo>
                  <a:pt x="1369118" y="1472232"/>
                </a:lnTo>
                <a:lnTo>
                  <a:pt x="0" y="14722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445594" y="1343972"/>
            <a:ext cx="1729895" cy="1397301"/>
          </a:xfrm>
          <a:custGeom>
            <a:avLst/>
            <a:gdLst/>
            <a:ahLst/>
            <a:cxnLst/>
            <a:rect r="r" b="b" t="t" l="l"/>
            <a:pathLst>
              <a:path h="1397301" w="1729895">
                <a:moveTo>
                  <a:pt x="0" y="0"/>
                </a:moveTo>
                <a:lnTo>
                  <a:pt x="1729896" y="0"/>
                </a:lnTo>
                <a:lnTo>
                  <a:pt x="1729896" y="1397301"/>
                </a:lnTo>
                <a:lnTo>
                  <a:pt x="0" y="139730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5420" r="0" b="-18382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5267568" y="1377129"/>
            <a:ext cx="1916697" cy="1264093"/>
          </a:xfrm>
          <a:custGeom>
            <a:avLst/>
            <a:gdLst/>
            <a:ahLst/>
            <a:cxnLst/>
            <a:rect r="r" b="b" t="t" l="l"/>
            <a:pathLst>
              <a:path h="1264093" w="1916697">
                <a:moveTo>
                  <a:pt x="0" y="0"/>
                </a:moveTo>
                <a:lnTo>
                  <a:pt x="1916697" y="0"/>
                </a:lnTo>
                <a:lnTo>
                  <a:pt x="1916697" y="1264094"/>
                </a:lnTo>
                <a:lnTo>
                  <a:pt x="0" y="126409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-4874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612874" y="1331330"/>
            <a:ext cx="1740642" cy="1355692"/>
          </a:xfrm>
          <a:custGeom>
            <a:avLst/>
            <a:gdLst/>
            <a:ahLst/>
            <a:cxnLst/>
            <a:rect r="r" b="b" t="t" l="l"/>
            <a:pathLst>
              <a:path h="1355692" w="1740642">
                <a:moveTo>
                  <a:pt x="0" y="0"/>
                </a:moveTo>
                <a:lnTo>
                  <a:pt x="1740642" y="0"/>
                </a:lnTo>
                <a:lnTo>
                  <a:pt x="1740642" y="1355692"/>
                </a:lnTo>
                <a:lnTo>
                  <a:pt x="0" y="135569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7276344" y="1469966"/>
            <a:ext cx="2626242" cy="1136971"/>
            <a:chOff x="0" y="0"/>
            <a:chExt cx="532452" cy="230513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532452" cy="230513"/>
            </a:xfrm>
            <a:custGeom>
              <a:avLst/>
              <a:gdLst/>
              <a:ahLst/>
              <a:cxnLst/>
              <a:rect r="r" b="b" t="t" l="l"/>
              <a:pathLst>
                <a:path h="230513" w="532452">
                  <a:moveTo>
                    <a:pt x="0" y="0"/>
                  </a:moveTo>
                  <a:lnTo>
                    <a:pt x="532452" y="0"/>
                  </a:lnTo>
                  <a:lnTo>
                    <a:pt x="532452" y="230513"/>
                  </a:lnTo>
                  <a:lnTo>
                    <a:pt x="0" y="23051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38100"/>
              <a:ext cx="532452" cy="192413"/>
            </a:xfrm>
            <a:prstGeom prst="rect">
              <a:avLst/>
            </a:prstGeom>
          </p:spPr>
          <p:txBody>
            <a:bodyPr anchor="ctr" rtlCol="false" tIns="71271" lIns="71271" bIns="71271" rIns="71271"/>
            <a:lstStyle/>
            <a:p>
              <a:pPr algn="ctr">
                <a:lnSpc>
                  <a:spcPts val="2000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0">
            <a:off x="7304312" y="952500"/>
            <a:ext cx="2452815" cy="2026354"/>
          </a:xfrm>
          <a:custGeom>
            <a:avLst/>
            <a:gdLst/>
            <a:ahLst/>
            <a:cxnLst/>
            <a:rect r="r" b="b" t="t" l="l"/>
            <a:pathLst>
              <a:path h="2026354" w="2452815">
                <a:moveTo>
                  <a:pt x="0" y="0"/>
                </a:moveTo>
                <a:lnTo>
                  <a:pt x="2452815" y="0"/>
                </a:lnTo>
                <a:lnTo>
                  <a:pt x="2452815" y="2026354"/>
                </a:lnTo>
                <a:lnTo>
                  <a:pt x="0" y="202635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-10522" r="0" b="-10522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1509328" y="1377129"/>
            <a:ext cx="2287542" cy="1143771"/>
          </a:xfrm>
          <a:custGeom>
            <a:avLst/>
            <a:gdLst/>
            <a:ahLst/>
            <a:cxnLst/>
            <a:rect r="r" b="b" t="t" l="l"/>
            <a:pathLst>
              <a:path h="1143771" w="2287542">
                <a:moveTo>
                  <a:pt x="0" y="0"/>
                </a:moveTo>
                <a:lnTo>
                  <a:pt x="2287542" y="0"/>
                </a:lnTo>
                <a:lnTo>
                  <a:pt x="2287542" y="1143771"/>
                </a:lnTo>
                <a:lnTo>
                  <a:pt x="0" y="114377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9994664" y="1377129"/>
            <a:ext cx="1422585" cy="1422585"/>
          </a:xfrm>
          <a:custGeom>
            <a:avLst/>
            <a:gdLst/>
            <a:ahLst/>
            <a:cxnLst/>
            <a:rect r="r" b="b" t="t" l="l"/>
            <a:pathLst>
              <a:path h="1422585" w="1422585">
                <a:moveTo>
                  <a:pt x="0" y="0"/>
                </a:moveTo>
                <a:lnTo>
                  <a:pt x="1422586" y="0"/>
                </a:lnTo>
                <a:lnTo>
                  <a:pt x="1422586" y="1422585"/>
                </a:lnTo>
                <a:lnTo>
                  <a:pt x="0" y="142258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3888949" y="1277602"/>
            <a:ext cx="1995824" cy="1315129"/>
          </a:xfrm>
          <a:custGeom>
            <a:avLst/>
            <a:gdLst/>
            <a:ahLst/>
            <a:cxnLst/>
            <a:rect r="r" b="b" t="t" l="l"/>
            <a:pathLst>
              <a:path h="1315129" w="1995824">
                <a:moveTo>
                  <a:pt x="0" y="0"/>
                </a:moveTo>
                <a:lnTo>
                  <a:pt x="1995824" y="0"/>
                </a:lnTo>
                <a:lnTo>
                  <a:pt x="1995824" y="1315129"/>
                </a:lnTo>
                <a:lnTo>
                  <a:pt x="0" y="131512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5976851" y="1258923"/>
            <a:ext cx="2005020" cy="1333808"/>
          </a:xfrm>
          <a:custGeom>
            <a:avLst/>
            <a:gdLst/>
            <a:ahLst/>
            <a:cxnLst/>
            <a:rect r="r" b="b" t="t" l="l"/>
            <a:pathLst>
              <a:path h="1333808" w="2005020">
                <a:moveTo>
                  <a:pt x="0" y="0"/>
                </a:moveTo>
                <a:lnTo>
                  <a:pt x="2005021" y="0"/>
                </a:lnTo>
                <a:lnTo>
                  <a:pt x="2005021" y="1333808"/>
                </a:lnTo>
                <a:lnTo>
                  <a:pt x="0" y="133380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-53008" r="0" b="-72475"/>
            </a:stretch>
          </a:blipFill>
        </p:spPr>
      </p:sp>
      <p:sp>
        <p:nvSpPr>
          <p:cNvPr id="17" name="TextBox 16"/>
          <p:cNvSpPr txBox="1"/>
          <p:nvPr/>
        </p:nvSpPr>
        <p:spPr>
          <a:xfrm>
            <a:off x="1828800" y="7498079"/>
            <a:ext cx="14630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Segoe UI Black"/>
                <a:cs typeface="Nirmala UI"/>
              </a:rPr>
              <a:t>Gemini answers questions. </a:t>
            </a:r>
            <a:r>
              <a:rPr sz="3400" b="1">
                <a:solidFill>
                  <a:srgbClr val="E8A317"/>
                </a:solidFill>
                <a:latin typeface="Segoe UI Black"/>
                <a:cs typeface="Nirmala UI"/>
              </a:rPr>
              <a:t>Vaachak never needs one.</a:t>
            </a:r>
          </a:p>
        </p:txBody>
      </p:sp>
      <p:sp>
        <p:nvSpPr>
          <p:cNvPr id="18" name="TextBox 17">
            <a:hlinkClick r:id="rId12"/>
          </p:cNvPr>
          <p:cNvSpPr txBox="1"/>
          <p:nvPr/>
        </p:nvSpPr>
        <p:spPr>
          <a:xfrm>
            <a:off x="2743200" y="8321040"/>
            <a:ext cx="1280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E8A317"/>
                </a:solidFill>
                <a:latin typeface="Segoe UI Semibold"/>
                <a:cs typeface="Nirmala UI"/>
              </a:rPr>
              <a:t>vaachak-zeta.vercel.app</a:t>
            </a:r>
            <a:r>
              <a:rPr sz="2600" b="0">
                <a:solidFill>
                  <a:srgbClr val="FFFFFF"/>
                </a:solidFill>
                <a:latin typeface="Segoe UI"/>
                <a:cs typeface="Nirmala UI"/>
              </a:rPr>
              <a:t>    ·    </a:t>
            </a:r>
            <a:r>
              <a:rPr sz="2600" b="1">
                <a:solidFill>
                  <a:srgbClr val="FFFFFF"/>
                </a:solidFill>
                <a:latin typeface="Segoe UI Semibold"/>
                <a:cs typeface="Nirmala UI"/>
              </a:rPr>
              <a:t>github.com/anveshchafle-cmd/vaachak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DAHXQHYOtDM</dc:identifier>
  <dcterms:modified xsi:type="dcterms:W3CDTF">2011-08-01T06:04:30Z</dcterms:modified>
  <cp:revision>1</cp:revision>
  <dc:title>THINK AI 4.0</dc:title>
</cp:coreProperties>
</file>